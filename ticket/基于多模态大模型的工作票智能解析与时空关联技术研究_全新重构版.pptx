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6ca10a759b4541" /><Relationship Type="http://schemas.openxmlformats.org/officeDocument/2006/relationships/extended-properties" Target="/docProps/app.xml" Id="R1221b08179e245bc" /><Relationship Type="http://schemas.openxmlformats.org/officeDocument/2006/relationships/officeDocument" Target="/ppt/presentation.xml" Id="R29a657585b2a43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3719965e8649e7"/>
  </p:sldMasterIdLst>
  <p:notesMasterIdLst>
    <p:notesMasterId xmlns:r="http://schemas.openxmlformats.org/officeDocument/2006/relationships" r:id="R6bc91e0095de44bf"/>
  </p:notesMasterIdLst>
  <p:sldIdLst>
    <p:sldId xmlns:r="http://schemas.openxmlformats.org/officeDocument/2006/relationships" id="256" r:id="Rd88cd600e36f485e"/>
    <p:sldId xmlns:r="http://schemas.openxmlformats.org/officeDocument/2006/relationships" id="257" r:id="Re67428d28afe4d36"/>
    <p:sldId xmlns:r="http://schemas.openxmlformats.org/officeDocument/2006/relationships" id="258" r:id="Rd814dd5f9d984e66"/>
    <p:sldId xmlns:r="http://schemas.openxmlformats.org/officeDocument/2006/relationships" id="259" r:id="Rde89132505504202"/>
    <p:sldId xmlns:r="http://schemas.openxmlformats.org/officeDocument/2006/relationships" id="260" r:id="R8d85d26dd181486b"/>
    <p:sldId xmlns:r="http://schemas.openxmlformats.org/officeDocument/2006/relationships" id="261" r:id="R45abfd07748e4671"/>
    <p:sldId xmlns:r="http://schemas.openxmlformats.org/officeDocument/2006/relationships" id="262" r:id="R9db69859d4084c16"/>
    <p:sldId xmlns:r="http://schemas.openxmlformats.org/officeDocument/2006/relationships" id="263" r:id="R186187b240464641"/>
    <p:sldId xmlns:r="http://schemas.openxmlformats.org/officeDocument/2006/relationships" id="264" r:id="R9b14792660dc4a8a"/>
    <p:sldId xmlns:r="http://schemas.openxmlformats.org/officeDocument/2006/relationships" id="265" r:id="R326d37936eb744c1"/>
    <p:sldId xmlns:r="http://schemas.openxmlformats.org/officeDocument/2006/relationships" id="266" r:id="Raa258523ce0d480d"/>
    <p:sldId xmlns:r="http://schemas.openxmlformats.org/officeDocument/2006/relationships" id="267" r:id="R17825f84cc894cd3"/>
    <p:sldId xmlns:r="http://schemas.openxmlformats.org/officeDocument/2006/relationships" id="268" r:id="R7ed80a723aa44764"/>
    <p:sldId xmlns:r="http://schemas.openxmlformats.org/officeDocument/2006/relationships" id="269" r:id="Rcdbd87ecac8e4fe2"/>
    <p:sldId xmlns:r="http://schemas.openxmlformats.org/officeDocument/2006/relationships" id="270" r:id="R19f04e7ca89d4a48"/>
    <p:sldId xmlns:r="http://schemas.openxmlformats.org/officeDocument/2006/relationships" id="271" r:id="R3d92f1bc302040f6"/>
    <p:sldId xmlns:r="http://schemas.openxmlformats.org/officeDocument/2006/relationships" id="272" r:id="R38164edb679c4cab"/>
    <p:sldId xmlns:r="http://schemas.openxmlformats.org/officeDocument/2006/relationships" id="273" r:id="Rbdd6ea7f9a8e4e2c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f127bb552e4257" /><Relationship Type="http://schemas.openxmlformats.org/officeDocument/2006/relationships/slideMaster" Target="/ppt/slideMasters/slideMaster1.xml" Id="Rde3719965e8649e7" /><Relationship Type="http://schemas.openxmlformats.org/officeDocument/2006/relationships/notesMaster" Target="/ppt/notesMasters/notesMaster1.xml" Id="R6bc91e0095de44bf" /><Relationship Type="http://schemas.openxmlformats.org/officeDocument/2006/relationships/presProps" Target="/ppt/presProps.xml" Id="R15d290751a0e4e97" /><Relationship Type="http://schemas.openxmlformats.org/officeDocument/2006/relationships/viewProps" Target="/ppt/viewProps.xml" Id="R842c13f9fd8848ba" /><Relationship Type="http://schemas.openxmlformats.org/officeDocument/2006/relationships/tableStyles" Target="/ppt/tableStyles.xml" Id="Rd876fd02f3144a2d" /><Relationship Type="http://schemas.openxmlformats.org/officeDocument/2006/relationships/slide" Target="/ppt/slides/slide1.xml" Id="Rd88cd600e36f485e" /><Relationship Type="http://schemas.openxmlformats.org/officeDocument/2006/relationships/slide" Target="/ppt/slides/slide2.xml" Id="Re67428d28afe4d36" /><Relationship Type="http://schemas.openxmlformats.org/officeDocument/2006/relationships/slide" Target="/ppt/slides/slide3.xml" Id="Rd814dd5f9d984e66" /><Relationship Type="http://schemas.openxmlformats.org/officeDocument/2006/relationships/slide" Target="/ppt/slides/slide4.xml" Id="Rde89132505504202" /><Relationship Type="http://schemas.openxmlformats.org/officeDocument/2006/relationships/slide" Target="/ppt/slides/slide5.xml" Id="R8d85d26dd181486b" /><Relationship Type="http://schemas.openxmlformats.org/officeDocument/2006/relationships/slide" Target="/ppt/slides/slide6.xml" Id="R45abfd07748e4671" /><Relationship Type="http://schemas.openxmlformats.org/officeDocument/2006/relationships/slide" Target="/ppt/slides/slide7.xml" Id="R9db69859d4084c16" /><Relationship Type="http://schemas.openxmlformats.org/officeDocument/2006/relationships/slide" Target="/ppt/slides/slide8.xml" Id="R186187b240464641" /><Relationship Type="http://schemas.openxmlformats.org/officeDocument/2006/relationships/slide" Target="/ppt/slides/slide9.xml" Id="R9b14792660dc4a8a" /><Relationship Type="http://schemas.openxmlformats.org/officeDocument/2006/relationships/slide" Target="/ppt/slides/slide10.xml" Id="R326d37936eb744c1" /><Relationship Type="http://schemas.openxmlformats.org/officeDocument/2006/relationships/slide" Target="/ppt/slides/slide11.xml" Id="Raa258523ce0d480d" /><Relationship Type="http://schemas.openxmlformats.org/officeDocument/2006/relationships/slide" Target="/ppt/slides/slide12.xml" Id="R17825f84cc894cd3" /><Relationship Type="http://schemas.openxmlformats.org/officeDocument/2006/relationships/slide" Target="/ppt/slides/slide13.xml" Id="R7ed80a723aa44764" /><Relationship Type="http://schemas.openxmlformats.org/officeDocument/2006/relationships/slide" Target="/ppt/slides/slide14.xml" Id="Rcdbd87ecac8e4fe2" /><Relationship Type="http://schemas.openxmlformats.org/officeDocument/2006/relationships/slide" Target="/ppt/slides/slide15.xml" Id="R19f04e7ca89d4a48" /><Relationship Type="http://schemas.openxmlformats.org/officeDocument/2006/relationships/slide" Target="/ppt/slides/slide16.xml" Id="R3d92f1bc302040f6" /><Relationship Type="http://schemas.openxmlformats.org/officeDocument/2006/relationships/slide" Target="/ppt/slides/slide17.xml" Id="R38164edb679c4cab" /><Relationship Type="http://schemas.openxmlformats.org/officeDocument/2006/relationships/slide" Target="/ppt/slides/slide18.xml" Id="Rbdd6ea7f9a8e4e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9f6f5371f14e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8a090fa1264f0d" /><Relationship Type="http://schemas.openxmlformats.org/officeDocument/2006/relationships/notesMaster" Target="/ppt/notesMasters/notesMaster1.xml" Id="Rb88822100bf345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5107e9efa5453d" /><Relationship Type="http://schemas.openxmlformats.org/officeDocument/2006/relationships/notesMaster" Target="/ppt/notesMasters/notesMaster1.xml" Id="Ra7a2732e5d234f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226146e70c4236" /><Relationship Type="http://schemas.openxmlformats.org/officeDocument/2006/relationships/notesMaster" Target="/ppt/notesMasters/notesMaster1.xml" Id="Rfc37499e12414c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da9ca6e2ca4733" /><Relationship Type="http://schemas.openxmlformats.org/officeDocument/2006/relationships/notesMaster" Target="/ppt/notesMasters/notesMaster1.xml" Id="R501cd02765494d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1994b5bd95468e" /><Relationship Type="http://schemas.openxmlformats.org/officeDocument/2006/relationships/notesMaster" Target="/ppt/notesMasters/notesMaster1.xml" Id="R01e9d3ee26c348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56114f6df64d46" /><Relationship Type="http://schemas.openxmlformats.org/officeDocument/2006/relationships/notesMaster" Target="/ppt/notesMasters/notesMaster1.xml" Id="Rd77aec83807b4a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b1984edae5437f" /><Relationship Type="http://schemas.openxmlformats.org/officeDocument/2006/relationships/notesMaster" Target="/ppt/notesMasters/notesMaster1.xml" Id="Rdac0ab6161bf49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1810ec27c8443f" /><Relationship Type="http://schemas.openxmlformats.org/officeDocument/2006/relationships/notesMaster" Target="/ppt/notesMasters/notesMaster1.xml" Id="R6295f583e83146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11f4725fac4059" /><Relationship Type="http://schemas.openxmlformats.org/officeDocument/2006/relationships/notesMaster" Target="/ppt/notesMasters/notesMaster1.xml" Id="R78c6985fdba04a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dd3bd4bc8f435c" /><Relationship Type="http://schemas.openxmlformats.org/officeDocument/2006/relationships/notesMaster" Target="/ppt/notesMasters/notesMaster1.xml" Id="Rfd2d30a6db1c46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bf813a23ef4fdf" /><Relationship Type="http://schemas.openxmlformats.org/officeDocument/2006/relationships/notesMaster" Target="/ppt/notesMasters/notesMaster1.xml" Id="Rdc4338deb0cb4c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4cd99a5bae47f0" /><Relationship Type="http://schemas.openxmlformats.org/officeDocument/2006/relationships/notesMaster" Target="/ppt/notesMasters/notesMaster1.xml" Id="R2660ce64ccbd41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9aa85fb8ab4d9e" /><Relationship Type="http://schemas.openxmlformats.org/officeDocument/2006/relationships/notesMaster" Target="/ppt/notesMasters/notesMaster1.xml" Id="Rd4bb773c9cf345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24c8024d754e31" /><Relationship Type="http://schemas.openxmlformats.org/officeDocument/2006/relationships/notesMaster" Target="/ppt/notesMasters/notesMaster1.xml" Id="Re6548c81b5d044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a5b942d378427e" /><Relationship Type="http://schemas.openxmlformats.org/officeDocument/2006/relationships/notesMaster" Target="/ppt/notesMasters/notesMaster1.xml" Id="R5f889fc475a6435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743d141ed6348fd" /><Relationship Type="http://schemas.openxmlformats.org/officeDocument/2006/relationships/notesMaster" Target="/ppt/notesMasters/notesMaster1.xml" Id="Ra2ada9412a8940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0133e68e95840bf" /><Relationship Type="http://schemas.openxmlformats.org/officeDocument/2006/relationships/notesMaster" Target="/ppt/notesMasters/notesMaster1.xml" Id="Rdcb627df3f644f1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79d63f245ae46f5" /><Relationship Type="http://schemas.openxmlformats.org/officeDocument/2006/relationships/notesMaster" Target="/ppt/notesMasters/notesMaster1.xml" Id="R22a9f1e40e524f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介绍报告主题与汇报范围。</a:t>
            </a:r>
          </a:p>
          <a:p xmlns:a="http://schemas.openxmlformats.org/drawingml/2006/main">
            <a:pPr lvl="0">
              <a:buNone/>
            </a:pPr>
            <a:r>
              <a:t/>
            </a:r>
          </a:p>
          <a:p xmlns:a="http://schemas.openxmlformats.org/drawingml/2006/main">
            <a:pPr lvl="0">
              <a:buNone/>
            </a:pPr>
            <a:r>
              <a:t>[Sources]</a:t>
            </a:r>
          </a:p>
          <a:p xmlns:a="http://schemas.openxmlformats.org/drawingml/2006/main">
            <a:pPr lvl="0">
              <a:buNone/>
            </a:pPr>
            <a:r>
              <a:t/>
            </a:r>
          </a:p>
          <a:p xmlns:a="http://schemas.openxmlformats.org/drawingml/2006/main">
            <a:pPr lvl="0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t>四部分依次回答为什么做、怎样做、如何关联以及形成哪些成果。</a:t>
            </a:r>
            <a:endParaRPr sz="1200" b="0" i="0" u="none" kern="1200" cap="none" spc="0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t/>
            </a:r>
            <a:endParaRPr sz="1200" b="0" i="0" u="none" kern="1200" cap="none" spc="0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t>[Sources]</a:t>
            </a:r>
            <a:endParaRPr sz="1200" b="0" i="0" u="none" kern="1200" cap="none" spc="0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t/>
            </a:r>
            <a:endParaRPr sz="1200" b="0" i="0" u="none" kern="1200" cap="none" spc="0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t>[/Sources]</a:t>
            </a:r>
            <a:endParaRPr sz="1200" b="0" i="0" u="none" kern="1200" cap="none" spc="0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说明研究的业务必要性。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四级目标由解析逐步走向业务闭环。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明确已完成的两项核心任务和当前阶段。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总体架构以蓝色工作票流和绿色视频流为核心。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D:/工作票项目文件/项目demo/项目demo/ticket/分报告图片素材/01-overall-architecture.svg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真实工作票样本用于说明字段体系。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C:/Users/xueyuan/AppData/Local/Temp/codex-clipboard-6b76dfbb-3b51-44a2-8e4d-569b0e884f9a.png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流程强调多模态特征融合和结果可追溯。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D:/工作票项目文件/项目demo/项目demo/ticket/分报告图片素材/02-ticket-extraction.svg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展示项目真实解析中间结果。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C:/Users/xueyuan/AppData/Local/Temp/codex-clipboard-6b76dfbb-3b51-44a2-8e4d-569b0e884f9a.png</a:t>
            </a:r>
          </a:p>
          <a:p xmlns:a="http://schemas.openxmlformats.org/drawingml/2006/main">
            <a:r>
              <a:t>- C:/Users/xueyuan/AppData/Local/Temp/codex-clipboard-89b2cecb-5fb9-484d-99b4-93547701582f.png</a:t>
            </a:r>
          </a:p>
          <a:p xmlns:a="http://schemas.openxmlformats.org/drawingml/2006/main">
            <a:r>
              <a:t>- C:/Users/xueyuan/AppData/Local/Temp/codex-clipboard-2142003d-228e-4045-bde4-2d46d3b6c997.png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解释算法责任边界，不虚构自主训练的新网络。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展示视频切片、视觉理解和跨模态匹配流程。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D:/工作票项目文件/项目demo/项目demo/ticket/分报告图片素材/03-video-association.svg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真实监控画面与工作票字段进行联合核验。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C:/Users/xueyuan/AppData/Local/Temp/codex-clipboard-ec67e8da-b9c7-4039-9939-2555fc4351fa.png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不在缺少正式实验依据时设定固定权重。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D:/工作票项目文件/项目demo/项目demo/ticket/分报告图片素材/04-spatiotemporal-semantic-model.svg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展示票视频智能关联的完整业务流程。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C:/Users/xueyuan/AppData/Local/Temp/codex-clipboard-56c6277b-57ca-4296-8981-c5e0b1b0eff0.png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页面为版式示例，正式验证时替换为真实脱敏字段、点位和录像时间。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D:/工作票项目文件/项目demo/项目demo/ticket/分报告图片素材/05-end-to-end-case.svg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准确区分已完成、已受理和审稿中状态。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计划聚焦验证、优化、闭环和成果固化。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收束汇报并请专家指导。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9cb1a7db148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fe2e12f1146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d75b73627949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557cb6752e4f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a1b03bca944b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7ca8844f4e4e0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fb4f3987f409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bb8062a48476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3ec64eda0445a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cc5a9e84be412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fb7277459f41c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ca93853ed147f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558af3a783430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0cbd68f775481f" /></Relationships>
</file>

<file path=ppt/slideLayouts/slideLayout1.xml><?xml version="1.0" encoding="utf-8"?>
<p:sldLayout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5DD14F3-C1D9-499D-81BA-EF147BE9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bg1">
                  <a:lumMod val="95000"/>
                </a:schemeClr>
              </a:gs>
              <a:gs pos="50000">
                <a:srgbClr val="F7F7F7"/>
              </a:gs>
              <a:gs pos="100000">
                <a:srgbClr val="FCFCFC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5"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67B17488-329D-481F-8F6C-B241753E920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261117" y="176902"/>
            <a:ext cx="4704464" cy="3822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600" b="1" spc="19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1C347E4-8339-4F03-88A3-E9A57C3F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bg1">
                  <a:lumMod val="95000"/>
                </a:schemeClr>
              </a:gs>
              <a:gs pos="50000">
                <a:srgbClr val="F7F7F7"/>
              </a:gs>
              <a:gs pos="100000">
                <a:srgbClr val="FCFCFC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5"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01BF9587-64C8-4353-AC0A-CFE7836DED2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261117" y="176902"/>
            <a:ext cx="4704464" cy="3822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600" b="1" spc="19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4617FA-D38A-4720-9BC9-DAB83FFAE1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E24EBCC-1CCB-4E6B-AC92-D2174C4C09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9DC3C98-FC6E-4B5F-A47E-1C42AE7762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39AE09B-5D9B-45A9-A943-C8A8AC611B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A830951-DB23-462C-A105-696F98B3FD6B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143000" y="992222"/>
            <a:ext cx="6858000" cy="164025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lnSpc>
                <a:spcPct val="130000"/>
              </a:lnSpc>
              <a:buNone/>
              <a:defRPr sz="45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896AAE-32E8-4391-A4DF-9E63C6A15E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320F98F-5229-49C1-902C-F84A3B4302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BFF6AD0-A76E-46F4-98F0-E993E3A9B4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4ADABCF-A7C1-4625-8829-436D33E47E74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143000" y="2701529"/>
            <a:ext cx="6858000" cy="124182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426E9D9-6FB8-499F-8247-33713D96EB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5775" y="193834"/>
            <a:ext cx="7886700" cy="99417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43B3524-A1A9-4E04-B2C0-A8CC932398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85775" y="1369219"/>
            <a:ext cx="7886700" cy="326350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A4EC422-39EF-4A75-A0B4-AAFE86ECC0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BC7A525-B627-4D1A-88BE-385D7C98F6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92D0FA-0742-4E43-BA36-EB695745D9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375BF61-3B8F-40BF-912F-00B7B18659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2813338"/>
            <a:ext cx="5491163" cy="60851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3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C227205-1390-40B2-81DD-5ED1A111DE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57521"/>
            <a:ext cx="5491163" cy="485666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E524D8D-1A33-4B2E-AB72-FE8331C89A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C5BD538-C499-473F-AF91-48538AF149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834ACE4-C7FB-4D20-AB45-035CF93FC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82294C2-9A09-441B-B8AA-A62DE77534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5775" y="193834"/>
            <a:ext cx="7886700" cy="99417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8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1D2CB3F-CDEF-4681-90F3-BEC75C49A9F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85775" y="1369219"/>
            <a:ext cx="3886200" cy="326350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D026BC4-2FA4-4120-B150-1273E8AE588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486275" y="1369219"/>
            <a:ext cx="3886200" cy="326350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35CEC1A-4CFC-4AAC-9FE3-6FB1893FBC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DF29FAF-AABD-41CD-97D7-06628AE227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AD619F1-BA68-4332-A16D-76BEC6D6C8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DA1CEE6-6DF9-4DBB-AE2F-88448C3B08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7141419-8551-431B-93B6-DA61D4D043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308721"/>
            <a:ext cx="3868340" cy="617934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601842D-9240-4636-84BE-D8F753B7BD4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1" y="1961707"/>
            <a:ext cx="3868340" cy="26805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CB8C7220-1E36-45BE-BE72-80F99B19780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308721"/>
            <a:ext cx="3887391" cy="617934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39B6E2EA-AE70-4016-86D4-25CAF9DFC73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1961707"/>
            <a:ext cx="3887391" cy="26805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CF65C201-FE0F-46C0-9D61-BBD8B74CFA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159E18D-1933-4CE2-A79E-4D80F76D77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59CE27F7-BAB4-4756-8B79-971E0E628B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A859BA9-6DE5-4D32-8A2B-AACFAA3602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074664"/>
            <a:ext cx="7886700" cy="99417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36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205433D-702A-4B2F-A4DE-DD06B41622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7FF21F2-BDD2-461D-A639-3A5A1C8365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CE78559-8A9B-4E92-B1A9-8E338A8C9E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F54080B-E1D9-4010-8999-20168259D8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4EA106E-64BD-47D2-8F92-C0B3B1C2C6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2757DB7-CDA0-4484-8FF2-F4B13468DF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8D82178-CBD6-4C12-A31E-8EC5D7787BB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85060" y="95250"/>
            <a:ext cx="3123900" cy="120015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9902EE-C1D8-45D4-BB7A-834AE2B54F0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8000" y="574766"/>
            <a:ext cx="4363031" cy="382083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2F50268-BEED-4995-864C-B218910F99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8870" y="1543050"/>
            <a:ext cx="3123900" cy="285869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17EA3EA-DD53-4BAE-8E86-8C99E1F260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FBC6DD9-A179-4E4F-97A8-F636A45C85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9E6EA07-9068-4276-AAD5-B12B6C66CF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EE386033-8B3B-4CB4-8B3F-34BDAC54C8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8363" y="273844"/>
            <a:ext cx="1146987" cy="4358879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27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EE4D66E-08B0-45E4-AC22-6937ED5D8D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273844"/>
            <a:ext cx="6659969" cy="4358879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981703C-9484-4E0F-A2C8-9B7CBADDC3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8DFE31F-2D43-4EB5-8211-D172183020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6BEB365-839E-4EAE-B6E4-305702682C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D12A872-30C8-4D43-BDC1-99B092362C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30A08C3-BBFA-4211-8160-D3B63F0F8A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896E662-CAD7-4DC9-8329-7172FCA653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E69D767D-63EF-47A6-9353-E66AFA35E9DE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8650" y="413657"/>
            <a:ext cx="7886700" cy="41692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D886BD9-21F3-4CD2-8F05-E678E87687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5264A27-462F-4A80-A4AB-66675F221C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1665F21-C33B-4086-88D0-2942C69F63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7037E24-4350-482A-A9E5-54228147E8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c3b0adde444736" /><Relationship Type="http://schemas.openxmlformats.org/officeDocument/2006/relationships/slideLayout" Target="/ppt/slideLayouts/slideLayout1.xml" Id="R85b686f2699e4f76" /><Relationship Type="http://schemas.openxmlformats.org/officeDocument/2006/relationships/slideLayout" Target="/ppt/slideLayouts/slideLayout2.xml" Id="R68f9643c5d4e4615" /><Relationship Type="http://schemas.openxmlformats.org/officeDocument/2006/relationships/slideLayout" Target="/ppt/slideLayouts/slideLayout3.xml" Id="R5a50c9a8c251481c" /><Relationship Type="http://schemas.openxmlformats.org/officeDocument/2006/relationships/slideLayout" Target="/ppt/slideLayouts/slideLayout4.xml" Id="Rbd3b1240421e4cf3" /><Relationship Type="http://schemas.openxmlformats.org/officeDocument/2006/relationships/slideLayout" Target="/ppt/slideLayouts/slideLayout5.xml" Id="Rf87a2c5c55284d74" /><Relationship Type="http://schemas.openxmlformats.org/officeDocument/2006/relationships/slideLayout" Target="/ppt/slideLayouts/slideLayout6.xml" Id="R5cd686ebdcaf4cb7" /><Relationship Type="http://schemas.openxmlformats.org/officeDocument/2006/relationships/slideLayout" Target="/ppt/slideLayouts/slideLayout7.xml" Id="Rc6b0185b94b648c4" /><Relationship Type="http://schemas.openxmlformats.org/officeDocument/2006/relationships/slideLayout" Target="/ppt/slideLayouts/slideLayout8.xml" Id="R586355c6ffee4ca0" /><Relationship Type="http://schemas.openxmlformats.org/officeDocument/2006/relationships/slideLayout" Target="/ppt/slideLayouts/slideLayout9.xml" Id="R5add3d53faa847b8" /><Relationship Type="http://schemas.openxmlformats.org/officeDocument/2006/relationships/slideLayout" Target="/ppt/slideLayouts/slideLayout10.xml" Id="Rf1700e13614441f6" /><Relationship Type="http://schemas.openxmlformats.org/officeDocument/2006/relationships/slideLayout" Target="/ppt/slideLayouts/slideLayout11.xml" Id="R782f6518fb4f4343" /><Relationship Type="http://schemas.openxmlformats.org/officeDocument/2006/relationships/slideLayout" Target="/ppt/slideLayouts/slideLayout12.xml" Id="Ra54bdf1a424b406f" /><Relationship Type="http://schemas.openxmlformats.org/officeDocument/2006/relationships/slideLayout" Target="/ppt/slideLayouts/slideLayout13.xml" Id="R8e23d5fc19a44765" /><Relationship Type="http://schemas.openxmlformats.org/officeDocument/2006/relationships/slideLayout" Target="/ppt/slideLayouts/slideLayout14.xml" Id="R1d4dce0bdf9c4af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CBE4AF6-0204-477E-895F-6E58FCCC32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0EB6897-6577-4244-A0C6-C51B4EC10B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D23E466-046D-40D2-926D-B321C35902A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C88966A-969F-4D54-B977-C5590ECADB5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89551BB-0D71-4C19-A765-81122158C66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28CE8A4-B849-4E2C-99C2-13E50E3F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bg1">
                  <a:lumMod val="95000"/>
                </a:schemeClr>
              </a:gs>
              <a:gs pos="50000">
                <a:srgbClr val="F7F7F7"/>
              </a:gs>
              <a:gs pos="100000">
                <a:srgbClr val="FCFCFC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b686f2699e4f76"/>
    <p:sldLayoutId xmlns:r="http://schemas.openxmlformats.org/officeDocument/2006/relationships" id="2147483650" r:id="R68f9643c5d4e4615"/>
    <p:sldLayoutId xmlns:r="http://schemas.openxmlformats.org/officeDocument/2006/relationships" id="2147483651" r:id="R5a50c9a8c251481c"/>
    <p:sldLayoutId xmlns:r="http://schemas.openxmlformats.org/officeDocument/2006/relationships" id="2147483652" r:id="Rbd3b1240421e4cf3"/>
    <p:sldLayoutId xmlns:r="http://schemas.openxmlformats.org/officeDocument/2006/relationships" id="2147483653" r:id="Rf87a2c5c55284d74"/>
    <p:sldLayoutId xmlns:r="http://schemas.openxmlformats.org/officeDocument/2006/relationships" id="2147483654" r:id="R5cd686ebdcaf4cb7"/>
    <p:sldLayoutId xmlns:r="http://schemas.openxmlformats.org/officeDocument/2006/relationships" id="2147483655" r:id="Rc6b0185b94b648c4"/>
    <p:sldLayoutId xmlns:r="http://schemas.openxmlformats.org/officeDocument/2006/relationships" id="2147483656" r:id="R586355c6ffee4ca0"/>
    <p:sldLayoutId xmlns:r="http://schemas.openxmlformats.org/officeDocument/2006/relationships" id="2147483657" r:id="R5add3d53faa847b8"/>
    <p:sldLayoutId xmlns:r="http://schemas.openxmlformats.org/officeDocument/2006/relationships" id="2147483658" r:id="Rf1700e13614441f6"/>
    <p:sldLayoutId xmlns:r="http://schemas.openxmlformats.org/officeDocument/2006/relationships" id="2147483659" r:id="R782f6518fb4f4343"/>
    <p:sldLayoutId xmlns:r="http://schemas.openxmlformats.org/officeDocument/2006/relationships" id="2147483660" r:id="Ra54bdf1a424b406f"/>
    <p:sldLayoutId xmlns:r="http://schemas.openxmlformats.org/officeDocument/2006/relationships" id="2147483661" r:id="R8e23d5fc19a44765"/>
    <p:sldLayoutId xmlns:r="http://schemas.openxmlformats.org/officeDocument/2006/relationships" id="2147483662" r:id="R1d4dce0bdf9c4af4"/>
  </p:sldLayoutIdLst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c8e24f33515a4039" /><Relationship Type="http://schemas.openxmlformats.org/officeDocument/2006/relationships/image" Target="/ppt/media/image.png" Id="R3ef9dce7fd5948d9" /><Relationship Type="http://schemas.openxmlformats.org/officeDocument/2006/relationships/image" Target="/ppt/media/image.jpeg" Id="R65e1ba1cca1c476e" /><Relationship Type="http://schemas.openxmlformats.org/officeDocument/2006/relationships/notesSlide" Target="/ppt/notesSlides/notesSlide1.xml" Id="Rc02545e7d8c648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07f2fdaae67f4154" /><Relationship Type="http://schemas.openxmlformats.org/officeDocument/2006/relationships/image" Target="/ppt/media/image.jpeg" Id="Ra81c941f2a024014" /><Relationship Type="http://schemas.openxmlformats.org/officeDocument/2006/relationships/notesSlide" Target="/ppt/notesSlides/notesSlide2.xml" Id="R55ed7bb3e4a84b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4c887c6e8b7745d6" /><Relationship Type="http://schemas.openxmlformats.org/officeDocument/2006/relationships/image" Target="/ppt/media/image.jpeg" Id="R5690948b30684d79" /><Relationship Type="http://schemas.openxmlformats.org/officeDocument/2006/relationships/notesSlide" Target="/ppt/notesSlides/notesSlide3.xml" Id="R0fb2c351453946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32c9f0b400ff4c3f" /><Relationship Type="http://schemas.openxmlformats.org/officeDocument/2006/relationships/image" Target="/ppt/media/image.jpeg" Id="R8f7e148908ca4808" /><Relationship Type="http://schemas.openxmlformats.org/officeDocument/2006/relationships/notesSlide" Target="/ppt/notesSlides/notesSlide4.xml" Id="Ra5e90d1e7f3a4a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2dbb82cf90484dea" /><Relationship Type="http://schemas.openxmlformats.org/officeDocument/2006/relationships/image" Target="/ppt/media/image.jpeg" Id="Rd4af3545a51f4e2b" /><Relationship Type="http://schemas.openxmlformats.org/officeDocument/2006/relationships/notesSlide" Target="/ppt/notesSlides/notesSlide5.xml" Id="R57316604225a4a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aa98ffccd8624318" /><Relationship Type="http://schemas.openxmlformats.org/officeDocument/2006/relationships/image" Target="/ppt/media/image.jpeg" Id="Rff251e337a4f467a" /><Relationship Type="http://schemas.openxmlformats.org/officeDocument/2006/relationships/image" Target="/ppt/media/image2.png" Id="R40473b7614ad44bd" /><Relationship Type="http://schemas.openxmlformats.org/officeDocument/2006/relationships/image" Target="/ppt/media/image.svg" Id="R651add3d69a8429a" /><Relationship Type="http://schemas.openxmlformats.org/officeDocument/2006/relationships/notesSlide" Target="/ppt/notesSlides/notesSlide6.xml" Id="R04526e0235d944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1f9b7adc52734c19" /><Relationship Type="http://schemas.openxmlformats.org/officeDocument/2006/relationships/image" Target="/ppt/media/image.jpeg" Id="R7ba8488d07034d43" /><Relationship Type="http://schemas.openxmlformats.org/officeDocument/2006/relationships/image" Target="/ppt/media/image3.png" Id="Rab662dc3244c4f7e" /><Relationship Type="http://schemas.openxmlformats.org/officeDocument/2006/relationships/notesSlide" Target="/ppt/notesSlides/notesSlide7.xml" Id="Rcd34f6c3231843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4663e292769f4fd6" /><Relationship Type="http://schemas.openxmlformats.org/officeDocument/2006/relationships/image" Target="/ppt/media/image.jpeg" Id="R8e7028f5669044e3" /><Relationship Type="http://schemas.openxmlformats.org/officeDocument/2006/relationships/image" Target="/ppt/media/image4.png" Id="Rdecce75c619a40ea" /><Relationship Type="http://schemas.openxmlformats.org/officeDocument/2006/relationships/image" Target="/ppt/media/image2.svg" Id="R8d666c30bbfa4bf3" /><Relationship Type="http://schemas.openxmlformats.org/officeDocument/2006/relationships/notesSlide" Target="/ppt/notesSlides/notesSlide8.xml" Id="R8e478ecc029047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6bc2c69b3dc44380" /><Relationship Type="http://schemas.openxmlformats.org/officeDocument/2006/relationships/image" Target="/ppt/media/image.jpeg" Id="R69666f716a2f4f88" /><Relationship Type="http://schemas.openxmlformats.org/officeDocument/2006/relationships/image" Target="/ppt/media/image5.png" Id="R2cef6e3058ee4b20" /><Relationship Type="http://schemas.openxmlformats.org/officeDocument/2006/relationships/image" Target="/ppt/media/image6.png" Id="Rb2649e3775c44295" /><Relationship Type="http://schemas.openxmlformats.org/officeDocument/2006/relationships/image" Target="/ppt/media/image7.png" Id="R7859915f03dd4659" /><Relationship Type="http://schemas.openxmlformats.org/officeDocument/2006/relationships/notesSlide" Target="/ppt/notesSlides/notesSlide9.xml" Id="R02cc758eb9594d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64bde768cf14209" /><Relationship Type="http://schemas.openxmlformats.org/officeDocument/2006/relationships/image" Target="/ppt/media/image.jpeg" Id="R280b51092c8746ed" /><Relationship Type="http://schemas.openxmlformats.org/officeDocument/2006/relationships/notesSlide" Target="/ppt/notesSlides/notesSlide10.xml" Id="R1628e863dc9842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66e7ac128344429d" /><Relationship Type="http://schemas.openxmlformats.org/officeDocument/2006/relationships/image" Target="/ppt/media/image.jpeg" Id="R09abbfb6a7cf4644" /><Relationship Type="http://schemas.openxmlformats.org/officeDocument/2006/relationships/image" Target="/ppt/media/image8.png" Id="R190282e294a04f8c" /><Relationship Type="http://schemas.openxmlformats.org/officeDocument/2006/relationships/image" Target="/ppt/media/image3.svg" Id="R609b8f1af9b44092" /><Relationship Type="http://schemas.openxmlformats.org/officeDocument/2006/relationships/notesSlide" Target="/ppt/notesSlides/notesSlide11.xml" Id="R0c8aab0315f242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f2ec16b173e14f4d" /><Relationship Type="http://schemas.openxmlformats.org/officeDocument/2006/relationships/image" Target="/ppt/media/image.jpeg" Id="R0376e39f36b54171" /><Relationship Type="http://schemas.openxmlformats.org/officeDocument/2006/relationships/image" Target="/ppt/media/image9.png" Id="Rc7bdac315e7748c5" /><Relationship Type="http://schemas.openxmlformats.org/officeDocument/2006/relationships/notesSlide" Target="/ppt/notesSlides/notesSlide12.xml" Id="R325f9bfccfdc4b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4ddc2a8bd7f141ee" /><Relationship Type="http://schemas.openxmlformats.org/officeDocument/2006/relationships/image" Target="/ppt/media/image.jpeg" Id="R5f2db616c45e461e" /><Relationship Type="http://schemas.openxmlformats.org/officeDocument/2006/relationships/image" Target="/ppt/media/image10.png" Id="R681f97cbdc674402" /><Relationship Type="http://schemas.openxmlformats.org/officeDocument/2006/relationships/image" Target="/ppt/media/image4.svg" Id="R24d03daae4ea402f" /><Relationship Type="http://schemas.openxmlformats.org/officeDocument/2006/relationships/notesSlide" Target="/ppt/notesSlides/notesSlide13.xml" Id="Rcdb727909ee745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6ca73f261dbb4ce5" /><Relationship Type="http://schemas.openxmlformats.org/officeDocument/2006/relationships/image" Target="/ppt/media/image.jpeg" Id="Rf42d5cd06d6b4a71" /><Relationship Type="http://schemas.openxmlformats.org/officeDocument/2006/relationships/image" Target="/ppt/media/image11.png" Id="R3f5c5c40f14a4a11" /><Relationship Type="http://schemas.openxmlformats.org/officeDocument/2006/relationships/notesSlide" Target="/ppt/notesSlides/notesSlide14.xml" Id="Rbf0ecb5d91ca49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95b8ab1167ab4297" /><Relationship Type="http://schemas.openxmlformats.org/officeDocument/2006/relationships/image" Target="/ppt/media/image.jpeg" Id="R8b1fdb51c9834571" /><Relationship Type="http://schemas.openxmlformats.org/officeDocument/2006/relationships/image" Target="/ppt/media/image12.png" Id="Rdbb506389db64923" /><Relationship Type="http://schemas.openxmlformats.org/officeDocument/2006/relationships/image" Target="/ppt/media/image5.svg" Id="Rfb44651bf9c5466c" /><Relationship Type="http://schemas.openxmlformats.org/officeDocument/2006/relationships/notesSlide" Target="/ppt/notesSlides/notesSlide15.xml" Id="Rffa841c06ecb48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0e7355b5b28249f5" /><Relationship Type="http://schemas.openxmlformats.org/officeDocument/2006/relationships/image" Target="/ppt/media/image.jpeg" Id="R87e47bceb79c4e9a" /><Relationship Type="http://schemas.openxmlformats.org/officeDocument/2006/relationships/notesSlide" Target="/ppt/notesSlides/notesSlide16.xml" Id="R0827c9ab11844e6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2ef888e9db9438b" /><Relationship Type="http://schemas.openxmlformats.org/officeDocument/2006/relationships/image" Target="/ppt/media/image.jpeg" Id="R342a34468f01470a" /><Relationship Type="http://schemas.openxmlformats.org/officeDocument/2006/relationships/notesSlide" Target="/ppt/notesSlides/notesSlide17.xml" Id="Re9fc6d1e19094a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6f4abff7acdc463e" /><Relationship Type="http://schemas.openxmlformats.org/officeDocument/2006/relationships/image" Target="/ppt/media/image.jpeg" Id="Rb107336b41fd435d" /><Relationship Type="http://schemas.openxmlformats.org/officeDocument/2006/relationships/notesSlide" Target="/ppt/notesSlides/notesSlide18.xml" Id="Ra3a9c2f809c04e5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9dce7fd5948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8" y="987574"/>
            <a:ext cx="9115129" cy="252028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pic>
        <p:nvPicPr>
          <p:cNvPr id="1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1ba1cca1c476e"/>
          <a:srcRect xmlns:a="http://schemas.openxmlformats.org/drawingml/2006/main" l="68782" t="1129" r="1331" b="859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8264" y="18780"/>
            <a:ext cx="2195736" cy="701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FC1C0-11DF-41A1-9211-A32C9D8C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3" y="1214438"/>
            <a:ext cx="72151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38" b="1">
                <a:solidFill>
                  <a:srgbClr val="FFFFFF"/>
                </a:solidFill>
              </a:defRPr>
            </a:pPr>
            <a:r>
              <a:rPr sz="2138" b="1">
                <a:solidFill>
                  <a:srgbClr val="FFFFFF"/>
                </a:solidFill>
              </a:rPr>
              <a:t>基于多模态大模型的工作票智能解析与时空关联技术研究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DC38B-B3A1-4F34-8B2B-B11F809F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938" y="2043113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88" b="1">
                <a:solidFill>
                  <a:srgbClr val="FFFFFF"/>
                </a:solidFill>
              </a:defRPr>
            </a:pPr>
            <a:r>
              <a:rPr sz="1688" b="1">
                <a:solidFill>
                  <a:srgbClr val="FFFFFF"/>
                </a:solidFill>
              </a:rPr>
              <a:t>阶段性研究分报告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07F4F-A458-4C5F-8EFB-0933A648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4000500"/>
            <a:ext cx="4714875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263640"/>
                </a:solidFill>
              </a:defRPr>
            </a:pPr>
            <a:r>
              <a:rPr sz="1238" b="1">
                <a:solidFill>
                  <a:srgbClr val="263640"/>
                </a:solidFill>
              </a:rPr>
              <a:t>华东分部生技部、武汉南瑞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59FAC2-3156-4F2C-BE25-01C245AE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4393883"/>
            <a:ext cx="4714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3640"/>
                </a:solidFill>
              </a:defRPr>
            </a:pPr>
            <a:r>
              <a:rPr sz="1125" b="1">
                <a:solidFill>
                  <a:srgbClr val="263640"/>
                </a:solidFill>
              </a:rPr>
              <a:t>2026年8月</a:t>
            </a:r>
          </a:p>
        </p:txBody>
      </p:sp>
    </p:spTree>
    <p:extLst>
      <p:ext uri="{BB962C8B-B14F-4D97-AF65-F5344CB8AC3E}">
        <p14:creationId xmlns:p14="http://schemas.microsoft.com/office/powerpoint/2010/main" val="18300980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c941f2a024014"/>
          <a:srcRect xmlns:a="http://schemas.openxmlformats.org/drawingml/2006/main" l="68782" t="1129" r="1331" b="859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8264" y="18780"/>
            <a:ext cx="2195736" cy="701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F61C69-686A-434B-B4AA-2E42DF09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71500"/>
            <a:ext cx="1679258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C"/>
          </a:solidFill>
          <a:ln xmlns:a="http://schemas.openxmlformats.org/drawingml/2006/main" w="14288">
            <a:solidFill>
              <a:srgbClr val="007B6C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559435-3FAA-4D1E-98E9-16D4A03A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8" y="1679258"/>
            <a:ext cx="1250633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98" b="0">
                <a:solidFill>
                  <a:srgbClr val="FFFFFF"/>
                </a:solidFill>
              </a:defRPr>
            </a:pPr>
            <a:r>
              <a:rPr sz="1298" b="0">
                <a:solidFill>
                  <a:srgbClr val="FFFFFF"/>
                </a:solidFill>
              </a:rPr>
              <a:t>CONTENTS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9C5CE9-978A-4C1C-8074-65113A09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8" y="2071688"/>
            <a:ext cx="1250633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48" b="1">
                <a:solidFill>
                  <a:srgbClr val="FFFFFF"/>
                </a:solidFill>
              </a:defRPr>
            </a:pPr>
            <a:r>
              <a:rPr sz="1748" b="1">
                <a:solidFill>
                  <a:srgbClr val="FFFFFF"/>
                </a:solidFill>
              </a:rPr>
              <a:t>目 录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9EB0D0-8568-4C20-A8AA-A27372E9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508" y="1143000"/>
            <a:ext cx="5214938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4288">
            <a:solidFill>
              <a:srgbClr val="007B6C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2A99A4-EE53-472A-9756-741DB4C7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257300"/>
            <a:ext cx="5000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007B6C"/>
                </a:solidFill>
              </a:defRPr>
            </a:pPr>
            <a:r>
              <a:rPr sz="1238" b="1">
                <a:solidFill>
                  <a:srgbClr val="007B6C"/>
                </a:solidFill>
              </a:rPr>
              <a:t>01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6CF566-37FD-4518-B174-2D55293E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243013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98" b="1">
                <a:solidFill>
                  <a:srgbClr val="263640"/>
                </a:solidFill>
              </a:defRPr>
            </a:pPr>
            <a:r>
              <a:rPr sz="1298" b="1">
                <a:solidFill>
                  <a:srgbClr val="263640"/>
                </a:solidFill>
              </a:rPr>
              <a:t>研究背景与阶段进展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429DF35-1CBC-444C-BFA2-42BC143F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508" y="1943100"/>
            <a:ext cx="5214938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4288">
            <a:solidFill>
              <a:srgbClr val="D4D9DC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B8C734-9ABE-4FCD-8DB8-06A75F50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57400"/>
            <a:ext cx="5000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707A82"/>
                </a:solidFill>
              </a:defRPr>
            </a:pPr>
            <a:r>
              <a:rPr sz="1238" b="1">
                <a:solidFill>
                  <a:srgbClr val="707A82"/>
                </a:solidFill>
              </a:rPr>
              <a:t>02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D85BE50-3254-44B3-9BEB-D11F030D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2043113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98" b="1">
                <a:solidFill>
                  <a:srgbClr val="263640"/>
                </a:solidFill>
              </a:defRPr>
            </a:pPr>
            <a:r>
              <a:rPr sz="1298" b="1">
                <a:solidFill>
                  <a:srgbClr val="263640"/>
                </a:solidFill>
              </a:rPr>
              <a:t>总体方案与工作票解析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F264780-80E2-4ACF-8515-7493E0FA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508" y="2743200"/>
            <a:ext cx="5214938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4288">
            <a:solidFill>
              <a:srgbClr val="D4D9DC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D0FF34-2204-47D1-98A4-5F4FACDD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57500"/>
            <a:ext cx="5000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707A82"/>
                </a:solidFill>
              </a:defRPr>
            </a:pPr>
            <a:r>
              <a:rPr sz="1238" b="1">
                <a:solidFill>
                  <a:srgbClr val="707A82"/>
                </a:solidFill>
              </a:rPr>
              <a:t>03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16E075B-9845-46AF-80E4-E5EBCF4C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2843213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98" b="1">
                <a:solidFill>
                  <a:srgbClr val="263640"/>
                </a:solidFill>
              </a:defRPr>
            </a:pPr>
            <a:r>
              <a:rPr sz="1298" b="1">
                <a:solidFill>
                  <a:srgbClr val="263640"/>
                </a:solidFill>
              </a:rPr>
              <a:t>监控视频与时空关联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8DE3F78-46EB-444F-94AB-DA5C2DE4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508" y="3543300"/>
            <a:ext cx="5214938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4288">
            <a:solidFill>
              <a:srgbClr val="D4D9DC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6ECA1FD-E69C-4ED2-B728-7BF730F6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57600"/>
            <a:ext cx="5000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707A82"/>
                </a:solidFill>
              </a:defRPr>
            </a:pPr>
            <a:r>
              <a:rPr sz="1238" b="1">
                <a:solidFill>
                  <a:srgbClr val="707A82"/>
                </a:solidFill>
              </a:rPr>
              <a:t>04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96EE886-211F-4799-B8FA-76A07703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3643313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98" b="1">
                <a:solidFill>
                  <a:srgbClr val="263640"/>
                </a:solidFill>
              </a:defRPr>
            </a:pPr>
            <a:r>
              <a:rPr sz="1298" b="1">
                <a:solidFill>
                  <a:srgbClr val="263640"/>
                </a:solidFill>
              </a:rPr>
              <a:t>成果产出与后续计划</a:t>
            </a:r>
          </a:p>
        </p:txBody>
      </p:sp>
    </p:spTree>
    <p:extLst>
      <p:ext uri="{BB962C8B-B14F-4D97-AF65-F5344CB8AC3E}">
        <p14:creationId xmlns:p14="http://schemas.microsoft.com/office/powerpoint/2010/main" val="8808923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0948b30684d79"/>
          <a:srcRect xmlns:a="http://schemas.openxmlformats.org/drawingml/2006/main" l="68782" t="1129" r="1331" b="859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8264" y="18780"/>
            <a:ext cx="2195736" cy="701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7705B-5E16-4FF4-BB25-82EECD30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179070"/>
            <a:ext cx="2143125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一、研究背景与阶段进展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E0EA8-6491-4223-AB24-79CCD71D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485775"/>
            <a:ext cx="635793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23" b="1">
                <a:solidFill>
                  <a:srgbClr val="111111"/>
                </a:solidFill>
              </a:defRPr>
            </a:pPr>
            <a:r>
              <a:rPr sz="1523" b="1">
                <a:solidFill>
                  <a:srgbClr val="111111"/>
                </a:solidFill>
              </a:rPr>
              <a:t>■ 工作票与监控视频相互独立，现场核查仍依赖人工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63683-11D0-484B-BDCE-F3502643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79195"/>
            <a:ext cx="2500313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4288">
            <a:solidFill>
              <a:srgbClr val="707A8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7E62B-8663-408B-BC03-AF714C79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3508"/>
            <a:ext cx="21002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98" b="1">
                <a:solidFill>
                  <a:srgbClr val="263640"/>
                </a:solidFill>
              </a:defRPr>
            </a:pPr>
            <a:r>
              <a:rPr sz="1298" b="1">
                <a:solidFill>
                  <a:srgbClr val="263640"/>
                </a:solidFill>
              </a:rPr>
              <a:t>工作票难直接利用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E55B31-BFEE-4437-BD8B-C7646D16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8" y="1928813"/>
            <a:ext cx="1957388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73" b="0">
                <a:solidFill>
                  <a:srgbClr val="707A82"/>
                </a:solidFill>
              </a:defRPr>
            </a:pPr>
            <a:r>
              <a:rPr sz="1073" b="0">
                <a:solidFill>
                  <a:srgbClr val="707A82"/>
                </a:solidFill>
              </a:rPr>
              <a:t>票面含文本、表格和版面结构，字段表达不统一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36F1F-AD6E-4858-9CB9-475DAFC9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3" y="2907983"/>
            <a:ext cx="642938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007B6C"/>
                </a:solidFill>
              </a:defRPr>
            </a:pPr>
            <a:r>
              <a:rPr sz="960" b="1">
                <a:solidFill>
                  <a:srgbClr val="007B6C"/>
                </a:solidFill>
              </a:rPr>
              <a:t>文本/表格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056C7-08B0-4300-9347-5DA6A2D3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320" y="1179195"/>
            <a:ext cx="2500313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4288">
            <a:solidFill>
              <a:srgbClr val="707A8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BA70E-B044-4A47-8183-BD9E05B5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345" y="1393508"/>
            <a:ext cx="21002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98" b="1">
                <a:solidFill>
                  <a:srgbClr val="263640"/>
                </a:solidFill>
              </a:defRPr>
            </a:pPr>
            <a:r>
              <a:rPr sz="1298" b="1">
                <a:solidFill>
                  <a:srgbClr val="263640"/>
                </a:solidFill>
              </a:rPr>
              <a:t>监控视频检索成本高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606766-3DC3-4AD5-A15F-9117EB0B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783" y="1928813"/>
            <a:ext cx="1957388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73" b="0">
                <a:solidFill>
                  <a:srgbClr val="707A82"/>
                </a:solidFill>
              </a:defRPr>
            </a:pPr>
            <a:r>
              <a:rPr sz="1073" b="0">
                <a:solidFill>
                  <a:srgbClr val="707A82"/>
                </a:solidFill>
              </a:rPr>
              <a:t>录像时间长、点位多，人工回放效率低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625D31-FEFF-4B32-93C8-BCC22A2C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008" y="2907983"/>
            <a:ext cx="642938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007B6C"/>
                </a:solidFill>
              </a:defRPr>
            </a:pPr>
            <a:r>
              <a:rPr sz="960" b="1">
                <a:solidFill>
                  <a:srgbClr val="007B6C"/>
                </a:solidFill>
              </a:rPr>
              <a:t>长视频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83C2E0-CBF7-4482-918D-14553E51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179195"/>
            <a:ext cx="2500313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4288">
            <a:solidFill>
              <a:srgbClr val="E7645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D3E2B-CA55-4C81-9FBF-4F3585C9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1393508"/>
            <a:ext cx="21002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98" b="1">
                <a:solidFill>
                  <a:srgbClr val="E7645D"/>
                </a:solidFill>
              </a:defRPr>
            </a:pPr>
            <a:r>
              <a:rPr sz="1298" b="1">
                <a:solidFill>
                  <a:srgbClr val="E7645D"/>
                </a:solidFill>
              </a:rPr>
              <a:t>票面与现场缺少关联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7D5DCE-5B8A-4DF2-B4D6-CEBF0A4C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28813"/>
            <a:ext cx="1957388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73" b="0">
                <a:solidFill>
                  <a:srgbClr val="707A82"/>
                </a:solidFill>
              </a:defRPr>
            </a:pPr>
            <a:r>
              <a:rPr sz="1073" b="0">
                <a:solidFill>
                  <a:srgbClr val="707A82"/>
                </a:solidFill>
              </a:rPr>
              <a:t>仅凭时间或点位，难确认视频是否对应具体任务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FD3703-C7F5-400C-B144-DA1FD8E1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7983"/>
            <a:ext cx="642938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E7645D"/>
                </a:solidFill>
              </a:defRPr>
            </a:pPr>
            <a:r>
              <a:rPr sz="960" b="1">
                <a:solidFill>
                  <a:srgbClr val="E7645D"/>
                </a:solidFill>
              </a:rPr>
              <a:t>多模态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F39BAA-49D2-4260-A53F-1A4C7D51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8229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4288">
            <a:solidFill>
              <a:srgbClr val="007B6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094B8B-A787-4247-9412-E17BD87E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8" y="4608195"/>
            <a:ext cx="797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05C52"/>
                </a:solidFill>
              </a:defRPr>
            </a:pPr>
            <a:r>
              <a:rPr sz="1013" b="1">
                <a:solidFill>
                  <a:srgbClr val="005C52"/>
                </a:solidFill>
              </a:rPr>
              <a:t>需要建立“工作票智能解析—视频检索—内容关联—证据追溯”的统一技术链路。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DDDBBF-5AFC-4FF7-8259-2823FE90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4879658"/>
            <a:ext cx="57150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C969C"/>
                </a:solidFill>
              </a:defRPr>
            </a:pPr>
            <a:r>
              <a:rPr sz="675" b="0">
                <a:solidFill>
                  <a:srgbClr val="8C969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205243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e148908ca4808"/>
          <a:srcRect xmlns:a="http://schemas.openxmlformats.org/drawingml/2006/main" l="68782" t="1129" r="1331" b="859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8264" y="18780"/>
            <a:ext cx="2195736" cy="701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22310-778A-42A6-ACF1-B6BC8755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179070"/>
            <a:ext cx="2143125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一、研究背景与阶段进展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709B3-CBDE-419F-BDD5-280CA00C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485775"/>
            <a:ext cx="635793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23" b="1">
                <a:solidFill>
                  <a:srgbClr val="111111"/>
                </a:solidFill>
              </a:defRPr>
            </a:pPr>
            <a:r>
              <a:rPr sz="1523" b="1">
                <a:solidFill>
                  <a:srgbClr val="111111"/>
                </a:solidFill>
              </a:rPr>
              <a:t>■ 研究目标是形成从票面理解到现场证据的完整闭环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D29C5-0CFE-46F2-9583-0D2438EF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3" y="1357313"/>
            <a:ext cx="1893570" cy="2071688"/>
          </a:xfrm>
          <a:prstGeom xmlns:a="http://schemas.openxmlformats.org/drawingml/2006/main" prst="roundRect">
            <a:avLst>
              <a:gd name="adj" fmla="val 402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4288">
            <a:solidFill>
              <a:srgbClr val="9AA3A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253E8-0C59-4F8C-ACEF-7EE36F47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8" y="1571625"/>
            <a:ext cx="464820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8FE5"/>
          </a:solidFill>
          <a:ln xmlns:a="http://schemas.openxmlformats.org/drawingml/2006/main" w="0">
            <a:solidFill>
              <a:srgbClr val="458FE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13" b="1">
                <a:solidFill>
                  <a:srgbClr val="FFFFFF"/>
                </a:solidFill>
              </a:defRPr>
            </a:pPr>
            <a:r>
              <a:rPr sz="1913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DCEFD-A30C-4611-8DA0-E2837C5E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3" y="2250758"/>
            <a:ext cx="155067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98" b="1">
                <a:solidFill>
                  <a:srgbClr val="263640"/>
                </a:solidFill>
              </a:defRPr>
            </a:pPr>
            <a:r>
              <a:rPr sz="1298" b="1">
                <a:solidFill>
                  <a:srgbClr val="263640"/>
                </a:solidFill>
              </a:rPr>
              <a:t>信息解析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95382-C21F-4828-8264-48D8036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" y="2643188"/>
            <a:ext cx="1464945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707A82"/>
                </a:solidFill>
              </a:defRPr>
            </a:pPr>
            <a:r>
              <a:rPr sz="1013" b="0">
                <a:solidFill>
                  <a:srgbClr val="707A82"/>
                </a:solidFill>
              </a:rPr>
              <a:t>提取时间、地点、设备、任务、人员和安全措施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D8DA8-19D9-4604-9957-1E8EE10A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795" y="1357313"/>
            <a:ext cx="1893570" cy="2071688"/>
          </a:xfrm>
          <a:prstGeom xmlns:a="http://schemas.openxmlformats.org/drawingml/2006/main" prst="roundRect">
            <a:avLst>
              <a:gd name="adj" fmla="val 402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4288">
            <a:solidFill>
              <a:srgbClr val="9AA3A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634D8-7F0E-402C-B024-BB0E7732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170" y="1571625"/>
            <a:ext cx="464820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8FE5"/>
          </a:solidFill>
          <a:ln xmlns:a="http://schemas.openxmlformats.org/drawingml/2006/main" w="0">
            <a:solidFill>
              <a:srgbClr val="458FE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13" b="1">
                <a:solidFill>
                  <a:srgbClr val="FFFFFF"/>
                </a:solidFill>
              </a:defRPr>
            </a:pPr>
            <a:r>
              <a:rPr sz="1913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99C244-B791-4A3B-A6C2-D5131B11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45" y="2250758"/>
            <a:ext cx="155067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98" b="1">
                <a:solidFill>
                  <a:srgbClr val="263640"/>
                </a:solidFill>
              </a:defRPr>
            </a:pPr>
            <a:r>
              <a:rPr sz="1298" b="1">
                <a:solidFill>
                  <a:srgbClr val="263640"/>
                </a:solidFill>
              </a:rPr>
              <a:t>时空定位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98FDBB-1561-4A87-84B1-9F67CC6C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108" y="2643188"/>
            <a:ext cx="1464945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707A82"/>
                </a:solidFill>
              </a:defRPr>
            </a:pPr>
            <a:r>
              <a:rPr sz="1013" b="0">
                <a:solidFill>
                  <a:srgbClr val="707A82"/>
                </a:solidFill>
              </a:rPr>
              <a:t>根据作业时间和设备位置筛选摄像机及录像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24BC34-6C85-4190-90E6-D6AA7C69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208" y="1357313"/>
            <a:ext cx="1893570" cy="2071688"/>
          </a:xfrm>
          <a:prstGeom xmlns:a="http://schemas.openxmlformats.org/drawingml/2006/main" prst="roundRect">
            <a:avLst>
              <a:gd name="adj" fmla="val 402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4288">
            <a:solidFill>
              <a:srgbClr val="9AA3A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49C846-AFCD-4A2C-8B90-DFC7B6E5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583" y="1571625"/>
            <a:ext cx="464820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8FE5"/>
          </a:solidFill>
          <a:ln xmlns:a="http://schemas.openxmlformats.org/drawingml/2006/main" w="0">
            <a:solidFill>
              <a:srgbClr val="458FE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13" b="1">
                <a:solidFill>
                  <a:srgbClr val="FFFFFF"/>
                </a:solidFill>
              </a:defRPr>
            </a:pPr>
            <a:r>
              <a:rPr sz="1913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2623BA-C00B-46A5-B7D5-D819BCE9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9658" y="2250758"/>
            <a:ext cx="155067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98" b="1">
                <a:solidFill>
                  <a:srgbClr val="263640"/>
                </a:solidFill>
              </a:defRPr>
            </a:pPr>
            <a:r>
              <a:rPr sz="1298" b="1">
                <a:solidFill>
                  <a:srgbClr val="263640"/>
                </a:solidFill>
              </a:rPr>
              <a:t>内容关联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062C57-CC5F-4D3D-9D9E-BE3A0087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2520" y="2643188"/>
            <a:ext cx="1464945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707A82"/>
                </a:solidFill>
              </a:defRPr>
            </a:pPr>
            <a:r>
              <a:rPr sz="1013" b="0">
                <a:solidFill>
                  <a:srgbClr val="707A82"/>
                </a:solidFill>
              </a:rPr>
              <a:t>判断视频内容与工作票任务是否语义一致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EFE509-98F6-49D8-A96E-D34D0A95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5620" y="1357313"/>
            <a:ext cx="1893570" cy="2071688"/>
          </a:xfrm>
          <a:prstGeom xmlns:a="http://schemas.openxmlformats.org/drawingml/2006/main" prst="roundRect">
            <a:avLst>
              <a:gd name="adj" fmla="val 4024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4288">
            <a:solidFill>
              <a:srgbClr val="007B6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26343B-4305-4BA6-B0B3-B178159E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995" y="1571625"/>
            <a:ext cx="464820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C"/>
          </a:solidFill>
          <a:ln xmlns:a="http://schemas.openxmlformats.org/drawingml/2006/main" w="0">
            <a:solidFill>
              <a:srgbClr val="007B6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13" b="1">
                <a:solidFill>
                  <a:srgbClr val="FFFFFF"/>
                </a:solidFill>
              </a:defRPr>
            </a:pPr>
            <a:r>
              <a:rPr sz="1913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FF7EC9-E033-4B6E-BBD0-355BC1A1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070" y="2250758"/>
            <a:ext cx="155067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98" b="1">
                <a:solidFill>
                  <a:srgbClr val="263640"/>
                </a:solidFill>
              </a:defRPr>
            </a:pPr>
            <a:r>
              <a:rPr sz="1298" b="1">
                <a:solidFill>
                  <a:srgbClr val="263640"/>
                </a:solidFill>
              </a:rPr>
              <a:t>证据输出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F3831B-68EE-4370-9298-FA3851B3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9933" y="2643188"/>
            <a:ext cx="1464945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707A82"/>
                </a:solidFill>
              </a:defRPr>
            </a:pPr>
            <a:r>
              <a:rPr sz="1013" b="0">
                <a:solidFill>
                  <a:srgbClr val="707A82"/>
                </a:solidFill>
              </a:rPr>
              <a:t>输出视频片段、关键帧及关联依据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B2D3CC-B735-41E0-B5EC-A57FD967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8229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4288">
            <a:solidFill>
              <a:srgbClr val="007B6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8CB0F5-DF3F-4787-943C-28A9D417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8" y="4608195"/>
            <a:ext cx="797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05C52"/>
                </a:solidFill>
              </a:defRPr>
            </a:pPr>
            <a:r>
              <a:rPr sz="1013" b="1">
                <a:solidFill>
                  <a:srgbClr val="005C52"/>
                </a:solidFill>
              </a:rPr>
              <a:t>核心输出不是“整段录像”，而是与具体工作任务相对应、可复核的视频证据。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ADC472-0F2C-41ED-9088-AA55C35E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4879658"/>
            <a:ext cx="57150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C969C"/>
                </a:solidFill>
              </a:defRPr>
            </a:pPr>
            <a:r>
              <a:rPr sz="675" b="0">
                <a:solidFill>
                  <a:srgbClr val="8C969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205243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f3545a51f4e2b"/>
          <a:srcRect xmlns:a="http://schemas.openxmlformats.org/drawingml/2006/main" l="68782" t="1129" r="1331" b="859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8264" y="18780"/>
            <a:ext cx="2195736" cy="701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3390D-DD0E-412C-A873-848B8D71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179070"/>
            <a:ext cx="2143125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一、研究背景与阶段进展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427A8-9E88-4D1E-8907-E26BC1C2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485775"/>
            <a:ext cx="635793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23" b="1">
                <a:solidFill>
                  <a:srgbClr val="111111"/>
                </a:solidFill>
              </a:defRPr>
            </a:pPr>
            <a:r>
              <a:rPr sz="1523" b="1">
                <a:solidFill>
                  <a:srgbClr val="111111"/>
                </a:solidFill>
              </a:rPr>
              <a:t>■ 两项核心技术已完成，课题进入集成验证阶段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FCE34-7ECC-4CE0-ABCE-7B4DD577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3" y="1214438"/>
            <a:ext cx="3714750" cy="2107883"/>
          </a:xfrm>
          <a:prstGeom xmlns:a="http://schemas.openxmlformats.org/drawingml/2006/main" prst="roundRect">
            <a:avLst>
              <a:gd name="adj" fmla="val 3615"/>
            </a:avLst>
          </a:prstGeom>
          <a:solidFill xmlns:a="http://schemas.openxmlformats.org/drawingml/2006/main">
            <a:srgbClr val="E8F2FD"/>
          </a:solidFill>
          <a:ln xmlns:a="http://schemas.openxmlformats.org/drawingml/2006/main" w="14288">
            <a:solidFill>
              <a:srgbClr val="458F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AFDA9-5F28-43F5-9A2B-B769FC75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64945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10" b="1">
                <a:solidFill>
                  <a:srgbClr val="458FE5"/>
                </a:solidFill>
              </a:defRPr>
            </a:pPr>
            <a:r>
              <a:rPr sz="1410" b="1">
                <a:solidFill>
                  <a:srgbClr val="458FE5"/>
                </a:solidFill>
              </a:rPr>
              <a:t>工作票关键信息抽取技术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0EC70-D1F1-45E0-90FC-91366052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000250"/>
            <a:ext cx="1571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98" b="1">
                <a:solidFill>
                  <a:srgbClr val="007B6C"/>
                </a:solidFill>
              </a:defRPr>
            </a:pPr>
            <a:r>
              <a:rPr sz="1298" b="1">
                <a:solidFill>
                  <a:srgbClr val="007B6C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163FE-4947-4C9D-9937-49149489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3" y="2000250"/>
            <a:ext cx="28003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640"/>
                </a:solidFill>
              </a:defRPr>
            </a:pPr>
            <a:r>
              <a:rPr sz="1013" b="0">
                <a:solidFill>
                  <a:srgbClr val="263640"/>
                </a:solidFill>
              </a:rPr>
              <a:t>完成多模态工作票解析流程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16191-7A13-4E01-8543-20143FC2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428875"/>
            <a:ext cx="1571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98" b="1">
                <a:solidFill>
                  <a:srgbClr val="007B6C"/>
                </a:solidFill>
              </a:defRPr>
            </a:pPr>
            <a:r>
              <a:rPr sz="1298" b="1">
                <a:solidFill>
                  <a:srgbClr val="007B6C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0965F-4014-4CE6-ACC9-92AF7F39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3" y="2428875"/>
            <a:ext cx="28003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640"/>
                </a:solidFill>
              </a:defRPr>
            </a:pPr>
            <a:r>
              <a:rPr sz="1013" b="0">
                <a:solidFill>
                  <a:srgbClr val="263640"/>
                </a:solidFill>
              </a:rPr>
              <a:t>形成文本、表格、版面融合抽取能力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E2977-2C08-4007-9727-43E02FD9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8" y="2857500"/>
            <a:ext cx="1571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98" b="1">
                <a:solidFill>
                  <a:srgbClr val="007B6C"/>
                </a:solidFill>
              </a:defRPr>
            </a:pPr>
            <a:r>
              <a:rPr sz="1298" b="1">
                <a:solidFill>
                  <a:srgbClr val="007B6C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495D3-DFF4-4686-BC72-9A2C7086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3" y="2857500"/>
            <a:ext cx="28003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640"/>
                </a:solidFill>
              </a:defRPr>
            </a:pPr>
            <a:r>
              <a:rPr sz="1013" b="0">
                <a:solidFill>
                  <a:srgbClr val="263640"/>
                </a:solidFill>
              </a:rPr>
              <a:t>支持结构化结果与中间证据留存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EA653-1310-40D0-9250-8FD3F122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188" y="1214438"/>
            <a:ext cx="3714750" cy="2107883"/>
          </a:xfrm>
          <a:prstGeom xmlns:a="http://schemas.openxmlformats.org/drawingml/2006/main" prst="roundRect">
            <a:avLst>
              <a:gd name="adj" fmla="val 3615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4288">
            <a:solidFill>
              <a:srgbClr val="007B6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579F36-8EFA-41AB-BEF5-071A9252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64945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10" b="1">
                <a:solidFill>
                  <a:srgbClr val="007B6C"/>
                </a:solidFill>
              </a:defRPr>
            </a:pPr>
            <a:r>
              <a:rPr sz="1410" b="1">
                <a:solidFill>
                  <a:srgbClr val="007B6C"/>
                </a:solidFill>
              </a:rPr>
              <a:t>监控视频内容关联技术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551211-72CE-4CC7-A326-E721F6DA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133" y="2000250"/>
            <a:ext cx="1571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98" b="1">
                <a:solidFill>
                  <a:srgbClr val="007B6C"/>
                </a:solidFill>
              </a:defRPr>
            </a:pPr>
            <a:r>
              <a:rPr sz="1298" b="1">
                <a:solidFill>
                  <a:srgbClr val="007B6C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BC0027-86E2-4491-A014-96385B9D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158" y="2000250"/>
            <a:ext cx="28003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640"/>
                </a:solidFill>
              </a:defRPr>
            </a:pPr>
            <a:r>
              <a:rPr sz="1013" b="0">
                <a:solidFill>
                  <a:srgbClr val="263640"/>
                </a:solidFill>
              </a:rPr>
              <a:t>完成融合多模态语义理解的实现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AE7DD7-93F5-4104-886B-DB036FC5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133" y="2428875"/>
            <a:ext cx="1571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98" b="1">
                <a:solidFill>
                  <a:srgbClr val="007B6C"/>
                </a:solidFill>
              </a:defRPr>
            </a:pPr>
            <a:r>
              <a:rPr sz="1298" b="1">
                <a:solidFill>
                  <a:srgbClr val="007B6C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A24230-2035-49AB-BE4A-3CAE5916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158" y="2428875"/>
            <a:ext cx="28003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640"/>
                </a:solidFill>
              </a:defRPr>
            </a:pPr>
            <a:r>
              <a:rPr sz="1013" b="0">
                <a:solidFill>
                  <a:srgbClr val="263640"/>
                </a:solidFill>
              </a:rPr>
              <a:t>形成候选视频筛选与内容匹配链路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96C63A-B4DF-4C6A-A378-54D9BC5C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133" y="2857500"/>
            <a:ext cx="1571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98" b="1">
                <a:solidFill>
                  <a:srgbClr val="007B6C"/>
                </a:solidFill>
              </a:defRPr>
            </a:pPr>
            <a:r>
              <a:rPr sz="1298" b="1">
                <a:solidFill>
                  <a:srgbClr val="007B6C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5AFE52-4678-4D50-9DCB-C2EEFCE0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158" y="2857500"/>
            <a:ext cx="28003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640"/>
                </a:solidFill>
              </a:defRPr>
            </a:pPr>
            <a:r>
              <a:rPr sz="1013" b="0">
                <a:solidFill>
                  <a:srgbClr val="263640"/>
                </a:solidFill>
              </a:rPr>
              <a:t>支持关键片段和关联依据输出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C11179-99DD-46DE-90ED-67CCF620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571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4E1"/>
          </a:solidFill>
          <a:ln xmlns:a="http://schemas.openxmlformats.org/drawingml/2006/main" w="14288">
            <a:solidFill>
              <a:srgbClr val="E3A13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0AB9BC-5FA3-474E-9DC3-56033ACA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813" y="3871913"/>
            <a:ext cx="5286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681E"/>
                </a:solidFill>
              </a:defRPr>
            </a:pPr>
            <a:r>
              <a:rPr sz="1125" b="1">
                <a:solidFill>
                  <a:srgbClr val="9A681E"/>
                </a:solidFill>
              </a:rPr>
              <a:t>当前重点：真实样本批量验证与票—设备—摄像机—视频闭环演示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C1DF66-1F0C-4767-BF43-BC9AA4C1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4879658"/>
            <a:ext cx="57150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C969C"/>
                </a:solidFill>
              </a:defRPr>
            </a:pPr>
            <a:r>
              <a:rPr sz="675" b="0">
                <a:solidFill>
                  <a:srgbClr val="8C969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205243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51e337a4f467a"/>
          <a:srcRect xmlns:a="http://schemas.openxmlformats.org/drawingml/2006/main" l="68782" t="1129" r="1331" b="859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8264" y="18780"/>
            <a:ext cx="2195736" cy="701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969B5-5B8B-48D5-81A6-E51FD895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179070"/>
            <a:ext cx="2143125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二、总体方案与工作票解析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B1A57-ACD4-47C4-A1EB-6795D5FC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485775"/>
            <a:ext cx="635793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23" b="1">
                <a:solidFill>
                  <a:srgbClr val="111111"/>
                </a:solidFill>
              </a:defRPr>
            </a:pPr>
            <a:r>
              <a:rPr sz="1523" b="1">
                <a:solidFill>
                  <a:srgbClr val="111111"/>
                </a:solidFill>
              </a:rPr>
              <a:t>■ 总体方案贯通多源输入、智能解析、关联判断与业务输出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473b7614ad44bd">
            <a:extLst>
              <a:ext uri="{96DAC541-7B7A-43D3-8B79-37D633B846F1}">
                <asvg:svgBlip xmlns:asvg="http://schemas.microsoft.com/office/drawing/2016/SVG/main" r:embed="R651add3d69a842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2900" y="822008"/>
            <a:ext cx="8465820" cy="3857625"/>
          </a:xfrm>
          <a:prstGeom xmlns:a="http://schemas.openxmlformats.org/drawingml/2006/main" prst="roundRect">
            <a:avLst>
              <a:gd name="adj" fmla="val 1481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87139-14F1-4D31-8180-CFE2A121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4879658"/>
            <a:ext cx="57150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C969C"/>
                </a:solidFill>
              </a:defRPr>
            </a:pPr>
            <a:r>
              <a:rPr sz="675" b="0">
                <a:solidFill>
                  <a:srgbClr val="8C969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205243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8488d07034d43"/>
          <a:srcRect xmlns:a="http://schemas.openxmlformats.org/drawingml/2006/main" l="68782" t="1129" r="1331" b="859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8264" y="18780"/>
            <a:ext cx="2195736" cy="701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FD01B-2FE6-49C3-9A6A-C4675906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179070"/>
            <a:ext cx="2143125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二、总体方案与工作票解析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4E304-07EC-45DE-81BC-8244A983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485775"/>
            <a:ext cx="635793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23" b="1">
                <a:solidFill>
                  <a:srgbClr val="111111"/>
                </a:solidFill>
              </a:defRPr>
            </a:pPr>
            <a:r>
              <a:rPr sz="1523" b="1">
                <a:solidFill>
                  <a:srgbClr val="111111"/>
                </a:solidFill>
              </a:rPr>
              <a:t>■ 关键信息体系覆盖时间、空间、设备、任务、人员与安全措施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62dc3244c4f7e"/>
          <a:stretch xmlns:a="http://schemas.openxmlformats.org/drawingml/2006/main"/>
        </p:blipFill>
        <p:spPr>
          <a:xfrm xmlns:a="http://schemas.openxmlformats.org/drawingml/2006/main">
            <a:off x="506262" y="1036320"/>
            <a:ext cx="2345038" cy="3250883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6861C9-E783-4B3E-9889-0A268FB1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071563"/>
            <a:ext cx="2322195" cy="750570"/>
          </a:xfrm>
          <a:prstGeom xmlns:a="http://schemas.openxmlformats.org/drawingml/2006/main" prst="roundRect">
            <a:avLst>
              <a:gd name="adj" fmla="val 10152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4288">
            <a:solidFill>
              <a:srgbClr val="458F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8CECE-2C26-48D4-8791-2796573A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193483"/>
            <a:ext cx="206502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85" b="1">
                <a:solidFill>
                  <a:srgbClr val="458FE5"/>
                </a:solidFill>
              </a:defRPr>
            </a:pPr>
            <a:r>
              <a:rPr sz="1185" b="1">
                <a:solidFill>
                  <a:srgbClr val="458FE5"/>
                </a:solidFill>
              </a:rPr>
              <a:t>时间信息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F574F8-A020-4128-BEEA-0E4A7D8E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633" y="1479233"/>
            <a:ext cx="196500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07A82"/>
                </a:solidFill>
              </a:defRPr>
            </a:pPr>
            <a:r>
              <a:rPr sz="900" b="0">
                <a:solidFill>
                  <a:srgbClr val="707A82"/>
                </a:solidFill>
              </a:rPr>
              <a:t>计划开始/结束、许可与终结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9BB4E2-B8A7-448F-AD98-F792A046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071563"/>
            <a:ext cx="2322195" cy="750570"/>
          </a:xfrm>
          <a:prstGeom xmlns:a="http://schemas.openxmlformats.org/drawingml/2006/main" prst="roundRect">
            <a:avLst>
              <a:gd name="adj" fmla="val 10152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4288">
            <a:solidFill>
              <a:srgbClr val="458F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18A1F8-C657-4C25-A2E9-F166AC17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338" y="1193483"/>
            <a:ext cx="206502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85" b="1">
                <a:solidFill>
                  <a:srgbClr val="458FE5"/>
                </a:solidFill>
              </a:defRPr>
            </a:pPr>
            <a:r>
              <a:rPr sz="1185" b="1">
                <a:solidFill>
                  <a:srgbClr val="458FE5"/>
                </a:solidFill>
              </a:rPr>
              <a:t>空间信息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B28FF-7BD4-4DCC-9633-8E72A3D9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820" y="1479233"/>
            <a:ext cx="196500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07A82"/>
                </a:solidFill>
              </a:defRPr>
            </a:pPr>
            <a:r>
              <a:rPr sz="900" b="0">
                <a:solidFill>
                  <a:srgbClr val="707A82"/>
                </a:solidFill>
              </a:rPr>
              <a:t>站点、线路、间隔、作业区域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432FF-B64E-4AFF-8239-FD327B7C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2107883"/>
            <a:ext cx="2322195" cy="750570"/>
          </a:xfrm>
          <a:prstGeom xmlns:a="http://schemas.openxmlformats.org/drawingml/2006/main" prst="roundRect">
            <a:avLst>
              <a:gd name="adj" fmla="val 10152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4288">
            <a:solidFill>
              <a:srgbClr val="458F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3F0BB0-CA96-4E6B-94C5-A230326B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28850"/>
            <a:ext cx="206502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85" b="1">
                <a:solidFill>
                  <a:srgbClr val="458FE5"/>
                </a:solidFill>
              </a:defRPr>
            </a:pPr>
            <a:r>
              <a:rPr sz="1185" b="1">
                <a:solidFill>
                  <a:srgbClr val="458FE5"/>
                </a:solidFill>
              </a:rPr>
              <a:t>设备信息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C5D718-6382-4465-9353-5308C227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633" y="2514600"/>
            <a:ext cx="196500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07A82"/>
                </a:solidFill>
              </a:defRPr>
            </a:pPr>
            <a:r>
              <a:rPr sz="900" b="0">
                <a:solidFill>
                  <a:srgbClr val="707A82"/>
                </a:solidFill>
              </a:rPr>
              <a:t>设备名称、编号、电压等级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61DEE7-DF8E-4548-8820-D4F0D00F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07883"/>
            <a:ext cx="2322195" cy="750570"/>
          </a:xfrm>
          <a:prstGeom xmlns:a="http://schemas.openxmlformats.org/drawingml/2006/main" prst="roundRect">
            <a:avLst>
              <a:gd name="adj" fmla="val 10152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4288">
            <a:solidFill>
              <a:srgbClr val="458FE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044D22-D01E-4188-A758-1D2830FE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338" y="2228850"/>
            <a:ext cx="206502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85" b="1">
                <a:solidFill>
                  <a:srgbClr val="458FE5"/>
                </a:solidFill>
              </a:defRPr>
            </a:pPr>
            <a:r>
              <a:rPr sz="1185" b="1">
                <a:solidFill>
                  <a:srgbClr val="458FE5"/>
                </a:solidFill>
              </a:rPr>
              <a:t>作业信息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CDEB4C-E4F3-4F3F-94C0-86E860A6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820" y="2514600"/>
            <a:ext cx="196500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07A82"/>
                </a:solidFill>
              </a:defRPr>
            </a:pPr>
            <a:r>
              <a:rPr sz="900" b="0">
                <a:solidFill>
                  <a:srgbClr val="707A82"/>
                </a:solidFill>
              </a:rPr>
              <a:t>工作内容、班组、作业类型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0F4AF9-E2D9-4FBE-AC22-529BF6AD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3143250"/>
            <a:ext cx="2322195" cy="750570"/>
          </a:xfrm>
          <a:prstGeom xmlns:a="http://schemas.openxmlformats.org/drawingml/2006/main" prst="roundRect">
            <a:avLst>
              <a:gd name="adj" fmla="val 10152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4288">
            <a:solidFill>
              <a:srgbClr val="458FE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18693D-6913-4EF4-B8D3-C4CF8338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65170"/>
            <a:ext cx="206502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85" b="1">
                <a:solidFill>
                  <a:srgbClr val="458FE5"/>
                </a:solidFill>
              </a:defRPr>
            </a:pPr>
            <a:r>
              <a:rPr sz="1185" b="1">
                <a:solidFill>
                  <a:srgbClr val="458FE5"/>
                </a:solidFill>
              </a:rPr>
              <a:t>人员信息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2E9FAA-D023-4FB1-B3F4-FA8FD9AD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633" y="3550920"/>
            <a:ext cx="196500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07A82"/>
                </a:solidFill>
              </a:defRPr>
            </a:pPr>
            <a:r>
              <a:rPr sz="900" b="0">
                <a:solidFill>
                  <a:srgbClr val="707A82"/>
                </a:solidFill>
              </a:rPr>
              <a:t>负责人、班成员、许可人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E46DFA-D6BF-4F5B-9D93-7459ED29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2322195" cy="750570"/>
          </a:xfrm>
          <a:prstGeom xmlns:a="http://schemas.openxmlformats.org/drawingml/2006/main" prst="roundRect">
            <a:avLst>
              <a:gd name="adj" fmla="val 10152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4288">
            <a:solidFill>
              <a:srgbClr val="007B6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C4656D-D738-4E6B-8760-3DF0D379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338" y="3265170"/>
            <a:ext cx="206502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85" b="1">
                <a:solidFill>
                  <a:srgbClr val="007B6C"/>
                </a:solidFill>
              </a:defRPr>
            </a:pPr>
            <a:r>
              <a:rPr sz="1185" b="1">
                <a:solidFill>
                  <a:srgbClr val="007B6C"/>
                </a:solidFill>
              </a:rPr>
              <a:t>安全信息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A581AC-4BA5-4197-9AFD-6AEF5283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820" y="3550920"/>
            <a:ext cx="196500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07A82"/>
                </a:solidFill>
              </a:defRPr>
            </a:pPr>
            <a:r>
              <a:rPr sz="900" b="0">
                <a:solidFill>
                  <a:srgbClr val="707A82"/>
                </a:solidFill>
              </a:rPr>
              <a:t>安全措施、危险点、注意事项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E56F13-51E0-4B17-A538-BA80441A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8229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4288">
            <a:solidFill>
              <a:srgbClr val="007B6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3C4EB5-1C0B-4B1C-88DB-568000DE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8" y="4608195"/>
            <a:ext cx="797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05C52"/>
                </a:solidFill>
              </a:defRPr>
            </a:pPr>
            <a:r>
              <a:rPr sz="1013" b="1">
                <a:solidFill>
                  <a:srgbClr val="005C52"/>
                </a:solidFill>
              </a:rPr>
              <a:t>抽取结果将作为设备实体对齐、摄像机定位和视频语义检索的统一入口。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33A302-69DD-4F3E-8E5D-54542D79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4879658"/>
            <a:ext cx="57150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C969C"/>
                </a:solidFill>
              </a:defRPr>
            </a:pPr>
            <a:r>
              <a:rPr sz="675" b="0">
                <a:solidFill>
                  <a:srgbClr val="8C969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205243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028f5669044e3"/>
          <a:srcRect xmlns:a="http://schemas.openxmlformats.org/drawingml/2006/main" l="68782" t="1129" r="1331" b="859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8264" y="18780"/>
            <a:ext cx="2195736" cy="701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33940-48B3-4834-A2CC-75B381C8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179070"/>
            <a:ext cx="2143125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二、总体方案与工作票解析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A8780-F0AB-48F0-B5EE-46314746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485775"/>
            <a:ext cx="635793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23" b="1">
                <a:solidFill>
                  <a:srgbClr val="111111"/>
                </a:solidFill>
              </a:defRPr>
            </a:pPr>
            <a:r>
              <a:rPr sz="1523" b="1">
                <a:solidFill>
                  <a:srgbClr val="111111"/>
                </a:solidFill>
              </a:rPr>
              <a:t>■ 多模态解析融合文本、表格、版面与视觉信息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ce75c619a40ea">
            <a:extLst>
              <a:ext uri="{96DAC541-7B7A-43D3-8B79-37D633B846F1}">
                <asvg:svgBlip xmlns:asvg="http://schemas.microsoft.com/office/drawing/2016/SVG/main" r:embed="R8d666c30bbfa4bf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1945" y="842963"/>
            <a:ext cx="8501063" cy="3893820"/>
          </a:xfrm>
          <a:prstGeom xmlns:a="http://schemas.openxmlformats.org/drawingml/2006/main" prst="roundRect">
            <a:avLst>
              <a:gd name="adj" fmla="val 146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A4EBE-AE8B-4B3B-BAD3-BDEAC9C7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4879658"/>
            <a:ext cx="57150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C969C"/>
                </a:solidFill>
              </a:defRPr>
            </a:pPr>
            <a:r>
              <a:rPr sz="675" b="0">
                <a:solidFill>
                  <a:srgbClr val="8C969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205243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66f716a2f4f88"/>
          <a:srcRect xmlns:a="http://schemas.openxmlformats.org/drawingml/2006/main" l="68782" t="1129" r="1331" b="859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8264" y="18780"/>
            <a:ext cx="2195736" cy="701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5CB67-10AC-497B-90DC-2EB84103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179070"/>
            <a:ext cx="2143125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二、总体方案与工作票解析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36D50-D941-412F-ACFB-D3A784AA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485775"/>
            <a:ext cx="635793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23" b="1">
                <a:solidFill>
                  <a:srgbClr val="111111"/>
                </a:solidFill>
              </a:defRPr>
            </a:pPr>
            <a:r>
              <a:rPr sz="1523" b="1">
                <a:solidFill>
                  <a:srgbClr val="111111"/>
                </a:solidFill>
              </a:rPr>
              <a:t>■ 真实样例验证了“原始票据—可读文本—结构化结果”链路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f6e3058ee4b20"/>
          <a:stretch xmlns:a="http://schemas.openxmlformats.org/drawingml/2006/main"/>
        </p:blipFill>
        <p:spPr>
          <a:xfrm xmlns:a="http://schemas.openxmlformats.org/drawingml/2006/main">
            <a:off x="321945" y="1235288"/>
            <a:ext cx="1928813" cy="2673877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49e3775c44295"/>
          <a:srcRect xmlns:a="http://schemas.openxmlformats.org/drawingml/2006/main" l="17809" t="0" r="178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00313" y="1285875"/>
            <a:ext cx="3143250" cy="2143125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9915f03dd4659"/>
          <a:srcRect xmlns:a="http://schemas.openxmlformats.org/drawingml/2006/main" l="7332" t="0" r="73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9313" y="1285875"/>
            <a:ext cx="2893695" cy="2143125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0CEB6-9B6C-46FD-BF06-D9E761E9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3786188"/>
            <a:ext cx="1785938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63640"/>
                </a:solidFill>
              </a:defRPr>
            </a:pPr>
            <a:r>
              <a:rPr sz="1013" b="1">
                <a:solidFill>
                  <a:srgbClr val="263640"/>
                </a:solidFill>
              </a:rPr>
              <a:t>原始工作票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C5011-C5DA-483D-8EBA-BB858E97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320" y="3786188"/>
            <a:ext cx="1785938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63640"/>
                </a:solidFill>
              </a:defRPr>
            </a:pPr>
            <a:r>
              <a:rPr sz="1013" b="1">
                <a:solidFill>
                  <a:srgbClr val="263640"/>
                </a:solidFill>
              </a:rPr>
              <a:t>OCR / Markdown结果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9B74AE-0A58-4C35-81DC-12E71DD0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86188"/>
            <a:ext cx="1785938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63640"/>
                </a:solidFill>
              </a:defRPr>
            </a:pPr>
            <a:r>
              <a:rPr sz="1013" b="1">
                <a:solidFill>
                  <a:srgbClr val="263640"/>
                </a:solidFill>
              </a:rPr>
              <a:t>JSON / 区块结果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0F905-08C0-44CB-A3EF-BF0EB51C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8229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4288">
            <a:solidFill>
              <a:srgbClr val="007B6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53600A-8965-4261-B41B-46D509E7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8" y="4608195"/>
            <a:ext cx="797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05C52"/>
                </a:solidFill>
              </a:defRPr>
            </a:pPr>
            <a:r>
              <a:rPr sz="1013" b="1">
                <a:solidFill>
                  <a:srgbClr val="005C52"/>
                </a:solidFill>
              </a:rPr>
              <a:t>原文件、文本、表格、区块坐标及结构化结果同步留存，为人工复核和错误定位提供证据。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D4DD03-4C2E-4350-979B-93C97BE4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4879658"/>
            <a:ext cx="57150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C969C"/>
                </a:solidFill>
              </a:defRPr>
            </a:pPr>
            <a:r>
              <a:rPr sz="675" b="0">
                <a:solidFill>
                  <a:srgbClr val="8C969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205243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b51092c8746ed"/>
          <a:srcRect xmlns:a="http://schemas.openxmlformats.org/drawingml/2006/main" l="68782" t="1129" r="1331" b="859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8264" y="18780"/>
            <a:ext cx="2195736" cy="701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4E2E4-6FED-42A3-8B39-7ECB8CD4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179070"/>
            <a:ext cx="2143125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二、总体方案与工作票解析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5AD63-269B-4583-9ABB-FAB2EF06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485775"/>
            <a:ext cx="635793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23" b="1">
                <a:solidFill>
                  <a:srgbClr val="111111"/>
                </a:solidFill>
              </a:defRPr>
            </a:pPr>
            <a:r>
              <a:rPr sz="1523" b="1">
                <a:solidFill>
                  <a:srgbClr val="111111"/>
                </a:solidFill>
              </a:rPr>
              <a:t>■ 大模型负责语义抽取，领域规则负责标准化与一致性校验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836E0-1850-44D8-BF1E-A24757D7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8" y="1464945"/>
            <a:ext cx="1643063" cy="2000250"/>
          </a:xfrm>
          <a:prstGeom xmlns:a="http://schemas.openxmlformats.org/drawingml/2006/main" prst="roundRect">
            <a:avLst>
              <a:gd name="adj" fmla="val 4638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4288">
            <a:solidFill>
              <a:srgbClr val="707A8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71346-287F-409E-89FE-0087CA70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3" y="1679258"/>
            <a:ext cx="13573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458FE5"/>
                </a:solidFill>
              </a:defRPr>
            </a:pPr>
            <a:r>
              <a:rPr sz="1238" b="1">
                <a:solidFill>
                  <a:srgbClr val="458FE5"/>
                </a:solidFill>
              </a:rPr>
              <a:t>多模态输入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6B09C-DEBC-4B0F-A2EB-42DF02DE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4563"/>
            <a:ext cx="1285875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73" b="0">
                <a:solidFill>
                  <a:srgbClr val="263640"/>
                </a:solidFill>
              </a:defRPr>
            </a:pPr>
            <a:r>
              <a:rPr sz="1073" b="0">
                <a:solidFill>
                  <a:srgbClr val="263640"/>
                </a:solidFill>
              </a:rPr>
              <a:t>OCR文本</a:t>
            </a:r>
          </a:p>
          <a:p xmlns:a="http://schemas.openxmlformats.org/drawingml/2006/main">
            <a:pPr algn="ctr">
              <a:defRPr sz="1073" b="0">
                <a:solidFill>
                  <a:srgbClr val="263640"/>
                </a:solidFill>
              </a:defRPr>
            </a:pPr>
            <a:r>
              <a:rPr sz="1073" b="0">
                <a:solidFill>
                  <a:srgbClr val="263640"/>
                </a:solidFill>
              </a:rPr>
              <a:t>版面位置</a:t>
            </a:r>
          </a:p>
          <a:p xmlns:a="http://schemas.openxmlformats.org/drawingml/2006/main">
            <a:pPr algn="ctr">
              <a:defRPr sz="1073" b="0">
                <a:solidFill>
                  <a:srgbClr val="263640"/>
                </a:solidFill>
              </a:defRPr>
            </a:pPr>
            <a:r>
              <a:rPr sz="1073" b="0">
                <a:solidFill>
                  <a:srgbClr val="263640"/>
                </a:solidFill>
              </a:rPr>
              <a:t>表格结构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F8B72-F1AB-4153-85B9-CEE8456C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214563"/>
            <a:ext cx="32194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58FE5"/>
                </a:solidFill>
              </a:defRPr>
            </a:pPr>
            <a:r>
              <a:rPr sz="1800" b="1">
                <a:solidFill>
                  <a:srgbClr val="458FE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57B97-24EA-415E-A930-23AFF73F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508" y="1464945"/>
            <a:ext cx="1643063" cy="2000250"/>
          </a:xfrm>
          <a:prstGeom xmlns:a="http://schemas.openxmlformats.org/drawingml/2006/main" prst="roundRect">
            <a:avLst>
              <a:gd name="adj" fmla="val 4638"/>
            </a:avLst>
          </a:prstGeom>
          <a:solidFill xmlns:a="http://schemas.openxmlformats.org/drawingml/2006/main">
            <a:srgbClr val="E8F2FD"/>
          </a:solidFill>
          <a:ln xmlns:a="http://schemas.openxmlformats.org/drawingml/2006/main" w="14288">
            <a:solidFill>
              <a:srgbClr val="458F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300C78-7E2D-48BE-A538-DCE94D57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383" y="1679258"/>
            <a:ext cx="13573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458FE5"/>
                </a:solidFill>
              </a:defRPr>
            </a:pPr>
            <a:r>
              <a:rPr sz="1238" b="1">
                <a:solidFill>
                  <a:srgbClr val="458FE5"/>
                </a:solidFill>
              </a:rPr>
              <a:t>大模型理解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416FEB-4A6C-474D-9DFC-34979EE2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14563"/>
            <a:ext cx="1285875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73" b="0">
                <a:solidFill>
                  <a:srgbClr val="263640"/>
                </a:solidFill>
              </a:defRPr>
            </a:pPr>
            <a:r>
              <a:rPr sz="1073" b="0">
                <a:solidFill>
                  <a:srgbClr val="263640"/>
                </a:solidFill>
              </a:rPr>
              <a:t>实体抽取</a:t>
            </a:r>
          </a:p>
          <a:p xmlns:a="http://schemas.openxmlformats.org/drawingml/2006/main">
            <a:pPr algn="ctr">
              <a:defRPr sz="1073" b="0">
                <a:solidFill>
                  <a:srgbClr val="263640"/>
                </a:solidFill>
              </a:defRPr>
            </a:pPr>
            <a:r>
              <a:rPr sz="1073" b="0">
                <a:solidFill>
                  <a:srgbClr val="263640"/>
                </a:solidFill>
              </a:rPr>
              <a:t>关系抽取</a:t>
            </a:r>
          </a:p>
          <a:p xmlns:a="http://schemas.openxmlformats.org/drawingml/2006/main">
            <a:pPr algn="ctr">
              <a:defRPr sz="1073" b="0">
                <a:solidFill>
                  <a:srgbClr val="263640"/>
                </a:solidFill>
              </a:defRPr>
            </a:pPr>
            <a:r>
              <a:rPr sz="1073" b="0">
                <a:solidFill>
                  <a:srgbClr val="263640"/>
                </a:solidFill>
              </a:rPr>
              <a:t>固定Schema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B1736D-E77D-41F4-AAC2-86ACD308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14563"/>
            <a:ext cx="32194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58FE5"/>
                </a:solidFill>
              </a:defRPr>
            </a:pPr>
            <a:r>
              <a:rPr sz="1800" b="1">
                <a:solidFill>
                  <a:srgbClr val="458FE5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707C5E-F73B-4841-BC81-AAB282BE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58" y="1464945"/>
            <a:ext cx="1643063" cy="2000250"/>
          </a:xfrm>
          <a:prstGeom xmlns:a="http://schemas.openxmlformats.org/drawingml/2006/main" prst="roundRect">
            <a:avLst>
              <a:gd name="adj" fmla="val 4638"/>
            </a:avLst>
          </a:prstGeom>
          <a:solidFill xmlns:a="http://schemas.openxmlformats.org/drawingml/2006/main">
            <a:srgbClr val="FFF4E1"/>
          </a:solidFill>
          <a:ln xmlns:a="http://schemas.openxmlformats.org/drawingml/2006/main" w="14288">
            <a:solidFill>
              <a:srgbClr val="E3A13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41F2F2-EE38-4436-8880-8366A4C5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633" y="1679258"/>
            <a:ext cx="13573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9A681E"/>
                </a:solidFill>
              </a:defRPr>
            </a:pPr>
            <a:r>
              <a:rPr sz="1238" b="1">
                <a:solidFill>
                  <a:srgbClr val="9A681E"/>
                </a:solidFill>
              </a:rPr>
              <a:t>规则与知识校验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EF521F-722C-4337-B9E7-ED78B914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14563"/>
            <a:ext cx="1285875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73" b="0">
                <a:solidFill>
                  <a:srgbClr val="263640"/>
                </a:solidFill>
              </a:defRPr>
            </a:pPr>
            <a:r>
              <a:rPr sz="1073" b="0">
                <a:solidFill>
                  <a:srgbClr val="263640"/>
                </a:solidFill>
              </a:rPr>
              <a:t>字段格式</a:t>
            </a:r>
          </a:p>
          <a:p xmlns:a="http://schemas.openxmlformats.org/drawingml/2006/main">
            <a:pPr algn="ctr">
              <a:defRPr sz="1073" b="0">
                <a:solidFill>
                  <a:srgbClr val="263640"/>
                </a:solidFill>
              </a:defRPr>
            </a:pPr>
            <a:r>
              <a:rPr sz="1073" b="0">
                <a:solidFill>
                  <a:srgbClr val="263640"/>
                </a:solidFill>
              </a:rPr>
              <a:t>设备编码</a:t>
            </a:r>
          </a:p>
          <a:p xmlns:a="http://schemas.openxmlformats.org/drawingml/2006/main">
            <a:pPr algn="ctr">
              <a:defRPr sz="1073" b="0">
                <a:solidFill>
                  <a:srgbClr val="263640"/>
                </a:solidFill>
              </a:defRPr>
            </a:pPr>
            <a:r>
              <a:rPr sz="1073" b="0">
                <a:solidFill>
                  <a:srgbClr val="263640"/>
                </a:solidFill>
              </a:rPr>
              <a:t>时间逻辑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90269F-EF54-4B31-9D97-98D7E817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2214563"/>
            <a:ext cx="32194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58FE5"/>
                </a:solidFill>
              </a:defRPr>
            </a:pPr>
            <a:r>
              <a:rPr sz="1800" b="1">
                <a:solidFill>
                  <a:srgbClr val="458FE5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D31843-BF11-4C83-859B-F1ECA320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008" y="1464945"/>
            <a:ext cx="1643063" cy="2000250"/>
          </a:xfrm>
          <a:prstGeom xmlns:a="http://schemas.openxmlformats.org/drawingml/2006/main" prst="roundRect">
            <a:avLst>
              <a:gd name="adj" fmla="val 4638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4288">
            <a:solidFill>
              <a:srgbClr val="007B6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6C0C90-5E6F-4137-A210-FB093C1F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9883" y="1679258"/>
            <a:ext cx="13573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B6C"/>
                </a:solidFill>
              </a:defRPr>
            </a:pPr>
            <a:r>
              <a:rPr sz="1238" b="1">
                <a:solidFill>
                  <a:srgbClr val="007B6C"/>
                </a:solidFill>
              </a:rPr>
              <a:t>可追溯输出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EB5556-EFD3-4D51-8307-4D4DF82E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14563"/>
            <a:ext cx="1285875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73" b="0">
                <a:solidFill>
                  <a:srgbClr val="263640"/>
                </a:solidFill>
              </a:defRPr>
            </a:pPr>
            <a:r>
              <a:rPr sz="1073" b="0">
                <a:solidFill>
                  <a:srgbClr val="263640"/>
                </a:solidFill>
              </a:rPr>
              <a:t>字段值</a:t>
            </a:r>
          </a:p>
          <a:p xmlns:a="http://schemas.openxmlformats.org/drawingml/2006/main">
            <a:pPr algn="ctr">
              <a:defRPr sz="1073" b="0">
                <a:solidFill>
                  <a:srgbClr val="263640"/>
                </a:solidFill>
              </a:defRPr>
            </a:pPr>
            <a:r>
              <a:rPr sz="1073" b="0">
                <a:solidFill>
                  <a:srgbClr val="263640"/>
                </a:solidFill>
              </a:rPr>
              <a:t>原文证据</a:t>
            </a:r>
          </a:p>
          <a:p xmlns:a="http://schemas.openxmlformats.org/drawingml/2006/main">
            <a:pPr algn="ctr">
              <a:defRPr sz="1073" b="0">
                <a:solidFill>
                  <a:srgbClr val="263640"/>
                </a:solidFill>
              </a:defRPr>
            </a:pPr>
            <a:r>
              <a:rPr sz="1073" b="0">
                <a:solidFill>
                  <a:srgbClr val="263640"/>
                </a:solidFill>
              </a:rPr>
              <a:t>可信状态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53DC9D-DB2A-4FE7-894C-9C02A57B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8229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4288">
            <a:solidFill>
              <a:srgbClr val="007B6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B6F76D-59C0-4DE3-B9A9-39E15D60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8" y="4608195"/>
            <a:ext cx="797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05C52"/>
                </a:solidFill>
              </a:defRPr>
            </a:pPr>
            <a:r>
              <a:rPr sz="1013" b="1">
                <a:solidFill>
                  <a:srgbClr val="005C52"/>
                </a:solidFill>
              </a:rPr>
              <a:t>避免将“调用大模型”直接等同于可信结果：模型输出必须经过领域约束、标准化和证据回指。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897007-D11D-4698-A20C-1B58450D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4879658"/>
            <a:ext cx="57150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C969C"/>
                </a:solidFill>
              </a:defRPr>
            </a:pPr>
            <a:r>
              <a:rPr sz="675" b="0">
                <a:solidFill>
                  <a:srgbClr val="8C969C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205243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bbfb6a7cf4644"/>
          <a:srcRect xmlns:a="http://schemas.openxmlformats.org/drawingml/2006/main" l="68782" t="1129" r="1331" b="859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8264" y="18780"/>
            <a:ext cx="2195736" cy="701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1611A-7F89-4418-A42B-28E03ACB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179070"/>
            <a:ext cx="2143125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三、监控视频与时空关联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2C38B-7157-4D3C-8F41-381976B8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485775"/>
            <a:ext cx="635793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23" b="1">
                <a:solidFill>
                  <a:srgbClr val="111111"/>
                </a:solidFill>
              </a:defRPr>
            </a:pPr>
            <a:r>
              <a:rPr sz="1523" b="1">
                <a:solidFill>
                  <a:srgbClr val="111111"/>
                </a:solidFill>
              </a:rPr>
              <a:t>■ 先以时空条件缩小范围，再以视频语义确认内容相关性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282e294a04f8c">
            <a:extLst>
              <a:ext uri="{96DAC541-7B7A-43D3-8B79-37D633B846F1}">
                <asvg:svgBlip xmlns:asvg="http://schemas.microsoft.com/office/drawing/2016/SVG/main" r:embed="R609b8f1af9b440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1945" y="842963"/>
            <a:ext cx="8501063" cy="3893820"/>
          </a:xfrm>
          <a:prstGeom xmlns:a="http://schemas.openxmlformats.org/drawingml/2006/main" prst="roundRect">
            <a:avLst>
              <a:gd name="adj" fmla="val 146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92E37-9706-4FC7-87ED-18B0769D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4879658"/>
            <a:ext cx="57150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C969C"/>
                </a:solidFill>
              </a:defRPr>
            </a:pPr>
            <a:r>
              <a:rPr sz="675" b="0">
                <a:solidFill>
                  <a:srgbClr val="8C969C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205243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6e39f36b54171"/>
          <a:srcRect xmlns:a="http://schemas.openxmlformats.org/drawingml/2006/main" l="68782" t="1129" r="1331" b="859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8264" y="18780"/>
            <a:ext cx="2195736" cy="701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29F6E-825B-45A4-9B69-9A92CAC1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179070"/>
            <a:ext cx="2143125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三、监控视频与时空关联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3AAF5-8E8C-4144-A46D-2B3F2E21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485775"/>
            <a:ext cx="635793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23" b="1">
                <a:solidFill>
                  <a:srgbClr val="111111"/>
                </a:solidFill>
              </a:defRPr>
            </a:pPr>
            <a:r>
              <a:rPr sz="1523" b="1">
                <a:solidFill>
                  <a:srgbClr val="111111"/>
                </a:solidFill>
              </a:rPr>
              <a:t>■ 真实监控画面提供人员、设备、场景和空间关系证据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dac315e7748c5"/>
          <a:srcRect xmlns:a="http://schemas.openxmlformats.org/drawingml/2006/main" l="1750" t="0" r="1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1945" y="1000125"/>
            <a:ext cx="5572125" cy="3250883"/>
          </a:xfrm>
          <a:prstGeom xmlns:a="http://schemas.openxmlformats.org/drawingml/2006/main" prst="roundRect">
            <a:avLst>
              <a:gd name="adj" fmla="val 175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9490E-CCCF-43D6-ADB8-55A1F15F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820" y="1107758"/>
            <a:ext cx="2428875" cy="285750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4288">
            <a:solidFill>
              <a:srgbClr val="707A8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7B4EE-4934-46CD-A020-E8ED315A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133" y="12858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B6C"/>
                </a:solidFill>
              </a:defRPr>
            </a:pPr>
            <a:r>
              <a:rPr sz="1238" b="1">
                <a:solidFill>
                  <a:srgbClr val="007B6C"/>
                </a:solidFill>
              </a:rPr>
              <a:t>可提取的关联信息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308EF-061F-4C64-B5B4-2C10822A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133" y="1750695"/>
            <a:ext cx="1571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007B6C"/>
                </a:solidFill>
              </a:defRPr>
            </a:pPr>
            <a:r>
              <a:rPr sz="1238" b="1">
                <a:solidFill>
                  <a:srgbClr val="007B6C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96504-3B10-4052-9D62-06E6CEA6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158" y="1750695"/>
            <a:ext cx="180022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63640"/>
                </a:solidFill>
              </a:defRPr>
            </a:pPr>
            <a:r>
              <a:rPr sz="960" b="0">
                <a:solidFill>
                  <a:srgbClr val="263640"/>
                </a:solidFill>
              </a:rPr>
              <a:t>场景：室外设备区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7186E-1515-4EFE-95AC-DE348348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133" y="2143125"/>
            <a:ext cx="1571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007B6C"/>
                </a:solidFill>
              </a:defRPr>
            </a:pPr>
            <a:r>
              <a:rPr sz="1238" b="1">
                <a:solidFill>
                  <a:srgbClr val="007B6C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B5254D-7B0C-45BA-B391-C4F79E5A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158" y="2143125"/>
            <a:ext cx="180022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63640"/>
                </a:solidFill>
              </a:defRPr>
            </a:pPr>
            <a:r>
              <a:rPr sz="960" b="0">
                <a:solidFill>
                  <a:srgbClr val="263640"/>
                </a:solidFill>
              </a:rPr>
              <a:t>对象：人员、设备、围栏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9908F-6A37-4718-B17C-7B63FE87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133" y="2536508"/>
            <a:ext cx="1571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007B6C"/>
                </a:solidFill>
              </a:defRPr>
            </a:pPr>
            <a:r>
              <a:rPr sz="1238" b="1">
                <a:solidFill>
                  <a:srgbClr val="007B6C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6502C-2D8E-4C71-8A28-A78DD3DF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158" y="2536508"/>
            <a:ext cx="180022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63640"/>
                </a:solidFill>
              </a:defRPr>
            </a:pPr>
            <a:r>
              <a:rPr sz="960" b="0">
                <a:solidFill>
                  <a:srgbClr val="263640"/>
                </a:solidFill>
              </a:rPr>
              <a:t>空间：人员位置与覆盖区域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892AF-BA96-4D69-A1BB-2776AB94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133" y="2928938"/>
            <a:ext cx="1571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007B6C"/>
                </a:solidFill>
              </a:defRPr>
            </a:pPr>
            <a:r>
              <a:rPr sz="1238" b="1">
                <a:solidFill>
                  <a:srgbClr val="007B6C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3027CE-B398-45B4-AD65-9FB79D69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158" y="2928938"/>
            <a:ext cx="180022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63640"/>
                </a:solidFill>
              </a:defRPr>
            </a:pPr>
            <a:r>
              <a:rPr sz="960" b="0">
                <a:solidFill>
                  <a:srgbClr val="263640"/>
                </a:solidFill>
              </a:rPr>
              <a:t>行为：进入、停留、作业过程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5F23FB-9C23-4940-8123-F802E694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133" y="3322320"/>
            <a:ext cx="1571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007B6C"/>
                </a:solidFill>
              </a:defRPr>
            </a:pPr>
            <a:r>
              <a:rPr sz="1238" b="1">
                <a:solidFill>
                  <a:srgbClr val="007B6C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A207A2-5F7E-4363-B52C-9034122F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158" y="3322320"/>
            <a:ext cx="1800225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63640"/>
                </a:solidFill>
              </a:defRPr>
            </a:pPr>
            <a:r>
              <a:rPr sz="960" b="0">
                <a:solidFill>
                  <a:srgbClr val="263640"/>
                </a:solidFill>
              </a:rPr>
              <a:t>校验：时间、地点、任务一致性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3B9A95-42DB-4EBB-8AE6-B9066BF5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8" y="4379595"/>
            <a:ext cx="785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E7645D"/>
                </a:solidFill>
              </a:defRPr>
            </a:pPr>
            <a:r>
              <a:rPr sz="960" b="0">
                <a:solidFill>
                  <a:srgbClr val="E7645D"/>
                </a:solidFill>
              </a:rPr>
              <a:t>单张画面仅作为内容理解证据，不直接判定是否违章。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D0F70B-088B-4207-8EC6-C8BFCB9F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4879658"/>
            <a:ext cx="57150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C969C"/>
                </a:solidFill>
              </a:defRPr>
            </a:pPr>
            <a:r>
              <a:rPr sz="675" b="0">
                <a:solidFill>
                  <a:srgbClr val="8C969C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205243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db616c45e461e"/>
          <a:srcRect xmlns:a="http://schemas.openxmlformats.org/drawingml/2006/main" l="68782" t="1129" r="1331" b="859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8264" y="18780"/>
            <a:ext cx="2195736" cy="701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5856E-772C-43D6-91FD-16B7EC13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179070"/>
            <a:ext cx="2143125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三、监控视频与时空关联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2B239-0B53-4160-87FC-6F6D4CF0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485775"/>
            <a:ext cx="635793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23" b="1">
                <a:solidFill>
                  <a:srgbClr val="111111"/>
                </a:solidFill>
              </a:defRPr>
            </a:pPr>
            <a:r>
              <a:rPr sz="1523" b="1">
                <a:solidFill>
                  <a:srgbClr val="111111"/>
                </a:solidFill>
              </a:rPr>
              <a:t>■ 时间、空间与语义三类证据共同决定关联结果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f97cbdc674402">
            <a:extLst>
              <a:ext uri="{96DAC541-7B7A-43D3-8B79-37D633B846F1}">
                <asvg:svgBlip xmlns:asvg="http://schemas.microsoft.com/office/drawing/2016/SVG/main" r:embed="R24d03daae4ea40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7188" y="822008"/>
            <a:ext cx="8429625" cy="3929063"/>
          </a:xfrm>
          <a:prstGeom xmlns:a="http://schemas.openxmlformats.org/drawingml/2006/main" prst="roundRect">
            <a:avLst>
              <a:gd name="adj" fmla="val 145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175EE-6781-40E5-A01F-BFBFB882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4879658"/>
            <a:ext cx="57150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C969C"/>
                </a:solidFill>
              </a:defRPr>
            </a:pPr>
            <a:r>
              <a:rPr sz="675" b="0">
                <a:solidFill>
                  <a:srgbClr val="8C969C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205243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d5cd06d6b4a71"/>
          <a:srcRect xmlns:a="http://schemas.openxmlformats.org/drawingml/2006/main" l="68782" t="1129" r="1331" b="859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8264" y="18780"/>
            <a:ext cx="2195736" cy="701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1FB50-2DBD-4E56-B3E8-B8607373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179070"/>
            <a:ext cx="2143125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三、监控视频与时空关联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FC1EF-883B-4ED6-9199-75A53CD3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485775"/>
            <a:ext cx="635793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23" b="1">
                <a:solidFill>
                  <a:srgbClr val="111111"/>
                </a:solidFill>
              </a:defRPr>
            </a:pPr>
            <a:r>
              <a:rPr sz="1523" b="1">
                <a:solidFill>
                  <a:srgbClr val="111111"/>
                </a:solidFill>
              </a:rPr>
              <a:t>■ 工作票、设备、作业点、摄像机和视频形成统一检索链路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c5c40f14a4a11"/>
          <a:stretch xmlns:a="http://schemas.openxmlformats.org/drawingml/2006/main"/>
        </p:blipFill>
        <p:spPr>
          <a:xfrm xmlns:a="http://schemas.openxmlformats.org/drawingml/2006/main">
            <a:off x="2030888" y="928688"/>
            <a:ext cx="5083177" cy="3750945"/>
          </a:xfrm>
          <a:prstGeom xmlns:a="http://schemas.openxmlformats.org/drawingml/2006/main" prst="roundRect">
            <a:avLst>
              <a:gd name="adj" fmla="val 152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F8D8A-E284-4DF9-A526-6C739CF3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4879658"/>
            <a:ext cx="57150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C969C"/>
                </a:solidFill>
              </a:defRPr>
            </a:pPr>
            <a:r>
              <a:rPr sz="675" b="0">
                <a:solidFill>
                  <a:srgbClr val="8C969C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2052434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fdb51c9834571"/>
          <a:srcRect xmlns:a="http://schemas.openxmlformats.org/drawingml/2006/main" l="68782" t="1129" r="1331" b="859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8264" y="18780"/>
            <a:ext cx="2195736" cy="701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6340C-558B-44C7-AE98-05D3DB9E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179070"/>
            <a:ext cx="2143125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三、监控视频与时空关联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25700-1D1D-4673-AC5B-6DDB2DA8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485775"/>
            <a:ext cx="635793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23" b="1">
                <a:solidFill>
                  <a:srgbClr val="111111"/>
                </a:solidFill>
              </a:defRPr>
            </a:pPr>
            <a:r>
              <a:rPr sz="1523" b="1">
                <a:solidFill>
                  <a:srgbClr val="111111"/>
                </a:solidFill>
              </a:rPr>
              <a:t>■ 端到端链路形成从票据到关键视频片段的证据闭环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506389db64923">
            <a:extLst>
              <a:ext uri="{96DAC541-7B7A-43D3-8B79-37D633B846F1}">
                <asvg:svgBlip xmlns:asvg="http://schemas.microsoft.com/office/drawing/2016/SVG/main" r:embed="Rfb44651bf9c546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1945" y="822008"/>
            <a:ext cx="8501063" cy="3893820"/>
          </a:xfrm>
          <a:prstGeom xmlns:a="http://schemas.openxmlformats.org/drawingml/2006/main" prst="roundRect">
            <a:avLst>
              <a:gd name="adj" fmla="val 146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E9618-8197-4DB8-82D6-C95D3B49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4879658"/>
            <a:ext cx="57150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C969C"/>
                </a:solidFill>
              </a:defRPr>
            </a:pPr>
            <a:r>
              <a:rPr sz="675" b="0">
                <a:solidFill>
                  <a:srgbClr val="8C969C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2052434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47bceb79c4e9a"/>
          <a:srcRect xmlns:a="http://schemas.openxmlformats.org/drawingml/2006/main" l="68782" t="1129" r="1331" b="859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8264" y="18780"/>
            <a:ext cx="2195736" cy="701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07D7F-502C-4B77-8843-80A472A7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179070"/>
            <a:ext cx="2143125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四、成果产出与后续计划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4D4D9-D1DF-4215-A704-2183F004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485775"/>
            <a:ext cx="635793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23" b="1">
                <a:solidFill>
                  <a:srgbClr val="111111"/>
                </a:solidFill>
              </a:defRPr>
            </a:pPr>
            <a:r>
              <a:rPr sz="1523" b="1">
                <a:solidFill>
                  <a:srgbClr val="111111"/>
                </a:solidFill>
              </a:rPr>
              <a:t>■ 已形成两项技术成果，并推进专利与论文产出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276D9-A8BF-4516-AF06-1ACDB2DF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3" y="1214438"/>
            <a:ext cx="3571875" cy="1214438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E8F2FD"/>
          </a:solidFill>
          <a:ln xmlns:a="http://schemas.openxmlformats.org/drawingml/2006/main" w="14288">
            <a:solidFill>
              <a:srgbClr val="458F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634BA-6D1E-4BB0-9A56-939C2429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8" y="1357313"/>
            <a:ext cx="3171825" cy="17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458FE5"/>
                </a:solidFill>
              </a:defRPr>
            </a:pPr>
            <a:r>
              <a:rPr sz="1013" b="1">
                <a:solidFill>
                  <a:srgbClr val="458FE5"/>
                </a:solidFill>
              </a:rPr>
              <a:t>技术成果 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E745C-5358-47D2-854A-845CC5ED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1679258"/>
            <a:ext cx="3071813" cy="393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98" b="1">
                <a:solidFill>
                  <a:srgbClr val="263640"/>
                </a:solidFill>
              </a:defRPr>
            </a:pPr>
            <a:r>
              <a:rPr sz="1298" b="1">
                <a:solidFill>
                  <a:srgbClr val="263640"/>
                </a:solidFill>
              </a:rPr>
              <a:t>基于多模态大模型的</a:t>
            </a:r>
          </a:p>
          <a:p xmlns:a="http://schemas.openxmlformats.org/drawingml/2006/main">
            <a:pPr algn="ctr">
              <a:defRPr sz="1298" b="1">
                <a:solidFill>
                  <a:srgbClr val="263640"/>
                </a:solidFill>
              </a:defRPr>
            </a:pPr>
            <a:r>
              <a:rPr sz="1298" b="1">
                <a:solidFill>
                  <a:srgbClr val="263640"/>
                </a:solidFill>
              </a:rPr>
              <a:t>工作票关键信息抽取技术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A3149F-E6AD-42F9-BE0A-14FC3734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695" y="2128838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458FE5"/>
                </a:solidFill>
              </a:defRPr>
            </a:pPr>
            <a:r>
              <a:rPr sz="1013" b="1">
                <a:solidFill>
                  <a:srgbClr val="458FE5"/>
                </a:solidFill>
              </a:rPr>
              <a:t>已完成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D7F027-DC1E-45AD-8796-1F7E971F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1214438"/>
            <a:ext cx="3571875" cy="1214438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E8F2FD"/>
          </a:solidFill>
          <a:ln xmlns:a="http://schemas.openxmlformats.org/drawingml/2006/main" w="14288">
            <a:solidFill>
              <a:srgbClr val="458F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C99711-5C56-4EA8-8419-E4425C53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338" y="1357313"/>
            <a:ext cx="3171825" cy="17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458FE5"/>
                </a:solidFill>
              </a:defRPr>
            </a:pPr>
            <a:r>
              <a:rPr sz="1013" b="1">
                <a:solidFill>
                  <a:srgbClr val="458FE5"/>
                </a:solidFill>
              </a:rPr>
              <a:t>技术成果 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30721D-8102-4FF0-9CBB-9B5CF49E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1679258"/>
            <a:ext cx="3071813" cy="393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98" b="1">
                <a:solidFill>
                  <a:srgbClr val="263640"/>
                </a:solidFill>
              </a:defRPr>
            </a:pPr>
            <a:r>
              <a:rPr sz="1298" b="1">
                <a:solidFill>
                  <a:srgbClr val="263640"/>
                </a:solidFill>
              </a:rPr>
              <a:t>融合多模态语义理解的</a:t>
            </a:r>
          </a:p>
          <a:p xmlns:a="http://schemas.openxmlformats.org/drawingml/2006/main">
            <a:pPr algn="ctr">
              <a:defRPr sz="1298" b="1">
                <a:solidFill>
                  <a:srgbClr val="263640"/>
                </a:solidFill>
              </a:defRPr>
            </a:pPr>
            <a:r>
              <a:rPr sz="1298" b="1">
                <a:solidFill>
                  <a:srgbClr val="263640"/>
                </a:solidFill>
              </a:rPr>
              <a:t>监控视频内容关联技术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1D40E9-AA16-4C7E-9C57-601307A3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28838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458FE5"/>
                </a:solidFill>
              </a:defRPr>
            </a:pPr>
            <a:r>
              <a:rPr sz="1013" b="1">
                <a:solidFill>
                  <a:srgbClr val="458FE5"/>
                </a:solidFill>
              </a:rPr>
              <a:t>已完成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28893-4B4C-46D2-8691-7357B6E3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3" y="2786063"/>
            <a:ext cx="3571875" cy="1214438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4288">
            <a:solidFill>
              <a:srgbClr val="007B6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4393AA-7190-4601-9127-28113F6E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8" y="2928938"/>
            <a:ext cx="3171825" cy="17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07B6C"/>
                </a:solidFill>
              </a:defRPr>
            </a:pPr>
            <a:r>
              <a:rPr sz="1013" b="1">
                <a:solidFill>
                  <a:srgbClr val="007B6C"/>
                </a:solidFill>
              </a:rPr>
              <a:t>知识产权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6FD537-7859-49F3-9859-E80FA300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3250883"/>
            <a:ext cx="3071813" cy="393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98" b="1">
                <a:solidFill>
                  <a:srgbClr val="263640"/>
                </a:solidFill>
              </a:defRPr>
            </a:pPr>
            <a:r>
              <a:rPr sz="1298" b="1">
                <a:solidFill>
                  <a:srgbClr val="263640"/>
                </a:solidFill>
              </a:rPr>
              <a:t>发明专利 1 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B24689-BE86-4151-B842-C9C6DFE7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695" y="3700463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07B6C"/>
                </a:solidFill>
              </a:defRPr>
            </a:pPr>
            <a:r>
              <a:rPr sz="1013" b="1">
                <a:solidFill>
                  <a:srgbClr val="007B6C"/>
                </a:solidFill>
              </a:rPr>
              <a:t>已申请并受理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66AD77-F3E8-4846-AB63-FBFCCF47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786063"/>
            <a:ext cx="3571875" cy="1214438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4288">
            <a:solidFill>
              <a:srgbClr val="007B6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6D1CAF-2A7A-42EB-973A-04A7ED4F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338" y="2928938"/>
            <a:ext cx="3171825" cy="17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07B6C"/>
                </a:solidFill>
              </a:defRPr>
            </a:pPr>
            <a:r>
              <a:rPr sz="1013" b="1">
                <a:solidFill>
                  <a:srgbClr val="007B6C"/>
                </a:solidFill>
              </a:rPr>
              <a:t>论文成果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F262D5-E53A-4F14-98C9-E1C5EFF7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3250883"/>
            <a:ext cx="3071813" cy="393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98" b="1">
                <a:solidFill>
                  <a:srgbClr val="263640"/>
                </a:solidFill>
              </a:defRPr>
            </a:pPr>
            <a:r>
              <a:rPr sz="1298" b="1">
                <a:solidFill>
                  <a:srgbClr val="263640"/>
                </a:solidFill>
              </a:rPr>
              <a:t>三大检索论文 1 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F1A770-E7DD-43FF-ABC0-F2ED2816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00463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07B6C"/>
                </a:solidFill>
              </a:defRPr>
            </a:pPr>
            <a:r>
              <a:rPr sz="1013" b="1">
                <a:solidFill>
                  <a:srgbClr val="007B6C"/>
                </a:solidFill>
              </a:rPr>
              <a:t>审稿中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2F4AE8-B9CD-4523-9A13-EF3051CF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8229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4288">
            <a:solidFill>
              <a:srgbClr val="007B6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291DA0-E5A3-4507-ABB6-3F717D0B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8" y="4608195"/>
            <a:ext cx="797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05C52"/>
                </a:solidFill>
              </a:defRPr>
            </a:pPr>
            <a:r>
              <a:rPr sz="1013" b="1">
                <a:solidFill>
                  <a:srgbClr val="005C52"/>
                </a:solidFill>
              </a:rPr>
              <a:t>专利名称、申请号、论文题目及投稿信息可在材料脱敏确认后补入正式成果页。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C88440-69D2-42EC-9198-BB0B6333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4879658"/>
            <a:ext cx="57150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C969C"/>
                </a:solidFill>
              </a:defRPr>
            </a:pPr>
            <a:r>
              <a:rPr sz="675" b="0">
                <a:solidFill>
                  <a:srgbClr val="8C969C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2052434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a34468f01470a"/>
          <a:srcRect xmlns:a="http://schemas.openxmlformats.org/drawingml/2006/main" l="68782" t="1129" r="1331" b="859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8264" y="18780"/>
            <a:ext cx="2195736" cy="701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0CD54-2D7E-408E-810D-6A77642A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179070"/>
            <a:ext cx="2143125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四、成果产出与后续计划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C188E-C042-447B-BB08-F211D1B1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485775"/>
            <a:ext cx="635793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23" b="1">
                <a:solidFill>
                  <a:srgbClr val="111111"/>
                </a:solidFill>
              </a:defRPr>
            </a:pPr>
            <a:r>
              <a:rPr sz="1523" b="1">
                <a:solidFill>
                  <a:srgbClr val="111111"/>
                </a:solidFill>
              </a:rPr>
              <a:t>■ 下一阶段以批量验证、真实闭环与系统集成为主线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9F45E-261D-440F-9447-BA99E1EF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071563"/>
            <a:ext cx="1000125" cy="17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007B6C"/>
                </a:solidFill>
              </a:defRPr>
            </a:pPr>
            <a:r>
              <a:rPr sz="960" b="1">
                <a:solidFill>
                  <a:srgbClr val="007B6C"/>
                </a:solidFill>
              </a:rPr>
              <a:t>阶段一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A45993-29B5-4D5C-ADCF-36273B85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93508"/>
            <a:ext cx="1857375" cy="214312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4288">
            <a:solidFill>
              <a:srgbClr val="707A8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CC1C5-6464-4B87-A8B2-0DA54B84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" y="1607820"/>
            <a:ext cx="1500188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458FE5"/>
                </a:solidFill>
              </a:defRPr>
            </a:pPr>
            <a:r>
              <a:rPr sz="1238" b="1">
                <a:solidFill>
                  <a:srgbClr val="458FE5"/>
                </a:solidFill>
              </a:rPr>
              <a:t>样本与评价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3BF08-A9DC-4848-A411-D376CBA0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" y="2143125"/>
            <a:ext cx="1500188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263640"/>
                </a:solidFill>
              </a:defRPr>
            </a:pPr>
            <a:r>
              <a:rPr sz="960" b="0">
                <a:solidFill>
                  <a:srgbClr val="263640"/>
                </a:solidFill>
              </a:rPr>
              <a:t>扩充不同票种和复杂版式样本</a:t>
            </a:r>
          </a:p>
          <a:p xmlns:a="http://schemas.openxmlformats.org/drawingml/2006/main">
            <a:pPr algn="ctr">
              <a:defRPr sz="960" b="0">
                <a:solidFill>
                  <a:srgbClr val="263640"/>
                </a:solidFill>
              </a:defRPr>
            </a:pPr>
            <a:r>
              <a:rPr sz="960" b="0">
                <a:solidFill>
                  <a:srgbClr val="263640"/>
                </a:solidFill>
              </a:rPr>
              <a:t>统一字段、关联和证据评价口径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086AD6-9EDD-43D6-99EC-0D69EC65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14563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88" b="1">
                <a:solidFill>
                  <a:srgbClr val="458FE5"/>
                </a:solidFill>
              </a:defRPr>
            </a:pPr>
            <a:r>
              <a:rPr sz="1688" b="1">
                <a:solidFill>
                  <a:srgbClr val="458FE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729F6C-2F18-40CF-B31B-90C8014D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071563"/>
            <a:ext cx="1000125" cy="17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007B6C"/>
                </a:solidFill>
              </a:defRPr>
            </a:pPr>
            <a:r>
              <a:rPr sz="960" b="1">
                <a:solidFill>
                  <a:srgbClr val="007B6C"/>
                </a:solidFill>
              </a:rPr>
              <a:t>阶段二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8F40E5-C982-47B8-81A9-5328C736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393508"/>
            <a:ext cx="1857375" cy="214312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4288">
            <a:solidFill>
              <a:srgbClr val="707A8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7385F-6706-49B4-8C91-3B52DB26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820" y="1607820"/>
            <a:ext cx="1500188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458FE5"/>
                </a:solidFill>
              </a:defRPr>
            </a:pPr>
            <a:r>
              <a:rPr sz="1238" b="1">
                <a:solidFill>
                  <a:srgbClr val="458FE5"/>
                </a:solidFill>
              </a:rPr>
              <a:t>算法优化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2235CD-BC3B-42BF-8A84-9D31E9F1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820" y="2143125"/>
            <a:ext cx="1500188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263640"/>
                </a:solidFill>
              </a:defRPr>
            </a:pPr>
            <a:r>
              <a:rPr sz="960" b="0">
                <a:solidFill>
                  <a:srgbClr val="263640"/>
                </a:solidFill>
              </a:rPr>
              <a:t>补齐字段置信度和原文坐标映射</a:t>
            </a:r>
          </a:p>
          <a:p xmlns:a="http://schemas.openxmlformats.org/drawingml/2006/main">
            <a:pPr algn="ctr">
              <a:defRPr sz="960" b="0">
                <a:solidFill>
                  <a:srgbClr val="263640"/>
                </a:solidFill>
              </a:defRPr>
            </a:pPr>
            <a:r>
              <a:rPr sz="960" b="0">
                <a:solidFill>
                  <a:srgbClr val="263640"/>
                </a:solidFill>
              </a:rPr>
              <a:t>优化设备标准化与视频片段定位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3EE147-79A6-4DAD-B04D-8CAAB10B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14563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88" b="1">
                <a:solidFill>
                  <a:srgbClr val="458FE5"/>
                </a:solidFill>
              </a:defRPr>
            </a:pPr>
            <a:r>
              <a:rPr sz="1688" b="1">
                <a:solidFill>
                  <a:srgbClr val="458FE5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E6008E-9C8B-4138-AA6B-84FC1948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071563"/>
            <a:ext cx="1000125" cy="17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007B6C"/>
                </a:solidFill>
              </a:defRPr>
            </a:pPr>
            <a:r>
              <a:rPr sz="960" b="1">
                <a:solidFill>
                  <a:srgbClr val="007B6C"/>
                </a:solidFill>
              </a:rPr>
              <a:t>阶段三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F294F6-F76D-4821-9935-5316A802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393508"/>
            <a:ext cx="1857375" cy="214312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4288">
            <a:solidFill>
              <a:srgbClr val="007B6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A10592-E540-45DB-B9CF-0DFDB806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945" y="1607820"/>
            <a:ext cx="1500188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07B6C"/>
                </a:solidFill>
              </a:defRPr>
            </a:pPr>
            <a:r>
              <a:rPr sz="1238" b="1">
                <a:solidFill>
                  <a:srgbClr val="007B6C"/>
                </a:solidFill>
              </a:rPr>
              <a:t>真实闭环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FC4B47-716A-4ED8-ABC5-53ADF104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945" y="2143125"/>
            <a:ext cx="1500188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263640"/>
                </a:solidFill>
              </a:defRPr>
            </a:pPr>
            <a:r>
              <a:rPr sz="960" b="0">
                <a:solidFill>
                  <a:srgbClr val="263640"/>
                </a:solidFill>
              </a:rPr>
              <a:t>开展票—设备—摄像机—视频单票演示</a:t>
            </a:r>
          </a:p>
          <a:p xmlns:a="http://schemas.openxmlformats.org/drawingml/2006/main">
            <a:pPr algn="ctr">
              <a:defRPr sz="960" b="0">
                <a:solidFill>
                  <a:srgbClr val="263640"/>
                </a:solidFill>
              </a:defRPr>
            </a:pPr>
            <a:r>
              <a:rPr sz="960" b="0">
                <a:solidFill>
                  <a:srgbClr val="263640"/>
                </a:solidFill>
              </a:rPr>
              <a:t>验证时空和语义关联效果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78C2D0-0572-4442-BFF6-4A52E6E0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14563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88" b="1">
                <a:solidFill>
                  <a:srgbClr val="458FE5"/>
                </a:solidFill>
              </a:defRPr>
            </a:pPr>
            <a:r>
              <a:rPr sz="1688" b="1">
                <a:solidFill>
                  <a:srgbClr val="458FE5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516BCF-2885-4509-852B-A20A4BFF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71563"/>
            <a:ext cx="1000125" cy="17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007B6C"/>
                </a:solidFill>
              </a:defRPr>
            </a:pPr>
            <a:r>
              <a:rPr sz="960" b="1">
                <a:solidFill>
                  <a:srgbClr val="007B6C"/>
                </a:solidFill>
              </a:rPr>
              <a:t>阶段四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A7CDD1-C041-4F09-B953-D5DB30CB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93508"/>
            <a:ext cx="1857375" cy="214312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4288">
            <a:solidFill>
              <a:srgbClr val="707A8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56F0C7-0035-4640-9424-71B5B5E5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070" y="1607820"/>
            <a:ext cx="1500188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458FE5"/>
                </a:solidFill>
              </a:defRPr>
            </a:pPr>
            <a:r>
              <a:rPr sz="1238" b="1">
                <a:solidFill>
                  <a:srgbClr val="458FE5"/>
                </a:solidFill>
              </a:rPr>
              <a:t>成果固化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C815E4-A4C4-4813-8B6B-019BEB56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070" y="2143125"/>
            <a:ext cx="1500188" cy="785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263640"/>
                </a:solidFill>
              </a:defRPr>
            </a:pPr>
            <a:r>
              <a:rPr sz="960" b="0">
                <a:solidFill>
                  <a:srgbClr val="263640"/>
                </a:solidFill>
              </a:rPr>
              <a:t>完善分报告与技术文档</a:t>
            </a:r>
          </a:p>
          <a:p xmlns:a="http://schemas.openxmlformats.org/drawingml/2006/main">
            <a:pPr algn="ctr">
              <a:defRPr sz="960" b="0">
                <a:solidFill>
                  <a:srgbClr val="263640"/>
                </a:solidFill>
              </a:defRPr>
            </a:pPr>
            <a:r>
              <a:rPr sz="960" b="0">
                <a:solidFill>
                  <a:srgbClr val="263640"/>
                </a:solidFill>
              </a:rPr>
              <a:t>推进专利、论文及总体系统集成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E4C724-DFA5-4AF3-8043-91E58217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8229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4288">
            <a:solidFill>
              <a:srgbClr val="007B6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D7D46A-101F-4770-9719-FFCB3351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8" y="4608195"/>
            <a:ext cx="797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05C52"/>
                </a:solidFill>
              </a:defRPr>
            </a:pPr>
            <a:r>
              <a:rPr sz="1013" b="1">
                <a:solidFill>
                  <a:srgbClr val="005C52"/>
                </a:solidFill>
              </a:rPr>
              <a:t>下一关键节点：形成可重复、可统计、可追溯的真实票视频关联验证结果。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CD450A-564C-4F1D-94DA-392276F8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4879658"/>
            <a:ext cx="571500" cy="1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C969C"/>
                </a:solidFill>
              </a:defRPr>
            </a:pPr>
            <a:r>
              <a:rPr sz="675" b="0">
                <a:solidFill>
                  <a:srgbClr val="8C969C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2052434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7336b41fd435d"/>
          <a:srcRect xmlns:a="http://schemas.openxmlformats.org/drawingml/2006/main" l="68782" t="1129" r="1331" b="859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8264" y="18780"/>
            <a:ext cx="2195736" cy="701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627D6-519C-4C12-8998-7D10CEF0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79258"/>
            <a:ext cx="6572250" cy="393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88" b="1">
                <a:solidFill>
                  <a:srgbClr val="007B6C"/>
                </a:solidFill>
              </a:defRPr>
            </a:pPr>
            <a:r>
              <a:rPr sz="1688" b="1">
                <a:solidFill>
                  <a:srgbClr val="007B6C"/>
                </a:solidFill>
              </a:rPr>
              <a:t>阶段结论：核心技术链路已形成，下一步进入真实场景验证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0F194-F674-45A4-84C6-47B7D2D7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2571750"/>
            <a:ext cx="44291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5C52"/>
                </a:solidFill>
              </a:defRPr>
            </a:pPr>
            <a:r>
              <a:rPr sz="1350" b="1">
                <a:solidFill>
                  <a:srgbClr val="005C52"/>
                </a:solidFill>
              </a:rPr>
              <a:t>请各位专家批评指正</a:t>
            </a:r>
          </a:p>
        </p:txBody>
      </p:sp>
    </p:spTree>
    <p:extLst>
      <p:ext uri="{BB962C8B-B14F-4D97-AF65-F5344CB8AC3E}">
        <p14:creationId xmlns:p14="http://schemas.microsoft.com/office/powerpoint/2010/main" val="1106408690"/>
      </p:ext>
    </p:extLst>
  </p:cSld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2026-08-13T12:57:08.3550000Z</dcterms:created>
  <dcterms:modified xsi:type="dcterms:W3CDTF">2026-08-13T12:57:08.3550000Z</dcterms:modified>
</coreProperties>
</file>