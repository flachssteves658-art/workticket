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98bd361deb4c5c" /><Relationship Type="http://schemas.openxmlformats.org/officeDocument/2006/relationships/extended-properties" Target="/docProps/app.xml" Id="Ra0cdd58ac99b4ac4" /><Relationship Type="http://schemas.openxmlformats.org/officeDocument/2006/relationships/officeDocument" Target="/ppt/presentation.xml" Id="Ra0119af51e5149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e61b4d199b46fa"/>
  </p:sldMasterIdLst>
  <p:notesMasterIdLst>
    <p:notesMasterId xmlns:r="http://schemas.openxmlformats.org/officeDocument/2006/relationships" r:id="R60de362a0a00455a"/>
  </p:notesMasterIdLst>
  <p:sldIdLst>
    <p:sldId xmlns:r="http://schemas.openxmlformats.org/officeDocument/2006/relationships" id="256" r:id="R114abe777c9c41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9fb5375b3d4b61" /><Relationship Type="http://schemas.openxmlformats.org/officeDocument/2006/relationships/slideMaster" Target="/ppt/slideMasters/slideMaster1.xml" Id="R6be61b4d199b46fa" /><Relationship Type="http://schemas.openxmlformats.org/officeDocument/2006/relationships/notesMaster" Target="/ppt/notesMasters/notesMaster1.xml" Id="R60de362a0a00455a" /><Relationship Type="http://schemas.openxmlformats.org/officeDocument/2006/relationships/presProps" Target="/ppt/presProps.xml" Id="R0bbbba48662a4a3a" /><Relationship Type="http://schemas.openxmlformats.org/officeDocument/2006/relationships/tableStyles" Target="/ppt/tableStyles.xml" Id="R98376128f9eb4515" /><Relationship Type="http://schemas.openxmlformats.org/officeDocument/2006/relationships/slide" Target="/ppt/slides/slide1.xml" Id="R114abe777c9c41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889213b0ac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16b98d93b4a73" /><Relationship Type="http://schemas.openxmlformats.org/officeDocument/2006/relationships/notesMaster" Target="/ppt/notesMasters/notesMaster1.xml" Id="Rd9025895dadb41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用户提供的项目阶段数据：100份PDF工作票、100张PNG工作票图像、字段综合识别准确率约90%、历史结果JSON可解析率98%（2026-08-14）。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5525c6dca49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830a81d274336" /><Relationship Type="http://schemas.openxmlformats.org/officeDocument/2006/relationships/slideLayout" Target="/ppt/slideLayouts/slideLayout1.xml" Id="R60639d4d268e4a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639d4d268e4a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11fba926c4322" /><Relationship Type="http://schemas.openxmlformats.org/officeDocument/2006/relationships/notesSlide" Target="/ppt/notesSlides/notesSlide1.xml" Id="R287f95d9231941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accent">
            <a:extLst xmlns:a="http://schemas.openxmlformats.org/drawingml/2006/main">
              <a:ext uri="{FF2B5EF4-FFF2-40B4-BE49-F238E27FC236}">
                <a16:creationId xmlns:a16="http://schemas.microsoft.com/office/drawing/2014/main" id="{AB344CC7-8DA0-49DC-A9A9-96FDF8A6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9"/>
          </a:solidFill>
          <a:ln xmlns:a="http://schemas.openxmlformats.org/drawingml/2006/main" w="0">
            <a:solidFill>
              <a:srgbClr val="087F69"/>
            </a:solidFill>
            <a:prstDash val="solid"/>
          </a:ln>
        </p:spPr>
      </p:sp>
      <p:sp>
        <p:nvSpPr>
          <p:cNvPr id="2" name="title-marker">
            <a:extLst xmlns:a="http://schemas.openxmlformats.org/drawingml/2006/main">
              <a:ext uri="{FF2B5EF4-FFF2-40B4-BE49-F238E27FC236}">
                <a16:creationId xmlns:a16="http://schemas.microsoft.com/office/drawing/2014/main" id="{2B974087-AFDF-45D0-9D56-E3AF42DD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857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69"/>
          </a:solidFill>
          <a:ln xmlns:a="http://schemas.openxmlformats.org/drawingml/2006/main" w="0">
            <a:solidFill>
              <a:srgbClr val="087F69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E6FD81-5168-428C-BF55-985FF08B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9575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24"/>
                </a:solidFill>
              </a:defRPr>
            </a:pPr>
            <a:r>
              <a:rPr sz="2850" b="1">
                <a:solidFill>
                  <a:srgbClr val="142A24"/>
                </a:solidFill>
              </a:rPr>
              <a:t>实验数据基础完备，进入批量验证阶段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E5360D7-A28A-48E9-A980-91198231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143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87F69"/>
                </a:solidFill>
              </a:defRPr>
            </a:pPr>
            <a:r>
              <a:rPr sz="1200" b="1">
                <a:solidFill>
                  <a:srgbClr val="087F69"/>
                </a:solidFill>
              </a:rPr>
              <a:t>课题一｜实验与价值</a:t>
            </a:r>
          </a:p>
        </p:txBody>
      </p:sp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4375A64C-10FA-4A1B-901F-12D6F6F2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0572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3635E"/>
                </a:solidFill>
              </a:defRPr>
            </a:pPr>
            <a:r>
              <a:rPr sz="1425">
                <a:solidFill>
                  <a:srgbClr val="53635E"/>
                </a:solidFill>
              </a:rPr>
              <a:t>已具备稳定输出结构化结果的基础能力，下一关键节点是统一口径下的批量定量评测。</a:t>
            </a:r>
          </a:p>
        </p:txBody>
      </p:sp>
      <p:sp>
        <p:nvSpPr>
          <p:cNvPr id="6" name="metric-band">
            <a:extLst xmlns:a="http://schemas.openxmlformats.org/drawingml/2006/main">
              <a:ext uri="{FF2B5EF4-FFF2-40B4-BE49-F238E27FC236}">
                <a16:creationId xmlns:a16="http://schemas.microsoft.com/office/drawing/2014/main" id="{F91F0A3E-B862-44D2-8DF4-5FAD0B30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10109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2EE"/>
          </a:solidFill>
          <a:ln xmlns:a="http://schemas.openxmlformats.org/drawingml/2006/main" w="9525">
            <a:solidFill>
              <a:srgbClr val="C6DED6"/>
            </a:solidFill>
            <a:prstDash val="solid"/>
          </a:ln>
        </p:spPr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875896B8-0705-4480-B779-C6A592A9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2402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F69"/>
                </a:solidFill>
              </a:defRPr>
            </a:pPr>
            <a:r>
              <a:rPr sz="3000" b="1">
                <a:solidFill>
                  <a:srgbClr val="087F69"/>
                </a:solidFill>
              </a:rPr>
              <a:t>100份</a:t>
            </a:r>
          </a:p>
        </p:txBody>
      </p:sp>
      <p:sp>
        <p:nvSpPr>
          <p:cNvPr id="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52867CEE-3AF9-46FE-B169-7E6A0256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336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34A42"/>
                </a:solidFill>
              </a:defRPr>
            </a:pPr>
            <a:r>
              <a:rPr sz="1350">
                <a:solidFill>
                  <a:srgbClr val="334A42"/>
                </a:solidFill>
              </a:rPr>
              <a:t>PDF工作票</a:t>
            </a:r>
          </a:p>
        </p:txBody>
      </p:sp>
      <p:sp>
        <p:nvSpPr>
          <p:cNvPr id="9" name="metric-separator-1">
            <a:extLst xmlns:a="http://schemas.openxmlformats.org/drawingml/2006/main">
              <a:ext uri="{FF2B5EF4-FFF2-40B4-BE49-F238E27FC236}">
                <a16:creationId xmlns:a16="http://schemas.microsoft.com/office/drawing/2014/main" id="{72186ABF-6C9C-4DE2-AF7F-65D92BCA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19275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5CC"/>
          </a:solidFill>
          <a:ln xmlns:a="http://schemas.openxmlformats.org/drawingml/2006/main" w="0">
            <a:solidFill>
              <a:srgbClr val="BCD5CC"/>
            </a:solidFill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52BE4502-0F91-4667-A8E4-74440E0A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2402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F69"/>
                </a:solidFill>
              </a:defRPr>
            </a:pPr>
            <a:r>
              <a:rPr sz="3000" b="1">
                <a:solidFill>
                  <a:srgbClr val="087F69"/>
                </a:solidFill>
              </a:rPr>
              <a:t>100张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653F56D-67FF-4902-9961-F110AA6D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336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34A42"/>
                </a:solidFill>
              </a:defRPr>
            </a:pPr>
            <a:r>
              <a:rPr sz="1350">
                <a:solidFill>
                  <a:srgbClr val="334A42"/>
                </a:solidFill>
              </a:rPr>
              <a:t>PNG工作票图像</a:t>
            </a:r>
          </a:p>
        </p:txBody>
      </p:sp>
      <p:sp>
        <p:nvSpPr>
          <p:cNvPr id="12" name="metric-separator-2">
            <a:extLst xmlns:a="http://schemas.openxmlformats.org/drawingml/2006/main">
              <a:ext uri="{FF2B5EF4-FFF2-40B4-BE49-F238E27FC236}">
                <a16:creationId xmlns:a16="http://schemas.microsoft.com/office/drawing/2014/main" id="{02ACC93E-2DD2-4401-A42F-3A65FBC5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19275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5CC"/>
          </a:solidFill>
          <a:ln xmlns:a="http://schemas.openxmlformats.org/drawingml/2006/main" w="0">
            <a:solidFill>
              <a:srgbClr val="BCD5CC"/>
            </a:solidFill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95F3E284-4A32-4B10-BA9B-D57D4B22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2402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F69"/>
                </a:solidFill>
              </a:defRPr>
            </a:pPr>
            <a:r>
              <a:rPr sz="3000" b="1">
                <a:solidFill>
                  <a:srgbClr val="087F69"/>
                </a:solidFill>
              </a:rPr>
              <a:t>约90%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C27EDFE0-F3F8-4730-845B-7FA79E55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336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34A42"/>
                </a:solidFill>
              </a:defRPr>
            </a:pPr>
            <a:r>
              <a:rPr sz="1350">
                <a:solidFill>
                  <a:srgbClr val="334A42"/>
                </a:solidFill>
              </a:rPr>
              <a:t>字段综合识别准确率</a:t>
            </a:r>
          </a:p>
        </p:txBody>
      </p:sp>
      <p:sp>
        <p:nvSpPr>
          <p:cNvPr id="15" name="metric-separator-3">
            <a:extLst xmlns:a="http://schemas.openxmlformats.org/drawingml/2006/main">
              <a:ext uri="{FF2B5EF4-FFF2-40B4-BE49-F238E27FC236}">
                <a16:creationId xmlns:a16="http://schemas.microsoft.com/office/drawing/2014/main" id="{30860278-8F96-4972-9A0F-3481DBAC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19275"/>
            <a:ext cx="95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5CC"/>
          </a:solidFill>
          <a:ln xmlns:a="http://schemas.openxmlformats.org/drawingml/2006/main" w="0">
            <a:solidFill>
              <a:srgbClr val="BCD5CC"/>
            </a:solidFill>
            <a:prstDash val="solid"/>
          </a:ln>
        </p:spPr>
      </p:sp>
      <p:sp>
        <p:nvSpPr>
          <p:cNvPr id="16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B518999D-B5D0-48EE-9313-69BA9E3F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24025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F69"/>
                </a:solidFill>
              </a:defRPr>
            </a:pPr>
            <a:r>
              <a:rPr sz="3000" b="1">
                <a:solidFill>
                  <a:srgbClr val="087F69"/>
                </a:solidFill>
              </a:rPr>
              <a:t>98%</a:t>
            </a:r>
          </a:p>
        </p:txBody>
      </p:sp>
      <p:sp>
        <p:nvSpPr>
          <p:cNvPr id="17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0E24E30B-5BE9-4880-8FF6-380DFE45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34A42"/>
                </a:solidFill>
              </a:defRPr>
            </a:pPr>
            <a:r>
              <a:rPr sz="1350">
                <a:solidFill>
                  <a:srgbClr val="334A42"/>
                </a:solidFill>
              </a:rPr>
              <a:t>历史结果JSON可解析率</a:t>
            </a:r>
          </a:p>
        </p:txBody>
      </p:sp>
      <p:sp>
        <p:nvSpPr>
          <p:cNvPr id="18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34AD0484-A987-4742-BCDA-BFB8F0A3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A24"/>
                </a:solidFill>
              </a:defRPr>
            </a:pPr>
            <a:r>
              <a:rPr sz="1875" b="1">
                <a:solidFill>
                  <a:srgbClr val="142A24"/>
                </a:solidFill>
              </a:rPr>
              <a:t>阶段结论</a:t>
            </a:r>
          </a:p>
        </p:txBody>
      </p:sp>
      <p:sp>
        <p:nvSpPr>
          <p:cNvPr id="19" name="left-heading-rule">
            <a:extLst xmlns:a="http://schemas.openxmlformats.org/drawingml/2006/main">
              <a:ext uri="{FF2B5EF4-FFF2-40B4-BE49-F238E27FC236}">
                <a16:creationId xmlns:a16="http://schemas.microsoft.com/office/drawing/2014/main" id="{7F3D954A-2EAF-42FE-B21A-F9A41B9F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6057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6BC"/>
          </a:solidFill>
          <a:ln xmlns:a="http://schemas.openxmlformats.org/drawingml/2006/main" w="0">
            <a:solidFill>
              <a:srgbClr val="A8C6BC"/>
            </a:solidFill>
            <a:prstDash val="solid"/>
          </a:ln>
        </p:spPr>
      </p:sp>
      <p:sp>
        <p:nvSpPr>
          <p:cNvPr id="20" name="row-index-0">
            <a:extLst xmlns:a="http://schemas.openxmlformats.org/drawingml/2006/main">
              <a:ext uri="{FF2B5EF4-FFF2-40B4-BE49-F238E27FC236}">
                <a16:creationId xmlns:a16="http://schemas.microsoft.com/office/drawing/2014/main" id="{C866D881-15C5-4317-A6B7-740181F3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8D82"/>
                </a:solidFill>
              </a:defRPr>
            </a:pPr>
            <a:r>
              <a:rPr sz="1350" b="1">
                <a:solidFill>
                  <a:srgbClr val="6A8D82"/>
                </a:solidFill>
              </a:rPr>
              <a:t>01</a:t>
            </a:r>
          </a:p>
        </p:txBody>
      </p:sp>
      <p:sp>
        <p:nvSpPr>
          <p:cNvPr id="21" name="row-head-0">
            <a:extLst xmlns:a="http://schemas.openxmlformats.org/drawingml/2006/main">
              <a:ext uri="{FF2B5EF4-FFF2-40B4-BE49-F238E27FC236}">
                <a16:creationId xmlns:a16="http://schemas.microsoft.com/office/drawing/2014/main" id="{6E02361A-871A-4B90-B140-0E87547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9"/>
                </a:solidFill>
              </a:defRPr>
            </a:pPr>
            <a:r>
              <a:rPr sz="1500" b="1">
                <a:solidFill>
                  <a:srgbClr val="087F69"/>
                </a:solidFill>
              </a:rPr>
              <a:t>数据基础</a:t>
            </a:r>
          </a:p>
        </p:txBody>
      </p:sp>
      <p:sp>
        <p:nvSpPr>
          <p:cNvPr id="22" name="row-body-0">
            <a:extLst xmlns:a="http://schemas.openxmlformats.org/drawingml/2006/main">
              <a:ext uri="{FF2B5EF4-FFF2-40B4-BE49-F238E27FC236}">
                <a16:creationId xmlns:a16="http://schemas.microsoft.com/office/drawing/2014/main" id="{72EACA1A-8BB7-46D9-BED3-53A76F53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481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43F"/>
                </a:solidFill>
              </a:defRPr>
            </a:pPr>
            <a:r>
              <a:rPr sz="1275">
                <a:solidFill>
                  <a:srgbClr val="34443F"/>
                </a:solidFill>
              </a:rPr>
              <a:t>已形成PDF、PNG、数据台账和字段级标准答案的配套样本，可覆盖单票调试、版面定位、信息抽取与批量实验。</a:t>
            </a:r>
          </a:p>
        </p:txBody>
      </p:sp>
      <p:sp>
        <p:nvSpPr>
          <p:cNvPr id="23" name="row-index-1">
            <a:extLst xmlns:a="http://schemas.openxmlformats.org/drawingml/2006/main">
              <a:ext uri="{FF2B5EF4-FFF2-40B4-BE49-F238E27FC236}">
                <a16:creationId xmlns:a16="http://schemas.microsoft.com/office/drawing/2014/main" id="{E69CC90E-199F-46EB-B95E-CF44E9B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8D82"/>
                </a:solidFill>
              </a:defRPr>
            </a:pPr>
            <a:r>
              <a:rPr sz="1350" b="1">
                <a:solidFill>
                  <a:srgbClr val="6A8D82"/>
                </a:solidFill>
              </a:rPr>
              <a:t>02</a:t>
            </a:r>
          </a:p>
        </p:txBody>
      </p:sp>
      <p:sp>
        <p:nvSpPr>
          <p:cNvPr id="24" name="row-head-1">
            <a:extLst xmlns:a="http://schemas.openxmlformats.org/drawingml/2006/main">
              <a:ext uri="{FF2B5EF4-FFF2-40B4-BE49-F238E27FC236}">
                <a16:creationId xmlns:a16="http://schemas.microsoft.com/office/drawing/2014/main" id="{49FA8787-0FCB-4109-8F43-65CE43D6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9"/>
                </a:solidFill>
              </a:defRPr>
            </a:pPr>
            <a:r>
              <a:rPr sz="1500" b="1">
                <a:solidFill>
                  <a:srgbClr val="087F69"/>
                </a:solidFill>
              </a:rPr>
              <a:t>当前能力</a:t>
            </a:r>
          </a:p>
        </p:txBody>
      </p:sp>
      <p:sp>
        <p:nvSpPr>
          <p:cNvPr id="25" name="row-body-1">
            <a:extLst xmlns:a="http://schemas.openxmlformats.org/drawingml/2006/main">
              <a:ext uri="{FF2B5EF4-FFF2-40B4-BE49-F238E27FC236}">
                <a16:creationId xmlns:a16="http://schemas.microsoft.com/office/drawing/2014/main" id="{5AFE103C-8642-467A-8699-812F429D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910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43F"/>
                </a:solidFill>
              </a:defRPr>
            </a:pPr>
            <a:r>
              <a:rPr sz="1275">
                <a:solidFill>
                  <a:srgbClr val="34443F"/>
                </a:solidFill>
              </a:rPr>
              <a:t>模拟样本关键字段综合准确率约90%，JSON可解析率达到98%，验证了固定结构稳定输出的可行性。</a:t>
            </a:r>
          </a:p>
        </p:txBody>
      </p:sp>
      <p:sp>
        <p:nvSpPr>
          <p:cNvPr id="26" name="row-index-2">
            <a:extLst xmlns:a="http://schemas.openxmlformats.org/drawingml/2006/main">
              <a:ext uri="{FF2B5EF4-FFF2-40B4-BE49-F238E27FC236}">
                <a16:creationId xmlns:a16="http://schemas.microsoft.com/office/drawing/2014/main" id="{5EEF98D3-DAD5-49E3-804E-0C444EF3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8D82"/>
                </a:solidFill>
              </a:defRPr>
            </a:pPr>
            <a:r>
              <a:rPr sz="1350" b="1">
                <a:solidFill>
                  <a:srgbClr val="6A8D82"/>
                </a:solidFill>
              </a:rPr>
              <a:t>03</a:t>
            </a:r>
          </a:p>
        </p:txBody>
      </p:sp>
      <p:sp>
        <p:nvSpPr>
          <p:cNvPr id="27" name="row-head-2">
            <a:extLst xmlns:a="http://schemas.openxmlformats.org/drawingml/2006/main">
              <a:ext uri="{FF2B5EF4-FFF2-40B4-BE49-F238E27FC236}">
                <a16:creationId xmlns:a16="http://schemas.microsoft.com/office/drawing/2014/main" id="{28636B3C-D576-4576-920A-00F0093A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9"/>
                </a:solidFill>
              </a:defRPr>
            </a:pPr>
            <a:r>
              <a:rPr sz="1500" b="1">
                <a:solidFill>
                  <a:srgbClr val="087F69"/>
                </a:solidFill>
              </a:rPr>
              <a:t>待优化项</a:t>
            </a:r>
          </a:p>
        </p:txBody>
      </p:sp>
      <p:sp>
        <p:nvSpPr>
          <p:cNvPr id="28" name="row-body-2">
            <a:extLst xmlns:a="http://schemas.openxmlformats.org/drawingml/2006/main">
              <a:ext uri="{FF2B5EF4-FFF2-40B4-BE49-F238E27FC236}">
                <a16:creationId xmlns:a16="http://schemas.microsoft.com/office/drawing/2014/main" id="{36BD1BA9-1F68-443F-9C04-CF57D6C8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3340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4443F"/>
                </a:solidFill>
              </a:defRPr>
            </a:pPr>
            <a:r>
              <a:rPr sz="1275">
                <a:solidFill>
                  <a:srgbClr val="34443F"/>
                </a:solidFill>
              </a:rPr>
              <a:t>复杂版式、字段缺失、跨区域信息和固定Schema完全遵循率仍是下一阶段重点。</a:t>
            </a:r>
          </a:p>
        </p:txBody>
      </p:sp>
      <p:sp>
        <p:nvSpPr>
          <p:cNvPr id="29" name="next-stage-panel">
            <a:extLst xmlns:a="http://schemas.openxmlformats.org/drawingml/2006/main">
              <a:ext uri="{FF2B5EF4-FFF2-40B4-BE49-F238E27FC236}">
                <a16:creationId xmlns:a16="http://schemas.microsoft.com/office/drawing/2014/main" id="{853A5531-DE05-4DA0-8971-2BEDE723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76600"/>
            <a:ext cx="45720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0"/>
            </a:solidFill>
            <a:prstDash val="solid"/>
          </a:ln>
        </p:spPr>
      </p:sp>
      <p:sp>
        <p:nvSpPr>
          <p:cNvPr id="30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BE522E15-3CFA-4129-B430-64655A9E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575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A24"/>
                </a:solidFill>
              </a:defRPr>
            </a:pPr>
            <a:r>
              <a:rPr sz="1800" b="1">
                <a:solidFill>
                  <a:srgbClr val="142A24"/>
                </a:solidFill>
              </a:rPr>
              <a:t>下一阶段：批量验证闭环</a:t>
            </a:r>
          </a:p>
        </p:txBody>
      </p:sp>
      <p:sp>
        <p:nvSpPr>
          <p:cNvPr id="31" name="flow-node-0">
            <a:extLst xmlns:a="http://schemas.openxmlformats.org/drawingml/2006/main">
              <a:ext uri="{FF2B5EF4-FFF2-40B4-BE49-F238E27FC236}">
                <a16:creationId xmlns:a16="http://schemas.microsoft.com/office/drawing/2014/main" id="{883511F8-3EDB-4CEC-A7DF-AFEB8F9B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38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32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6C556545-0BB0-4723-BC91-5BD4147A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957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149"/>
                </a:solidFill>
              </a:defRPr>
            </a:pPr>
            <a:r>
              <a:rPr sz="1125" b="1">
                <a:solidFill>
                  <a:srgbClr val="365149"/>
                </a:solidFill>
              </a:rPr>
              <a:t>统一数据</a:t>
            </a:r>
          </a:p>
        </p:txBody>
      </p:sp>
      <p:sp>
        <p:nvSpPr>
          <p:cNvPr id="33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BFEADC62-BAD9-4AA0-86C3-FCD6EBC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3A79B"/>
                </a:solidFill>
              </a:defRPr>
            </a:pPr>
            <a:r>
              <a:rPr sz="1350">
                <a:solidFill>
                  <a:srgbClr val="83A79B"/>
                </a:solidFill>
              </a:rPr>
              <a:t>→</a:t>
            </a:r>
          </a:p>
        </p:txBody>
      </p:sp>
      <p:sp>
        <p:nvSpPr>
          <p:cNvPr id="34" name="flow-node-1">
            <a:extLst xmlns:a="http://schemas.openxmlformats.org/drawingml/2006/main">
              <a:ext uri="{FF2B5EF4-FFF2-40B4-BE49-F238E27FC236}">
                <a16:creationId xmlns:a16="http://schemas.microsoft.com/office/drawing/2014/main" id="{547E64CD-4B2E-4F01-B8C2-3F2163C3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38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3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75288DBC-80E1-489E-A3EC-CE1B5BF8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0957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149"/>
                </a:solidFill>
              </a:defRPr>
            </a:pPr>
            <a:r>
              <a:rPr sz="1125" b="1">
                <a:solidFill>
                  <a:srgbClr val="365149"/>
                </a:solidFill>
              </a:rPr>
              <a:t>统一配置</a:t>
            </a:r>
          </a:p>
        </p:txBody>
      </p:sp>
      <p:sp>
        <p:nvSpPr>
          <p:cNvPr id="3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FE1E96A-5687-4805-977E-F871733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338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3A79B"/>
                </a:solidFill>
              </a:defRPr>
            </a:pPr>
            <a:r>
              <a:rPr sz="1350">
                <a:solidFill>
                  <a:srgbClr val="83A79B"/>
                </a:solidFill>
              </a:rPr>
              <a:t>→</a:t>
            </a:r>
          </a:p>
        </p:txBody>
      </p:sp>
      <p:sp>
        <p:nvSpPr>
          <p:cNvPr id="37" name="flow-node-2">
            <a:extLst xmlns:a="http://schemas.openxmlformats.org/drawingml/2006/main">
              <a:ext uri="{FF2B5EF4-FFF2-40B4-BE49-F238E27FC236}">
                <a16:creationId xmlns:a16="http://schemas.microsoft.com/office/drawing/2014/main" id="{B42FD05F-8EF6-4C81-A154-ACCEE383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38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87F69"/>
          </a:solidFill>
          <a:ln xmlns:a="http://schemas.openxmlformats.org/drawingml/2006/main" w="9525">
            <a:solidFill>
              <a:srgbClr val="087F69"/>
            </a:solidFill>
            <a:prstDash val="solid"/>
          </a:ln>
        </p:spPr>
      </p:sp>
      <p:sp>
        <p:nvSpPr>
          <p:cNvPr id="38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8E18F2BD-5ACB-4243-9B35-6F8A8B2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批量测试</a:t>
            </a:r>
          </a:p>
        </p:txBody>
      </p:sp>
      <p:sp>
        <p:nvSpPr>
          <p:cNvPr id="3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2B1DAF61-33CF-4E26-853F-DFD7C4B6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338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3A79B"/>
                </a:solidFill>
              </a:defRPr>
            </a:pPr>
            <a:r>
              <a:rPr sz="1350">
                <a:solidFill>
                  <a:srgbClr val="83A79B"/>
                </a:solidFill>
              </a:rPr>
              <a:t>→</a:t>
            </a:r>
          </a:p>
        </p:txBody>
      </p:sp>
      <p:sp>
        <p:nvSpPr>
          <p:cNvPr id="40" name="flow-node-3">
            <a:extLst xmlns:a="http://schemas.openxmlformats.org/drawingml/2006/main">
              <a:ext uri="{FF2B5EF4-FFF2-40B4-BE49-F238E27FC236}">
                <a16:creationId xmlns:a16="http://schemas.microsoft.com/office/drawing/2014/main" id="{555103E8-D0A9-430A-A059-6C0F825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38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41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17E17A3E-042B-4EE6-91FF-C3BB2A07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957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149"/>
                </a:solidFill>
              </a:defRPr>
            </a:pPr>
            <a:r>
              <a:rPr sz="1125" b="1">
                <a:solidFill>
                  <a:srgbClr val="365149"/>
                </a:solidFill>
              </a:rPr>
              <a:t>指标统计</a:t>
            </a:r>
          </a:p>
        </p:txBody>
      </p:sp>
      <p:sp>
        <p:nvSpPr>
          <p:cNvPr id="42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240C059-EE08-4448-8DE8-D0E2588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1338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83A79B"/>
                </a:solidFill>
              </a:defRPr>
            </a:pPr>
            <a:r>
              <a:rPr sz="1350">
                <a:solidFill>
                  <a:srgbClr val="83A79B"/>
                </a:solidFill>
              </a:rPr>
              <a:t>→</a:t>
            </a:r>
          </a:p>
        </p:txBody>
      </p:sp>
      <p:sp>
        <p:nvSpPr>
          <p:cNvPr id="43" name="flow-node-4">
            <a:extLst xmlns:a="http://schemas.openxmlformats.org/drawingml/2006/main">
              <a:ext uri="{FF2B5EF4-FFF2-40B4-BE49-F238E27FC236}">
                <a16:creationId xmlns:a16="http://schemas.microsoft.com/office/drawing/2014/main" id="{4F58C908-527E-4454-86D9-F138E9FA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038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C9DAD4"/>
            </a:solidFill>
            <a:prstDash val="solid"/>
          </a:ln>
        </p:spPr>
      </p:sp>
      <p:sp>
        <p:nvSpPr>
          <p:cNvPr id="44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77365BB9-96A9-452B-8B5C-EB9B1DD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095750"/>
            <a:ext cx="62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5149"/>
                </a:solidFill>
              </a:defRPr>
            </a:pPr>
            <a:r>
              <a:rPr sz="1125" b="1">
                <a:solidFill>
                  <a:srgbClr val="365149"/>
                </a:solidFill>
              </a:rPr>
              <a:t>错误归因</a:t>
            </a:r>
          </a:p>
        </p:txBody>
      </p:sp>
      <p:sp>
        <p:nvSpPr>
          <p:cNvPr id="45" name="metric-heading">
            <a:extLst xmlns:a="http://schemas.openxmlformats.org/drawingml/2006/main">
              <a:ext uri="{FF2B5EF4-FFF2-40B4-BE49-F238E27FC236}">
                <a16:creationId xmlns:a16="http://schemas.microsoft.com/office/drawing/2014/main" id="{675ED0A3-9F18-4FE6-BA8F-CCC7F86A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720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9"/>
                </a:solidFill>
              </a:defRPr>
            </a:pPr>
            <a:r>
              <a:rPr sz="1350" b="1">
                <a:solidFill>
                  <a:srgbClr val="087F69"/>
                </a:solidFill>
              </a:rPr>
              <a:t>统一评测指标</a:t>
            </a:r>
          </a:p>
        </p:txBody>
      </p:sp>
      <p:sp>
        <p:nvSpPr>
          <p:cNvPr id="46" name="metric-list">
            <a:extLst xmlns:a="http://schemas.openxmlformats.org/drawingml/2006/main">
              <a:ext uri="{FF2B5EF4-FFF2-40B4-BE49-F238E27FC236}">
                <a16:creationId xmlns:a16="http://schemas.microsoft.com/office/drawing/2014/main" id="{11A1E051-50AF-421D-990B-EC16AD4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95875"/>
            <a:ext cx="3829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F514B"/>
                </a:solidFill>
              </a:defRPr>
            </a:pPr>
            <a:r>
              <a:rPr sz="1275">
                <a:solidFill>
                  <a:srgbClr val="3F514B"/>
                </a:solidFill>
              </a:rPr>
              <a:t>准确率  ｜  召回率  ｜  Schema遵循率</a:t>
            </a:r>
          </a:p>
          <a:p xmlns:a="http://schemas.openxmlformats.org/drawingml/2006/main">
            <a:pPr>
              <a:defRPr sz="1275">
                <a:solidFill>
                  <a:srgbClr val="3F514B"/>
                </a:solidFill>
              </a:defRPr>
            </a:pPr>
            <a:r>
              <a:rPr sz="1275">
                <a:solidFill>
                  <a:srgbClr val="3F514B"/>
                </a:solidFill>
              </a:rPr>
              <a:t>处理耗时  ｜  证据回指完整性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61F77E39-9E9F-41BC-A852-DE1B88D0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69"/>
                </a:solidFill>
              </a:defRPr>
            </a:pPr>
            <a:r>
              <a:rPr sz="1200" b="1">
                <a:solidFill>
                  <a:srgbClr val="087F69"/>
                </a:solidFill>
              </a:rPr>
              <a:t>阶段价值：形成可演示、可验证、可扩展的工作票智能解析实验底座</a:t>
            </a:r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478D98-CECC-49D0-9542-A6A5970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789087"/>
                </a:solidFill>
              </a:defRPr>
            </a:pPr>
            <a:r>
              <a:rPr sz="1125">
                <a:solidFill>
                  <a:srgbClr val="78908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9966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2026-08-14T12:34:35.8340000Z</dcterms:created>
  <dcterms:modified xsi:type="dcterms:W3CDTF">2026-08-14T12:34:35.8340000Z</dcterms:modified>
</coreProperties>
</file>