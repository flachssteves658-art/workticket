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9144000" cy="51435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 d="1"/>
          <a:sy n="1" d="1"/>
        </p:scale>
        <p:origin x="0" y="0"/>
      </p:cViewPr>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lvl="0">
              <a:buNone/>
            </a:pPr>
            <a:r>
              <a:t>[Sources]</a:t>
            </a:r>
          </a:p>
          <a:p>
            <a:pPr lvl="0">
              <a:buNone/>
            </a:pPr>
            <a:r>
              <a:t>- 电网安全智能管控项目阶段性进展汇报.pptx（工程形态、实验预检、后续课题储备与8—9月计划）</a:t>
            </a:r>
          </a:p>
          <a:p>
            <a:pPr lvl="0">
              <a:buNone/>
            </a:pPr>
            <a:r>
              <a:t>- 项目阶段性进展汇报_2026年8月.pptx（统一视觉、总体主线、技术路线与项目证据）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marL="0" marR="0" lvl="0" indent="0" algn="l" defTabSz="914400">
              <a:lnSpc>
                <a:spcPct val="100000"/>
              </a:lnSpc>
              <a:spcBef>
                <a:spcPct val="30000"/>
              </a:spcBef>
              <a:spcAft>
                <a:spcPct val="0"/>
              </a:spcAft>
              <a:buClrTx/>
              <a:buSzTx/>
              <a:buFontTx/>
              <a:buNone/>
            </a:pPr>
            <a:r>
              <a:t>[Sources]</a:t>
            </a:r>
            <a:endParaRPr sz="1200" b="0" i="0" u="none" kern="1200" cap="none" spc="0" baseline="0">
              <a:ln>
                <a:noFill/>
              </a:ln>
              <a:solidFill>
                <a:schemeClr val="tx1"/>
              </a:solidFill>
              <a:latin typeface="+mn-lt"/>
              <a:ea typeface="+mn-lt"/>
              <a:cs typeface="+mn-lt"/>
            </a:endParaRPr>
          </a:p>
          <a:p>
            <a:pPr marL="0" marR="0" lvl="0" indent="0" algn="l" defTabSz="914400">
              <a:lnSpc>
                <a:spcPct val="100000"/>
              </a:lnSpc>
              <a:spcBef>
                <a:spcPct val="30000"/>
              </a:spcBef>
              <a:spcAft>
                <a:spcPct val="0"/>
              </a:spcAft>
              <a:buClrTx/>
              <a:buSzTx/>
              <a:buFontTx/>
              <a:buNone/>
            </a:pPr>
            <a:r>
              <a:t>- 电网安全智能管控项目阶段性进展汇报.pptx（工程形态、实验预检、后续课题储备与8—9月计划）</a:t>
            </a:r>
            <a:endParaRPr sz="1200" b="0" i="0" u="none" kern="1200" cap="none" spc="0" baseline="0">
              <a:ln>
                <a:noFill/>
              </a:ln>
              <a:solidFill>
                <a:schemeClr val="tx1"/>
              </a:solidFill>
              <a:latin typeface="+mn-lt"/>
              <a:ea typeface="+mn-lt"/>
              <a:cs typeface="+mn-lt"/>
            </a:endParaRPr>
          </a:p>
          <a:p>
            <a:pPr marL="0" marR="0" lvl="0" indent="0" algn="l" defTabSz="914400">
              <a:lnSpc>
                <a:spcPct val="100000"/>
              </a:lnSpc>
              <a:spcBef>
                <a:spcPct val="30000"/>
              </a:spcBef>
              <a:spcAft>
                <a:spcPct val="0"/>
              </a:spcAft>
              <a:buClrTx/>
              <a:buSzTx/>
              <a:buFontTx/>
              <a:buNone/>
            </a:pPr>
            <a:r>
              <a:t>- 项目阶段性进展汇报_2026年8月.pptx（统一视觉、总体主线、技术路线与项目证据）</a:t>
            </a:r>
            <a:endParaRPr sz="1200" b="0" i="0" u="none" kern="1200" cap="none" spc="0" baseline="0">
              <a:ln>
                <a:noFill/>
              </a:ln>
              <a:solidFill>
                <a:schemeClr val="tx1"/>
              </a:solidFill>
              <a:latin typeface="+mn-lt"/>
              <a:ea typeface="+mn-lt"/>
              <a:cs typeface="+mn-lt"/>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marL="0" marR="0" lvl="0" indent="0" algn="l" defTabSz="914400">
              <a:lnSpc>
                <a:spcPct val="100000"/>
              </a:lnSpc>
              <a:spcBef>
                <a:spcPct val="30000"/>
              </a:spcBef>
              <a:spcAft>
                <a:spcPct val="0"/>
              </a:spcAft>
              <a:buClrTx/>
              <a:buSzTx/>
              <a:buFontTx/>
              <a:buNone/>
            </a:pPr>
            <a:r>
              <a:t>[Sources]</a:t>
            </a:r>
            <a:endParaRPr sz="1200" b="0" i="0" u="none" kern="1200" cap="none" spc="0" baseline="0">
              <a:ln>
                <a:noFill/>
              </a:ln>
              <a:solidFill>
                <a:schemeClr val="tx1"/>
              </a:solidFill>
              <a:latin typeface="+mn-lt"/>
              <a:ea typeface="+mn-lt"/>
              <a:cs typeface="+mn-lt"/>
            </a:endParaRPr>
          </a:p>
          <a:p>
            <a:pPr marL="0" marR="0" lvl="0" indent="0" algn="l" defTabSz="914400">
              <a:lnSpc>
                <a:spcPct val="100000"/>
              </a:lnSpc>
              <a:spcBef>
                <a:spcPct val="30000"/>
              </a:spcBef>
              <a:spcAft>
                <a:spcPct val="0"/>
              </a:spcAft>
              <a:buClrTx/>
              <a:buSzTx/>
              <a:buFontTx/>
              <a:buNone/>
            </a:pPr>
            <a:r>
              <a:t>- 项目阶段性进展汇报_2026年8月.pptx（阶段计划与实验准备）</a:t>
            </a:r>
            <a:endParaRPr sz="1200" b="0" i="0" u="none" kern="1200" cap="none" spc="0" baseline="0">
              <a:ln>
                <a:noFill/>
              </a:ln>
              <a:solidFill>
                <a:schemeClr val="tx1"/>
              </a:solidFill>
              <a:latin typeface="+mn-lt"/>
              <a:ea typeface="+mn-lt"/>
              <a:cs typeface="+mn-lt"/>
            </a:endParaRPr>
          </a:p>
          <a:p>
            <a:pPr marL="0" marR="0" lvl="0" indent="0" algn="l" defTabSz="914400">
              <a:lnSpc>
                <a:spcPct val="100000"/>
              </a:lnSpc>
              <a:spcBef>
                <a:spcPct val="30000"/>
              </a:spcBef>
              <a:spcAft>
                <a:spcPct val="0"/>
              </a:spcAft>
              <a:buClrTx/>
              <a:buSzTx/>
              <a:buFontTx/>
              <a:buNone/>
            </a:pPr>
            <a:r>
              <a:t>- PROJECT_GUIDE.md（pipeline_output与中间文件说明）</a:t>
            </a:r>
            <a:endParaRPr sz="1200" b="0" i="0" u="none" kern="1200" cap="none" spc="0" baseline="0">
              <a:ln>
                <a:noFill/>
              </a:ln>
              <a:solidFill>
                <a:schemeClr val="tx1"/>
              </a:solidFill>
              <a:latin typeface="+mn-lt"/>
              <a:ea typeface="+mn-lt"/>
              <a:cs typeface="+mn-lt"/>
            </a:endParaRPr>
          </a:p>
          <a:p>
            <a:pPr marL="0" marR="0" lvl="0" indent="0" algn="l" defTabSz="914400">
              <a:lnSpc>
                <a:spcPct val="100000"/>
              </a:lnSpc>
              <a:spcBef>
                <a:spcPct val="30000"/>
              </a:spcBef>
              <a:spcAft>
                <a:spcPct val="0"/>
              </a:spcAft>
              <a:buClrTx/>
              <a:buSzTx/>
              <a:buFontTx/>
              <a:buNone/>
            </a:pPr>
            <a:r>
              <a:t>- pipeline_output/test1.json（OCR文本、区块坐标、版面得分及page_index现状）</a:t>
            </a:r>
            <a:endParaRPr sz="1200" b="0" i="0" u="none" kern="1200" cap="none" spc="0" baseline="0">
              <a:ln>
                <a:noFill/>
              </a:ln>
              <a:solidFill>
                <a:schemeClr val="tx1"/>
              </a:solidFill>
              <a:latin typeface="+mn-lt"/>
              <a:ea typeface="+mn-lt"/>
              <a:cs typeface="+mn-lt"/>
            </a:endParaRPr>
          </a:p>
          <a:p>
            <a:pPr marL="0" marR="0" lvl="0" indent="0" algn="l" defTabSz="914400">
              <a:lnSpc>
                <a:spcPct val="100000"/>
              </a:lnSpc>
              <a:spcBef>
                <a:spcPct val="30000"/>
              </a:spcBef>
              <a:spcAft>
                <a:spcPct val="0"/>
              </a:spcAft>
              <a:buClrTx/>
              <a:buSzTx/>
              <a:buFontTx/>
              <a:buNone/>
            </a:pPr>
            <a:r>
              <a:t>- pipeline_output/test1_ner.json（rule_fallback与BERT-MRC检查点状态）</a:t>
            </a:r>
            <a:endParaRPr sz="1200" b="0" i="0" u="none" kern="1200" cap="none" spc="0" baseline="0">
              <a:ln>
                <a:noFill/>
              </a:ln>
              <a:solidFill>
                <a:schemeClr val="tx1"/>
              </a:solidFill>
              <a:latin typeface="+mn-lt"/>
              <a:ea typeface="+mn-lt"/>
              <a:cs typeface="+mn-lt"/>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marL="0" marR="0" lvl="0" indent="0" algn="l" defTabSz="914400">
              <a:lnSpc>
                <a:spcPct val="100000"/>
              </a:lnSpc>
              <a:spcBef>
                <a:spcPct val="30000"/>
              </a:spcBef>
              <a:spcAft>
                <a:spcPct val="0"/>
              </a:spcAft>
              <a:buClrTx/>
              <a:buSzTx/>
              <a:buFontTx/>
              <a:buNone/>
            </a:pPr>
            <a:r>
              <a:t>[Sources]</a:t>
            </a:r>
            <a:endParaRPr sz="1200" b="0" i="0" u="none" kern="1200" cap="none" spc="0" baseline="0">
              <a:ln>
                <a:noFill/>
              </a:ln>
              <a:solidFill>
                <a:schemeClr val="tx1"/>
              </a:solidFill>
              <a:latin typeface="+mn-lt"/>
              <a:ea typeface="+mn-lt"/>
              <a:cs typeface="+mn-lt"/>
            </a:endParaRPr>
          </a:p>
          <a:p>
            <a:pPr marL="0" marR="0" lvl="0" indent="0" algn="l" defTabSz="914400">
              <a:lnSpc>
                <a:spcPct val="100000"/>
              </a:lnSpc>
              <a:spcBef>
                <a:spcPct val="30000"/>
              </a:spcBef>
              <a:spcAft>
                <a:spcPct val="0"/>
              </a:spcAft>
              <a:buClrTx/>
              <a:buSzTx/>
              <a:buFontTx/>
              <a:buNone/>
            </a:pPr>
            <a:r>
              <a:t>- 项目阶段性进展汇报_2026年8月.pptx（统一视觉、总体主线、技术路线与项目证据）</a:t>
            </a:r>
            <a:endParaRPr sz="1200" b="0" i="0" u="none" kern="1200" cap="none" spc="0" baseline="0">
              <a:ln>
                <a:noFill/>
              </a:ln>
              <a:solidFill>
                <a:schemeClr val="tx1"/>
              </a:solidFill>
              <a:latin typeface="+mn-lt"/>
              <a:ea typeface="+mn-lt"/>
              <a:cs typeface="+mn-lt"/>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项目阶段性进展汇报_2026年8月.pptx（统一视觉、总体主线、技术路线与项目证据）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PROJECT_GUIDE.md</a:t>
            </a:r>
          </a:p>
          <a:p>
            <a:r>
              <a:t>- paddle_models/preprocess_and_ocr.py</a:t>
            </a:r>
          </a:p>
          <a:p>
            <a:r>
              <a:t>- paddle_models/image_preprocess.py</a:t>
            </a:r>
          </a:p>
          <a:p>
            <a:r>
              <a:t>- pipeline_output/test1.json</a:t>
            </a:r>
          </a:p>
          <a:p>
            <a:r>
              <a:t>- pipeline_output/test1_ner.json</a:t>
            </a:r>
          </a:p>
          <a:p>
            <a:r>
              <a:t>- service/unified_pipeline.py</a:t>
            </a:r>
          </a:p>
          <a:p>
            <a:r>
              <a:t>- service/neo4j_client.py</a:t>
            </a:r>
          </a:p>
          <a:p>
            <a:r>
              <a:t>- service/api_server.py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电网安全智能管控项目阶段性进展汇报.pptx（工程形态、实验预检、后续课题储备与8—9月计划）</a:t>
            </a:r>
          </a:p>
          <a:p>
            <a:r>
              <a:t>- 项目阶段性进展汇报_2026年8月.pptx（统一视觉、总体主线、技术路线与项目证据）</a:t>
            </a:r>
          </a:p>
          <a:p>
            <a:r>
              <a:t>- paddle_models/preprocess_and_ocr.py</a:t>
            </a:r>
          </a:p>
          <a:p>
            <a:r>
              <a:t>- pipeline_output/test1_ner.json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项目阶段性进展汇报_2026年8月.pptx（统一视觉、总体主线、技术路线与项目证据）</a:t>
            </a:r>
          </a:p>
          <a:p>
            <a:r>
              <a:t>- service/neo4j_client.py</a:t>
            </a:r>
          </a:p>
          <a:p>
            <a:r>
              <a:t>- service/seed_infrastructure.py</a:t>
            </a:r>
          </a:p>
          <a:p>
            <a:r>
              <a:t>- service/ingest_mock_data.py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电网安全智能管控项目阶段性进展汇报.pptx（工程形态、实验预检、后续课题储备与8—9月计划）</a:t>
            </a:r>
          </a:p>
          <a:p>
            <a:r>
              <a:t>- service/api_server.py</a:t>
            </a:r>
          </a:p>
          <a:p>
            <a:r>
              <a:t>- service/web_ui.py</a:t>
            </a:r>
          </a:p>
          <a:p>
            <a:r>
              <a:t>- service/ollama_client.py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电网安全智能管控项目阶段性进展汇报.pptx（工程形态、实验预检、后续课题储备与8—9月计划）</a:t>
            </a:r>
          </a:p>
          <a:p>
            <a:r>
              <a:t>- 项目阶段性进展汇报_2026年8月.pptx（统一视觉、总体主线、技术路线与项目证据）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电网安全智能管控项目阶段性进展汇报.pptx（工程形态、实验预检、后续课题储备与8—9月计划）</a:t>
            </a:r>
          </a:p>
          <a:p>
            <a:r>
              <a:t>- 项目阶段性进展汇报_2026年8月.pptx（统一视觉、总体主线、技术路线与项目证据）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PROJECT_GUIDE.md</a:t>
            </a:r>
          </a:p>
          <a:p>
            <a:r>
              <a:t>- service/unified_pipeline.py</a:t>
            </a:r>
          </a:p>
          <a:p>
            <a:r>
              <a:t>- service/neo4j_client.py</a:t>
            </a:r>
          </a:p>
          <a:p>
            <a:r>
              <a:t>- service/api_server.py</a:t>
            </a:r>
          </a:p>
          <a:p>
            <a:r>
              <a:t>- pipeline_output/test1.json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电网安全智能管控项目阶段性进展汇报.pptx（工程形态、实验预检、后续课题储备与8—9月计划）</a:t>
            </a:r>
          </a:p>
          <a:p>
            <a:r>
              <a:t>- 项目阶段性进展汇报_2026年8月.pptx（统一视觉、总体主线、技术路线与项目证据）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电网安全智能管控项目阶段性进展汇报.pptx（后续实验与协同条件）</a:t>
            </a:r>
          </a:p>
          <a:p>
            <a:r>
              <a:t>- 项目阶段性进展汇报_2026年8月.pptx（8—9月计划与科研成果安排）</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电网安全智能管控项目阶段性进展汇报.pptx（工程形态、实验预检、后续课题储备与8—9月计划）</a:t>
            </a:r>
          </a:p>
          <a:p>
            <a:r>
              <a:t>- 项目阶段性进展汇报_2026年8月.pptx（统一视觉、总体主线、技术路线与项目证据）</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p:sp>
        <p:nvSpPr>
          <p:cNvPr id="2" name="矩形 1"/>
          <p:cNvSpPr>
            <a:spLocks noGrp="1"/>
          </p:cNvSpPr>
          <p:nvPr/>
        </p:nvSpPr>
        <p:spPr>
          <a:xfrm>
            <a:off x="0" y="0"/>
            <a:ext cx="9144000" cy="5143500"/>
          </a:xfrm>
          <a:prstGeom prst="rect">
            <a:avLst/>
          </a:prstGeom>
          <a:gradFill>
            <a:gsLst>
              <a:gs pos="0">
                <a:schemeClr val="bg1">
                  <a:lumMod val="95000"/>
                </a:schemeClr>
              </a:gs>
              <a:gs pos="50000">
                <a:srgbClr val="F7F7F7"/>
              </a:gs>
              <a:gs pos="100000">
                <a:srgbClr val="FCFCFC"/>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015"/>
          </a:p>
        </p:txBody>
      </p:sp>
      <p:sp>
        <p:nvSpPr>
          <p:cNvPr id="7" name="文本占位符 6"/>
          <p:cNvSpPr>
            <a:spLocks noGrp="1"/>
          </p:cNvSpPr>
          <p:nvPr>
            <p:ph type="body" idx="10"/>
          </p:nvPr>
        </p:nvSpPr>
        <p:spPr>
          <a:xfrm>
            <a:off x="261117" y="176902"/>
            <a:ext cx="4704464" cy="382269"/>
          </a:xfrm>
          <a:prstGeom prst="rect">
            <a:avLst/>
          </a:prstGeom>
        </p:spPr>
        <p:txBody>
          <a:bodyPr>
            <a:noAutofit/>
          </a:bodyPr>
          <a:lstStyle>
            <a:lvl1pPr marL="0" indent="0">
              <a:buNone/>
              <a:defRPr sz="2600" b="1" spc="190" baseline="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stStyle>
          <a:p>
            <a:pPr lvl="0">
              <a:buNone/>
            </a:p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p:sp>
        <p:nvSpPr>
          <p:cNvPr id="2" name="矩形 1"/>
          <p:cNvSpPr>
            <a:spLocks noGrp="1"/>
          </p:cNvSpPr>
          <p:nvPr/>
        </p:nvSpPr>
        <p:spPr>
          <a:xfrm>
            <a:off x="0" y="0"/>
            <a:ext cx="9144000" cy="5143500"/>
          </a:xfrm>
          <a:prstGeom prst="rect">
            <a:avLst/>
          </a:prstGeom>
          <a:gradFill>
            <a:gsLst>
              <a:gs pos="0">
                <a:schemeClr val="bg1">
                  <a:lumMod val="95000"/>
                </a:schemeClr>
              </a:gs>
              <a:gs pos="50000">
                <a:srgbClr val="F7F7F7"/>
              </a:gs>
              <a:gs pos="100000">
                <a:srgbClr val="FCFCFC"/>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015"/>
          </a:p>
        </p:txBody>
      </p:sp>
      <p:sp>
        <p:nvSpPr>
          <p:cNvPr id="7" name="文本占位符 6"/>
          <p:cNvSpPr>
            <a:spLocks noGrp="1"/>
          </p:cNvSpPr>
          <p:nvPr>
            <p:ph type="body" idx="10"/>
          </p:nvPr>
        </p:nvSpPr>
        <p:spPr>
          <a:xfrm>
            <a:off x="261117" y="176902"/>
            <a:ext cx="4704464" cy="382269"/>
          </a:xfrm>
          <a:prstGeom prst="rect">
            <a:avLst/>
          </a:prstGeom>
        </p:spPr>
        <p:txBody>
          <a:bodyPr>
            <a:noAutofit/>
          </a:bodyPr>
          <a:lstStyle>
            <a:lvl1pPr marL="0" indent="0">
              <a:buNone/>
              <a:defRPr sz="2600" b="1" spc="190" baseline="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stStyle>
          <a:p>
            <a:pPr lvl="0">
              <a:buNone/>
            </a:p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p:sp>
        <p:nvSpPr>
          <p:cNvPr id="2" name="标题 1"/>
          <p:cNvSpPr>
            <a:spLocks noGrp="1"/>
          </p:cNvSpPr>
          <p:nvPr>
            <p:ph type="title"/>
          </p:nvPr>
        </p:nvSpPr>
        <p:spPr/>
        <p:txBody>
          <a:bodyPr/>
          <a:lstStyle/>
          <a:p>
            <a:r>
              <a:t>单击此处编辑母版标题样式</a:t>
            </a:r>
          </a:p>
        </p:txBody>
      </p:sp>
      <p:sp>
        <p:nvSpPr>
          <p:cNvPr id="3" name="日期占位符 2"/>
          <p:cNvSpPr>
            <a:spLocks noGrp="1"/>
          </p:cNvSpPr>
          <p:nvPr>
            <p:ph type="dt" idx="10"/>
          </p:nvPr>
        </p:nvSpPr>
        <p:spPr/>
        <p:txBody>
          <a:bodyPr/>
          <a:lstStyle/>
          <a:p/>
        </p:txBody>
      </p:sp>
      <p:sp>
        <p:nvSpPr>
          <p:cNvPr id="4" name="页脚占位符 3"/>
          <p:cNvSpPr>
            <a:spLocks noGrp="1"/>
          </p:cNvSpPr>
          <p:nvPr>
            <p:ph type="ftr" idx="11"/>
          </p:nvPr>
        </p:nvSpPr>
        <p:spPr/>
        <p:txBody>
          <a:bodyPr/>
          <a:lstStyle/>
          <a:p/>
        </p:txBody>
      </p:sp>
      <p:sp>
        <p:nvSpPr>
          <p:cNvPr id="5" name="灯片编号占位符 4"/>
          <p:cNvSpPr>
            <a:spLocks noGrp="1"/>
          </p:cNvSpPr>
          <p:nvPr>
            <p:ph type="sldNum" idx="12"/>
          </p:nvPr>
        </p:nvSpPr>
        <p:spPr/>
        <p:txBody>
          <a:body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p:sp>
        <p:nvSpPr>
          <p:cNvPr id="2" name="标题 1"/>
          <p:cNvSpPr>
            <a:spLocks noGrp="1"/>
          </p:cNvSpPr>
          <p:nvPr>
            <p:ph type="ctrTitle" hasCustomPrompt="1"/>
          </p:nvPr>
        </p:nvSpPr>
        <p:spPr>
          <a:xfrm>
            <a:off x="1143000" y="992222"/>
            <a:ext cx="6858000" cy="1640251"/>
          </a:xfrm>
        </p:spPr>
        <p:txBody>
          <a:bodyPr anchor="b">
            <a:normAutofit/>
          </a:bodyPr>
          <a:lstStyle>
            <a:lvl1pPr algn="ctr">
              <a:lnSpc>
                <a:spcPct val="130000"/>
              </a:lnSpc>
              <a:buNone/>
              <a:defRPr sz="4500">
                <a:effectLst>
                  <a:outerShdw blurRad="38100" dist="38100" dir="2700000" algn="tl">
                    <a:srgbClr val="000000">
                      <a:alpha val="43137"/>
                    </a:srgbClr>
                  </a:outerShdw>
                </a:effectLst>
              </a:defRPr>
            </a:lvl1pPr>
          </a:lstStyle>
          <a:p>
            <a:r>
              <a:t>单击此处添加标题</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
        <p:nvSpPr>
          <p:cNvPr id="3" name="副标题 2"/>
          <p:cNvSpPr>
            <a:spLocks noGrp="1"/>
          </p:cNvSpPr>
          <p:nvPr>
            <p:ph type="subTitle" idx="1" hasCustomPrompt="1"/>
          </p:nvPr>
        </p:nvSpPr>
        <p:spPr>
          <a:xfrm>
            <a:off x="1143000" y="2701529"/>
            <a:ext cx="6858000" cy="1241822"/>
          </a:xfrm>
        </p:spPr>
        <p:txBody>
          <a:bodyPr>
            <a:normAutofit/>
          </a:bodyPr>
          <a:lstStyle>
            <a:lvl1pPr marL="0" indent="0" algn="ctr">
              <a:buNone/>
              <a:defRPr sz="1350">
                <a:solidFill>
                  <a:schemeClr val="tx1">
                    <a:lumMod val="75000"/>
                    <a:lumOff val="25000"/>
                  </a:schemeClr>
                </a:solidFill>
                <a:latin typeface="+mj-lt"/>
                <a:ea typeface="+mj-lt"/>
                <a:cs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t>单击此处添加副标题</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p:sp>
        <p:nvSpPr>
          <p:cNvPr id="2" name="标题 1"/>
          <p:cNvSpPr>
            <a:spLocks noGrp="1"/>
          </p:cNvSpPr>
          <p:nvPr>
            <p:ph type="title"/>
          </p:nvPr>
        </p:nvSpPr>
        <p:spPr>
          <a:xfrm>
            <a:off x="485775" y="193834"/>
            <a:ext cx="7886700" cy="994172"/>
          </a:xfrm>
        </p:spPr>
        <p:txBody>
          <a:bodyPr anchor="ctr">
            <a:normAutofit/>
          </a:bodyPr>
          <a:lstStyle>
            <a:lvl1pPr>
              <a:buNone/>
              <a:defRPr sz="1800" b="1">
                <a:effectLst>
                  <a:outerShdw blurRad="38100" dist="38100" dir="2700000" algn="tl">
                    <a:srgbClr val="000000">
                      <a:alpha val="43137"/>
                    </a:srgbClr>
                  </a:outerShdw>
                </a:effectLst>
              </a:defRPr>
            </a:lvl1pPr>
          </a:lstStyle>
          <a:p>
            <a:r>
              <a:t>单击此处编辑母版标题样式</a:t>
            </a:r>
          </a:p>
        </p:txBody>
      </p:sp>
      <p:sp>
        <p:nvSpPr>
          <p:cNvPr id="3" name="内容占位符 2"/>
          <p:cNvSpPr>
            <a:spLocks noGrp="1"/>
          </p:cNvSpPr>
          <p:nvPr>
            <p:ph idx="1"/>
          </p:nvPr>
        </p:nvSpPr>
        <p:spPr>
          <a:xfrm>
            <a:off x="485775" y="1369219"/>
            <a:ext cx="7886700" cy="3263504"/>
          </a:xfrm>
        </p:spPr>
        <p:txBody>
          <a:bodyPr>
            <a:normAutofit/>
          </a:bodyPr>
          <a:lstStyle>
            <a:lvl1pPr>
              <a:buNone/>
              <a:defRPr sz="1500">
                <a:solidFill>
                  <a:schemeClr val="tx1">
                    <a:lumMod val="75000"/>
                    <a:lumOff val="25000"/>
                  </a:schemeClr>
                </a:solidFill>
              </a:defRPr>
            </a:lvl1pPr>
            <a:lvl2pPr>
              <a:buNone/>
              <a:defRPr sz="1350">
                <a:solidFill>
                  <a:schemeClr val="tx1">
                    <a:lumMod val="75000"/>
                    <a:lumOff val="25000"/>
                  </a:schemeClr>
                </a:solidFill>
              </a:defRPr>
            </a:lvl2pPr>
            <a:lvl3pPr>
              <a:buNone/>
              <a:defRPr sz="1200">
                <a:solidFill>
                  <a:schemeClr val="tx1">
                    <a:lumMod val="75000"/>
                    <a:lumOff val="25000"/>
                  </a:schemeClr>
                </a:solidFill>
              </a:defRPr>
            </a:lvl3pPr>
            <a:lvl4pPr>
              <a:buNone/>
              <a:defRPr sz="1200">
                <a:solidFill>
                  <a:schemeClr val="tx1">
                    <a:lumMod val="75000"/>
                    <a:lumOff val="25000"/>
                  </a:schemeClr>
                </a:solidFill>
              </a:defRPr>
            </a:lvl4pPr>
            <a:lvl5pPr>
              <a:buNone/>
              <a:defRPr sz="1200">
                <a:solidFill>
                  <a:schemeClr val="tx1">
                    <a:lumMod val="75000"/>
                    <a:lumOff val="25000"/>
                  </a:schemeClr>
                </a:solidFill>
              </a:defRPr>
            </a:lvl5p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p:sp>
        <p:nvSpPr>
          <p:cNvPr id="2" name="标题 1"/>
          <p:cNvSpPr>
            <a:spLocks noGrp="1"/>
          </p:cNvSpPr>
          <p:nvPr>
            <p:ph type="title"/>
          </p:nvPr>
        </p:nvSpPr>
        <p:spPr>
          <a:xfrm>
            <a:off x="623888" y="2813338"/>
            <a:ext cx="5491163" cy="608518"/>
          </a:xfrm>
        </p:spPr>
        <p:txBody>
          <a:bodyPr anchor="b">
            <a:normAutofit/>
          </a:bodyPr>
          <a:lstStyle>
            <a:lvl1pPr>
              <a:buNone/>
              <a:defRPr sz="3000">
                <a:effectLst>
                  <a:outerShdw blurRad="38100" dist="38100" dir="2700000" algn="tl">
                    <a:srgbClr val="000000">
                      <a:alpha val="43137"/>
                    </a:srgbClr>
                  </a:outerShdw>
                </a:effectLst>
              </a:defRPr>
            </a:lvl1pPr>
          </a:lstStyle>
          <a:p>
            <a:r>
              <a:t>单击此处编辑母版标题样式</a:t>
            </a:r>
          </a:p>
        </p:txBody>
      </p:sp>
      <p:sp>
        <p:nvSpPr>
          <p:cNvPr id="3" name="文本占位符 2"/>
          <p:cNvSpPr>
            <a:spLocks noGrp="1"/>
          </p:cNvSpPr>
          <p:nvPr>
            <p:ph type="body" idx="1"/>
          </p:nvPr>
        </p:nvSpPr>
        <p:spPr>
          <a:xfrm>
            <a:off x="623888" y="3457521"/>
            <a:ext cx="5491163" cy="485666"/>
          </a:xfrm>
        </p:spPr>
        <p:txBody>
          <a:bodyPr>
            <a:normAutofit/>
          </a:bodyPr>
          <a:lstStyle>
            <a:lvl1pPr marL="0" indent="0">
              <a:buNone/>
              <a:defRPr sz="135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buNone/>
            </a:pPr>
            <a:r>
              <a:t>单击此处编辑母版文本样式</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p:sp>
        <p:nvSpPr>
          <p:cNvPr id="2" name="标题 1"/>
          <p:cNvSpPr>
            <a:spLocks noGrp="1"/>
          </p:cNvSpPr>
          <p:nvPr>
            <p:ph type="title"/>
          </p:nvPr>
        </p:nvSpPr>
        <p:spPr>
          <a:xfrm>
            <a:off x="485775" y="193834"/>
            <a:ext cx="7886700" cy="994172"/>
          </a:xfrm>
        </p:spPr>
        <p:txBody>
          <a:bodyPr>
            <a:normAutofit/>
          </a:bodyPr>
          <a:lstStyle>
            <a:lvl1pPr>
              <a:buNone/>
              <a:defRPr sz="1800" b="1" i="0">
                <a:effectLst>
                  <a:outerShdw blurRad="38100" dist="38100" dir="2700000" algn="tl">
                    <a:srgbClr val="000000">
                      <a:alpha val="43137"/>
                    </a:srgbClr>
                  </a:outerShdw>
                </a:effectLst>
              </a:defRPr>
            </a:lvl1pPr>
          </a:lstStyle>
          <a:p>
            <a:r>
              <a:t>单击此处编辑母版标题样式</a:t>
            </a:r>
          </a:p>
        </p:txBody>
      </p:sp>
      <p:sp>
        <p:nvSpPr>
          <p:cNvPr id="3" name="内容占位符 2"/>
          <p:cNvSpPr>
            <a:spLocks noGrp="1"/>
          </p:cNvSpPr>
          <p:nvPr>
            <p:ph idx="1"/>
          </p:nvPr>
        </p:nvSpPr>
        <p:spPr>
          <a:xfrm>
            <a:off x="485775" y="1369219"/>
            <a:ext cx="3886200" cy="3263504"/>
          </a:xfrm>
        </p:spPr>
        <p:txBody>
          <a:bodyPr>
            <a:normAutofit/>
          </a:bodyPr>
          <a:lstStyle>
            <a:lvl1pPr>
              <a:lnSpc>
                <a:spcPct val="150000"/>
              </a:lnSpc>
              <a:buNone/>
              <a:defRPr sz="1500">
                <a:solidFill>
                  <a:schemeClr val="tx1">
                    <a:lumMod val="75000"/>
                    <a:lumOff val="25000"/>
                  </a:schemeClr>
                </a:solidFill>
              </a:defRPr>
            </a:lvl1pPr>
            <a:lvl2pPr>
              <a:lnSpc>
                <a:spcPct val="150000"/>
              </a:lnSpc>
              <a:buNone/>
              <a:defRPr sz="1350">
                <a:solidFill>
                  <a:schemeClr val="tx1">
                    <a:lumMod val="75000"/>
                    <a:lumOff val="25000"/>
                  </a:schemeClr>
                </a:solidFill>
              </a:defRPr>
            </a:lvl2pPr>
            <a:lvl3pPr>
              <a:lnSpc>
                <a:spcPct val="150000"/>
              </a:lnSpc>
              <a:buNone/>
              <a:defRPr sz="1200">
                <a:solidFill>
                  <a:schemeClr val="tx1">
                    <a:lumMod val="75000"/>
                    <a:lumOff val="25000"/>
                  </a:schemeClr>
                </a:solidFill>
              </a:defRPr>
            </a:lvl3pPr>
            <a:lvl4pPr>
              <a:lnSpc>
                <a:spcPct val="150000"/>
              </a:lnSpc>
              <a:buNone/>
              <a:defRPr sz="1200">
                <a:solidFill>
                  <a:schemeClr val="tx1">
                    <a:lumMod val="75000"/>
                    <a:lumOff val="25000"/>
                  </a:schemeClr>
                </a:solidFill>
              </a:defRPr>
            </a:lvl4pPr>
            <a:lvl5pPr>
              <a:lnSpc>
                <a:spcPct val="150000"/>
              </a:lnSpc>
              <a:buNone/>
              <a:defRPr sz="1200">
                <a:solidFill>
                  <a:schemeClr val="tx1">
                    <a:lumMod val="75000"/>
                    <a:lumOff val="25000"/>
                  </a:schemeClr>
                </a:solidFill>
              </a:defRPr>
            </a:lvl5p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内容占位符 3"/>
          <p:cNvSpPr>
            <a:spLocks noGrp="1"/>
          </p:cNvSpPr>
          <p:nvPr>
            <p:ph idx="2"/>
          </p:nvPr>
        </p:nvSpPr>
        <p:spPr>
          <a:xfrm>
            <a:off x="4486275" y="1369219"/>
            <a:ext cx="3886200" cy="3263504"/>
          </a:xfrm>
        </p:spPr>
        <p:txBody>
          <a:bodyPr>
            <a:normAutofit/>
          </a:bodyPr>
          <a:lstStyle>
            <a:lvl1pPr>
              <a:lnSpc>
                <a:spcPct val="150000"/>
              </a:lnSpc>
              <a:buNone/>
              <a:defRPr sz="1500">
                <a:solidFill>
                  <a:schemeClr val="tx1">
                    <a:lumMod val="75000"/>
                    <a:lumOff val="25000"/>
                  </a:schemeClr>
                </a:solidFill>
              </a:defRPr>
            </a:lvl1pPr>
            <a:lvl2pPr>
              <a:lnSpc>
                <a:spcPct val="150000"/>
              </a:lnSpc>
              <a:buNone/>
              <a:defRPr sz="1350">
                <a:solidFill>
                  <a:schemeClr val="tx1">
                    <a:lumMod val="75000"/>
                    <a:lumOff val="25000"/>
                  </a:schemeClr>
                </a:solidFill>
              </a:defRPr>
            </a:lvl2pPr>
            <a:lvl3pPr>
              <a:lnSpc>
                <a:spcPct val="150000"/>
              </a:lnSpc>
              <a:buNone/>
              <a:defRPr sz="1200">
                <a:solidFill>
                  <a:schemeClr val="tx1">
                    <a:lumMod val="75000"/>
                    <a:lumOff val="25000"/>
                  </a:schemeClr>
                </a:solidFill>
              </a:defRPr>
            </a:lvl3pPr>
            <a:lvl4pPr>
              <a:lnSpc>
                <a:spcPct val="150000"/>
              </a:lnSpc>
              <a:buNone/>
              <a:defRPr sz="1200">
                <a:solidFill>
                  <a:schemeClr val="tx1">
                    <a:lumMod val="75000"/>
                    <a:lumOff val="25000"/>
                  </a:schemeClr>
                </a:solidFill>
              </a:defRPr>
            </a:lvl4pPr>
            <a:lvl5pPr>
              <a:lnSpc>
                <a:spcPct val="150000"/>
              </a:lnSpc>
              <a:buNone/>
              <a:defRPr sz="1200">
                <a:solidFill>
                  <a:schemeClr val="tx1">
                    <a:lumMod val="75000"/>
                    <a:lumOff val="25000"/>
                  </a:schemeClr>
                </a:solidFill>
              </a:defRPr>
            </a:lvl5p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5" name="日期占位符 4"/>
          <p:cNvSpPr>
            <a:spLocks noGrp="1"/>
          </p:cNvSpPr>
          <p:nvPr>
            <p:ph type="dt" idx="10"/>
          </p:nvPr>
        </p:nvSpPr>
        <p:spPr/>
        <p:txBody>
          <a:bodyPr/>
          <a:lstStyle/>
          <a:p/>
        </p:txBody>
      </p:sp>
      <p:sp>
        <p:nvSpPr>
          <p:cNvPr id="6" name="页脚占位符 5"/>
          <p:cNvSpPr>
            <a:spLocks noGrp="1"/>
          </p:cNvSpPr>
          <p:nvPr>
            <p:ph type="ftr" idx="11"/>
          </p:nvPr>
        </p:nvSpPr>
        <p:spPr/>
        <p:txBody>
          <a:bodyPr/>
          <a:lstStyle/>
          <a:p/>
        </p:txBody>
      </p:sp>
      <p:sp>
        <p:nvSpPr>
          <p:cNvPr id="7" name="灯片编号占位符 6"/>
          <p:cNvSpPr>
            <a:spLocks noGrp="1"/>
          </p:cNvSpPr>
          <p:nvPr>
            <p:ph type="sldNum" idx="12"/>
          </p:nvPr>
        </p:nvSpPr>
        <p:spPr/>
        <p:txBody>
          <a:body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p:sp>
        <p:nvSpPr>
          <p:cNvPr id="2" name="标题 1"/>
          <p:cNvSpPr>
            <a:spLocks noGrp="1"/>
          </p:cNvSpPr>
          <p:nvPr>
            <p:ph type="title"/>
          </p:nvPr>
        </p:nvSpPr>
        <p:spPr>
          <a:xfrm>
            <a:off x="629841" y="273844"/>
            <a:ext cx="7886700" cy="994172"/>
          </a:xfrm>
        </p:spPr>
        <p:txBody>
          <a:bodyPr/>
          <a:lstStyle/>
          <a:p>
            <a:r>
              <a:t>单击此处编辑母版标题样式</a:t>
            </a:r>
          </a:p>
        </p:txBody>
      </p:sp>
      <p:sp>
        <p:nvSpPr>
          <p:cNvPr id="3" name="文本占位符 2"/>
          <p:cNvSpPr>
            <a:spLocks noGrp="1"/>
          </p:cNvSpPr>
          <p:nvPr>
            <p:ph type="body" idx="1"/>
          </p:nvPr>
        </p:nvSpPr>
        <p:spPr>
          <a:xfrm>
            <a:off x="629841" y="1308721"/>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buNone/>
            </a:pPr>
            <a:r>
              <a:t>单击此处编辑母版文本样式</a:t>
            </a:r>
          </a:p>
        </p:txBody>
      </p:sp>
      <p:sp>
        <p:nvSpPr>
          <p:cNvPr id="4" name="内容占位符 3"/>
          <p:cNvSpPr>
            <a:spLocks noGrp="1"/>
          </p:cNvSpPr>
          <p:nvPr>
            <p:ph idx="2"/>
          </p:nvPr>
        </p:nvSpPr>
        <p:spPr>
          <a:xfrm>
            <a:off x="629841" y="1961707"/>
            <a:ext cx="3868340" cy="2680541"/>
          </a:xfrm>
        </p:spPr>
        <p:txBody>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5" name="文本占位符 4"/>
          <p:cNvSpPr>
            <a:spLocks noGrp="1"/>
          </p:cNvSpPr>
          <p:nvPr>
            <p:ph type="body" idx="3"/>
          </p:nvPr>
        </p:nvSpPr>
        <p:spPr>
          <a:xfrm>
            <a:off x="4629150" y="1308721"/>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buNone/>
            </a:pPr>
            <a:r>
              <a:t>单击此处编辑母版文本样式</a:t>
            </a:r>
          </a:p>
        </p:txBody>
      </p:sp>
      <p:sp>
        <p:nvSpPr>
          <p:cNvPr id="6" name="内容占位符 5"/>
          <p:cNvSpPr>
            <a:spLocks noGrp="1"/>
          </p:cNvSpPr>
          <p:nvPr>
            <p:ph idx="4"/>
          </p:nvPr>
        </p:nvSpPr>
        <p:spPr>
          <a:xfrm>
            <a:off x="4629150" y="1961707"/>
            <a:ext cx="3887391" cy="2680541"/>
          </a:xfrm>
        </p:spPr>
        <p:txBody>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7" name="日期占位符 6"/>
          <p:cNvSpPr>
            <a:spLocks noGrp="1"/>
          </p:cNvSpPr>
          <p:nvPr>
            <p:ph type="dt" idx="10"/>
          </p:nvPr>
        </p:nvSpPr>
        <p:spPr/>
        <p:txBody>
          <a:bodyPr/>
          <a:lstStyle/>
          <a:p/>
        </p:txBody>
      </p:sp>
      <p:sp>
        <p:nvSpPr>
          <p:cNvPr id="8" name="页脚占位符 7"/>
          <p:cNvSpPr>
            <a:spLocks noGrp="1"/>
          </p:cNvSpPr>
          <p:nvPr>
            <p:ph type="ftr" idx="11"/>
          </p:nvPr>
        </p:nvSpPr>
        <p:spPr/>
        <p:txBody>
          <a:bodyPr/>
          <a:lstStyle/>
          <a:p/>
        </p:txBody>
      </p:sp>
      <p:sp>
        <p:nvSpPr>
          <p:cNvPr id="9" name="灯片编号占位符 8"/>
          <p:cNvSpPr>
            <a:spLocks noGrp="1"/>
          </p:cNvSpPr>
          <p:nvPr>
            <p:ph type="sldNum" idx="12"/>
          </p:nvPr>
        </p:nvSpPr>
        <p:spPr/>
        <p:txBody>
          <a:body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p:sp>
        <p:nvSpPr>
          <p:cNvPr id="2" name="标题 1"/>
          <p:cNvSpPr>
            <a:spLocks noGrp="1"/>
          </p:cNvSpPr>
          <p:nvPr>
            <p:ph type="title"/>
          </p:nvPr>
        </p:nvSpPr>
        <p:spPr>
          <a:xfrm>
            <a:off x="628650" y="2074664"/>
            <a:ext cx="7886700" cy="994172"/>
          </a:xfrm>
        </p:spPr>
        <p:txBody>
          <a:bodyPr>
            <a:normAutofit/>
          </a:bodyPr>
          <a:lstStyle>
            <a:lvl1pPr algn="ctr">
              <a:buNone/>
              <a:defRPr sz="3600" b="0">
                <a:effectLst>
                  <a:outerShdw blurRad="38100" dist="38100" dir="2700000" algn="tl">
                    <a:srgbClr val="000000">
                      <a:alpha val="43137"/>
                    </a:srgbClr>
                  </a:outerShdw>
                </a:effectLst>
              </a:defRPr>
            </a:lvl1pPr>
          </a:lstStyle>
          <a:p>
            <a:r>
              <a:t>单击此处编辑母版标题样式</a:t>
            </a:r>
          </a:p>
        </p:txBody>
      </p:sp>
      <p:sp>
        <p:nvSpPr>
          <p:cNvPr id="3" name="日期占位符 2"/>
          <p:cNvSpPr>
            <a:spLocks noGrp="1"/>
          </p:cNvSpPr>
          <p:nvPr>
            <p:ph type="dt" idx="10"/>
          </p:nvPr>
        </p:nvSpPr>
        <p:spPr/>
        <p:txBody>
          <a:bodyPr/>
          <a:lstStyle/>
          <a:p/>
        </p:txBody>
      </p:sp>
      <p:sp>
        <p:nvSpPr>
          <p:cNvPr id="4" name="页脚占位符 3"/>
          <p:cNvSpPr>
            <a:spLocks noGrp="1"/>
          </p:cNvSpPr>
          <p:nvPr>
            <p:ph type="ftr" idx="11"/>
          </p:nvPr>
        </p:nvSpPr>
        <p:spPr/>
        <p:txBody>
          <a:bodyPr/>
          <a:lstStyle/>
          <a:p/>
        </p:txBody>
      </p:sp>
      <p:sp>
        <p:nvSpPr>
          <p:cNvPr id="5" name="灯片编号占位符 4"/>
          <p:cNvSpPr>
            <a:spLocks noGrp="1"/>
          </p:cNvSpPr>
          <p:nvPr>
            <p:ph type="sldNum" idx="12"/>
          </p:nvPr>
        </p:nvSpPr>
        <p:spPr/>
        <p:txBody>
          <a:body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p:sp>
        <p:nvSpPr>
          <p:cNvPr id="2" name="日期占位符 1"/>
          <p:cNvSpPr>
            <a:spLocks noGrp="1"/>
          </p:cNvSpPr>
          <p:nvPr>
            <p:ph type="dt" idx="10"/>
          </p:nvPr>
        </p:nvSpPr>
        <p:spPr/>
        <p:txBody>
          <a:bodyPr/>
          <a:lstStyle/>
          <a:p/>
        </p:txBody>
      </p:sp>
      <p:sp>
        <p:nvSpPr>
          <p:cNvPr id="3" name="页脚占位符 2"/>
          <p:cNvSpPr>
            <a:spLocks noGrp="1"/>
          </p:cNvSpPr>
          <p:nvPr>
            <p:ph type="ftr" idx="11"/>
          </p:nvPr>
        </p:nvSpPr>
        <p:spPr/>
        <p:txBody>
          <a:bodyPr/>
          <a:lstStyle/>
          <a:p/>
        </p:txBody>
      </p:sp>
      <p:sp>
        <p:nvSpPr>
          <p:cNvPr id="4" name="灯片编号占位符 3"/>
          <p:cNvSpPr>
            <a:spLocks noGrp="1"/>
          </p:cNvSpPr>
          <p:nvPr>
            <p:ph type="sldNum" idx="12"/>
          </p:nvPr>
        </p:nvSpPr>
        <p:spPr/>
        <p:txBody>
          <a:body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p:sp>
        <p:nvSpPr>
          <p:cNvPr id="2" name="标题 1"/>
          <p:cNvSpPr>
            <a:spLocks noGrp="1"/>
          </p:cNvSpPr>
          <p:nvPr>
            <p:ph type="title" hasCustomPrompt="1"/>
          </p:nvPr>
        </p:nvSpPr>
        <p:spPr>
          <a:xfrm>
            <a:off x="485060" y="95250"/>
            <a:ext cx="3123900" cy="1200150"/>
          </a:xfrm>
        </p:spPr>
        <p:txBody>
          <a:bodyPr anchor="ctr">
            <a:normAutofit/>
          </a:bodyPr>
          <a:lstStyle>
            <a:lvl1pPr>
              <a:buNone/>
              <a:defRPr sz="1800" b="1">
                <a:effectLst>
                  <a:outerShdw blurRad="38100" dist="38100" dir="2700000" algn="tl">
                    <a:srgbClr val="000000">
                      <a:alpha val="43137"/>
                    </a:srgbClr>
                  </a:outerShdw>
                </a:effectLst>
              </a:defRPr>
            </a:lvl1pPr>
          </a:lstStyle>
          <a:p>
            <a:r>
              <a:t>单击此处编辑标题</a:t>
            </a:r>
          </a:p>
        </p:txBody>
      </p:sp>
      <p:sp>
        <p:nvSpPr>
          <p:cNvPr id="3" name="图片占位符 2"/>
          <p:cNvSpPr>
            <a:spLocks noGrp="1"/>
          </p:cNvSpPr>
          <p:nvPr>
            <p:ph type="pic" idx="1"/>
          </p:nvPr>
        </p:nvSpPr>
        <p:spPr>
          <a:xfrm>
            <a:off x="3888000" y="574766"/>
            <a:ext cx="4363031" cy="382083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p:txBody>
      </p:sp>
      <p:sp>
        <p:nvSpPr>
          <p:cNvPr id="4" name="文本占位符 3"/>
          <p:cNvSpPr>
            <a:spLocks noGrp="1"/>
          </p:cNvSpPr>
          <p:nvPr>
            <p:ph type="body" idx="2"/>
          </p:nvPr>
        </p:nvSpPr>
        <p:spPr>
          <a:xfrm>
            <a:off x="488870" y="1543050"/>
            <a:ext cx="3123900" cy="2858691"/>
          </a:xfrm>
        </p:spPr>
        <p:txBody>
          <a:bodyPr>
            <a:normAutofit/>
          </a:bodyPr>
          <a:lstStyle>
            <a:lvl1pPr marL="0" indent="0">
              <a:lnSpc>
                <a:spcPct val="150000"/>
              </a:lnSpc>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buNone/>
            </a:pPr>
            <a:r>
              <a:t>单击此处编辑母版文本样式</a:t>
            </a:r>
          </a:p>
        </p:txBody>
      </p:sp>
      <p:sp>
        <p:nvSpPr>
          <p:cNvPr id="5" name="日期占位符 4"/>
          <p:cNvSpPr>
            <a:spLocks noGrp="1"/>
          </p:cNvSpPr>
          <p:nvPr>
            <p:ph type="dt" idx="10"/>
          </p:nvPr>
        </p:nvSpPr>
        <p:spPr/>
        <p:txBody>
          <a:bodyPr/>
          <a:lstStyle/>
          <a:p/>
        </p:txBody>
      </p:sp>
      <p:sp>
        <p:nvSpPr>
          <p:cNvPr id="6" name="页脚占位符 5"/>
          <p:cNvSpPr>
            <a:spLocks noGrp="1"/>
          </p:cNvSpPr>
          <p:nvPr>
            <p:ph type="ftr" idx="11"/>
          </p:nvPr>
        </p:nvSpPr>
        <p:spPr/>
        <p:txBody>
          <a:bodyPr/>
          <a:lstStyle/>
          <a:p/>
        </p:txBody>
      </p:sp>
      <p:sp>
        <p:nvSpPr>
          <p:cNvPr id="7" name="灯片编号占位符 6"/>
          <p:cNvSpPr>
            <a:spLocks noGrp="1"/>
          </p:cNvSpPr>
          <p:nvPr>
            <p:ph type="sldNum" idx="12"/>
          </p:nvPr>
        </p:nvSpPr>
        <p:spPr/>
        <p:txBody>
          <a:body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p:sp>
        <p:nvSpPr>
          <p:cNvPr id="2" name="竖排标题 1"/>
          <p:cNvSpPr>
            <a:spLocks noGrp="1"/>
          </p:cNvSpPr>
          <p:nvPr>
            <p:ph type="title"/>
          </p:nvPr>
        </p:nvSpPr>
        <p:spPr>
          <a:xfrm>
            <a:off x="7368363" y="273844"/>
            <a:ext cx="1146987" cy="4358879"/>
          </a:xfrm>
        </p:spPr>
        <p:txBody>
          <a:bodyPr vert="eaVert">
            <a:normAutofit/>
          </a:bodyPr>
          <a:lstStyle>
            <a:lvl1pPr>
              <a:buNone/>
              <a:defRPr sz="2700"/>
            </a:lvl1pPr>
          </a:lstStyle>
          <a:p>
            <a:r>
              <a:t>单击此处编辑母版标题样式</a:t>
            </a:r>
          </a:p>
        </p:txBody>
      </p:sp>
      <p:sp>
        <p:nvSpPr>
          <p:cNvPr id="3" name="竖排文字占位符 2"/>
          <p:cNvSpPr>
            <a:spLocks noGrp="1"/>
          </p:cNvSpPr>
          <p:nvPr>
            <p:ph type="body" idx="1"/>
          </p:nvPr>
        </p:nvSpPr>
        <p:spPr>
          <a:xfrm>
            <a:off x="628650" y="273844"/>
            <a:ext cx="6659969" cy="4358879"/>
          </a:xfrm>
        </p:spPr>
        <p:txBody>
          <a:bodyPr vert="eaVert"/>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p:sp>
        <p:nvSpPr>
          <p:cNvPr id="3" name="日期占位符 2"/>
          <p:cNvSpPr>
            <a:spLocks noGrp="1"/>
          </p:cNvSpPr>
          <p:nvPr>
            <p:ph type="dt" idx="10"/>
          </p:nvPr>
        </p:nvSpPr>
        <p:spPr/>
        <p:txBody>
          <a:bodyPr/>
          <a:lstStyle/>
          <a:p/>
        </p:txBody>
      </p:sp>
      <p:sp>
        <p:nvSpPr>
          <p:cNvPr id="4" name="页脚占位符 3"/>
          <p:cNvSpPr>
            <a:spLocks noGrp="1"/>
          </p:cNvSpPr>
          <p:nvPr>
            <p:ph type="ftr" idx="11"/>
          </p:nvPr>
        </p:nvSpPr>
        <p:spPr/>
        <p:txBody>
          <a:bodyPr/>
          <a:lstStyle/>
          <a:p/>
        </p:txBody>
      </p:sp>
      <p:sp>
        <p:nvSpPr>
          <p:cNvPr id="5" name="灯片编号占位符 4"/>
          <p:cNvSpPr>
            <a:spLocks noGrp="1"/>
          </p:cNvSpPr>
          <p:nvPr>
            <p:ph type="sldNum" idx="12"/>
          </p:nvPr>
        </p:nvSpPr>
        <p:spPr/>
        <p:txBody>
          <a:bodyPr/>
          <a:lstStyle/>
          <a:p/>
        </p:txBody>
      </p:sp>
      <p:sp>
        <p:nvSpPr>
          <p:cNvPr id="7" name="内容占位符 6"/>
          <p:cNvSpPr>
            <a:spLocks noGrp="1"/>
          </p:cNvSpPr>
          <p:nvPr>
            <p:ph idx="13"/>
          </p:nvPr>
        </p:nvSpPr>
        <p:spPr>
          <a:xfrm>
            <a:off x="628650" y="413657"/>
            <a:ext cx="7886700" cy="4169228"/>
          </a:xfrm>
        </p:spPr>
        <p:txBody>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p:sp>
        <p:nvSpPr>
          <p:cNvPr id="2" name="标题 1"/>
          <p:cNvSpPr>
            <a:spLocks noGrp="1"/>
          </p:cNvSpPr>
          <p:nvPr>
            <p:ph type="title"/>
          </p:nvPr>
        </p:nvSpPr>
        <p:spPr/>
        <p:txBody>
          <a:bodyPr/>
          <a:lstStyle/>
          <a:p>
            <a:r>
              <a:t>单击此处编辑母版标题样式</a:t>
            </a:r>
          </a:p>
        </p:txBody>
      </p:sp>
      <p:sp>
        <p:nvSpPr>
          <p:cNvPr id="3" name="日期占位符 2"/>
          <p:cNvSpPr>
            <a:spLocks noGrp="1"/>
          </p:cNvSpPr>
          <p:nvPr>
            <p:ph type="dt" idx="10"/>
          </p:nvPr>
        </p:nvSpPr>
        <p:spPr/>
        <p:txBody>
          <a:bodyPr/>
          <a:lstStyle/>
          <a:p/>
        </p:txBody>
      </p:sp>
      <p:sp>
        <p:nvSpPr>
          <p:cNvPr id="4" name="页脚占位符 3"/>
          <p:cNvSpPr>
            <a:spLocks noGrp="1"/>
          </p:cNvSpPr>
          <p:nvPr>
            <p:ph type="ftr" idx="11"/>
          </p:nvPr>
        </p:nvSpPr>
        <p:spPr/>
        <p:txBody>
          <a:bodyPr/>
          <a:lstStyle/>
          <a:p/>
        </p:txBody>
      </p:sp>
      <p:sp>
        <p:nvSpPr>
          <p:cNvPr id="5" name="灯片编号占位符 4"/>
          <p:cNvSpPr>
            <a:spLocks noGrp="1"/>
          </p:cNvSpPr>
          <p:nvPr>
            <p:ph type="sldNum" idx="12"/>
          </p:nvPr>
        </p:nvSpPr>
        <p:spPr/>
        <p:txBody>
          <a:bodyPr/>
          <a:lstStyl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标题占位符 1"/>
          <p:cNvSpPr>
            <a:spLocks noGrp="1"/>
          </p:cNvSpPr>
          <p:nvPr>
            <p:ph type="title"/>
          </p:nvPr>
        </p:nvSpPr>
        <p:spPr>
          <a:xfrm>
            <a:off x="628650" y="273844"/>
            <a:ext cx="7886700" cy="994172"/>
          </a:xfrm>
          <a:prstGeom prst="rect">
            <a:avLst/>
          </a:prstGeom>
        </p:spPr>
        <p:txBody>
          <a:bodyPr vert="horz" lIns="91440" tIns="45720" rIns="91440" bIns="45720" anchor="ctr">
            <a:normAutofit/>
          </a:bodyPr>
          <a:lstStyle/>
          <a:p>
            <a:r>
              <a:t>单击此处编辑母版标题样式</a:t>
            </a:r>
          </a:p>
        </p:txBody>
      </p:sp>
      <p:sp>
        <p:nvSpPr>
          <p:cNvPr id="3" name="文本占位符 2"/>
          <p:cNvSpPr>
            <a:spLocks noGrp="1"/>
          </p:cNvSpPr>
          <p:nvPr>
            <p:ph type="body" idx="1"/>
          </p:nvPr>
        </p:nvSpPr>
        <p:spPr>
          <a:xfrm>
            <a:off x="628650" y="1369219"/>
            <a:ext cx="7886700" cy="3263504"/>
          </a:xfrm>
          <a:prstGeom prst="rect">
            <a:avLst/>
          </a:prstGeom>
        </p:spPr>
        <p:txBody>
          <a:bodyPr vert="horz" lIns="91440" tIns="45720" rIns="91440" bIns="45720">
            <a:normAutofit/>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p:cNvSpPr>
            <a:spLocks noGrp="1"/>
          </p:cNvSpPr>
          <p:nvPr>
            <p:ph type="dt" idx="2"/>
          </p:nvPr>
        </p:nvSpPr>
        <p:spPr>
          <a:xfrm>
            <a:off x="628650" y="4767263"/>
            <a:ext cx="2057400" cy="273844"/>
          </a:xfrm>
          <a:prstGeom prst="rect">
            <a:avLst/>
          </a:prstGeom>
        </p:spPr>
        <p:txBody>
          <a:bodyPr vert="horz" lIns="91440" tIns="45720" rIns="91440" bIns="45720" anchor="ctr">
            <a:normAutofit/>
          </a:bodyPr>
          <a:lstStyle>
            <a:lvl1pPr algn="l">
              <a:buNone/>
              <a:defRPr sz="900">
                <a:solidFill>
                  <a:schemeClr val="tx1">
                    <a:tint val="75000"/>
                  </a:schemeClr>
                </a:solidFill>
              </a:defRPr>
            </a:lvl1pPr>
          </a:lstStyle>
          <a:p/>
        </p:txBody>
      </p:sp>
      <p:sp>
        <p:nvSpPr>
          <p:cNvPr id="5" name="页脚占位符 4"/>
          <p:cNvSpPr>
            <a:spLocks noGrp="1"/>
          </p:cNvSpPr>
          <p:nvPr>
            <p:ph type="ftr" idx="3"/>
          </p:nvPr>
        </p:nvSpPr>
        <p:spPr>
          <a:xfrm>
            <a:off x="3028950" y="4767263"/>
            <a:ext cx="3086100" cy="273844"/>
          </a:xfrm>
          <a:prstGeom prst="rect">
            <a:avLst/>
          </a:prstGeom>
        </p:spPr>
        <p:txBody>
          <a:bodyPr vert="horz" lIns="91440" tIns="45720" rIns="91440" bIns="45720" anchor="ctr">
            <a:normAutofit/>
          </a:bodyPr>
          <a:lstStyle>
            <a:lvl1pPr algn="ctr">
              <a:buNone/>
              <a:defRPr sz="900">
                <a:solidFill>
                  <a:schemeClr val="tx1">
                    <a:tint val="75000"/>
                  </a:schemeClr>
                </a:solidFill>
              </a:defRPr>
            </a:lvl1pPr>
          </a:lstStyle>
          <a:p/>
        </p:txBody>
      </p:sp>
      <p:sp>
        <p:nvSpPr>
          <p:cNvPr id="6" name="灯片编号占位符 5"/>
          <p:cNvSpPr>
            <a:spLocks noGrp="1"/>
          </p:cNvSpPr>
          <p:nvPr>
            <p:ph type="sldNum" idx="4"/>
          </p:nvPr>
        </p:nvSpPr>
        <p:spPr>
          <a:xfrm>
            <a:off x="6457950" y="4767263"/>
            <a:ext cx="2057400" cy="273844"/>
          </a:xfrm>
          <a:prstGeom prst="rect">
            <a:avLst/>
          </a:prstGeom>
        </p:spPr>
        <p:txBody>
          <a:bodyPr vert="horz" lIns="91440" tIns="45720" rIns="91440" bIns="45720" anchor="ctr">
            <a:normAutofit/>
          </a:bodyPr>
          <a:lstStyle>
            <a:lvl1pPr algn="r">
              <a:buNone/>
              <a:defRPr sz="900">
                <a:solidFill>
                  <a:schemeClr val="tx1">
                    <a:tint val="75000"/>
                  </a:schemeClr>
                </a:solidFill>
              </a:defRPr>
            </a:lvl1pPr>
          </a:lstStyle>
          <a:p/>
        </p:txBody>
      </p:sp>
      <p:sp>
        <p:nvSpPr>
          <p:cNvPr id="7" name="矩形 6"/>
          <p:cNvSpPr>
            <a:spLocks noGrp="1"/>
          </p:cNvSpPr>
          <p:nvPr/>
        </p:nvSpPr>
        <p:spPr>
          <a:xfrm>
            <a:off x="0" y="0"/>
            <a:ext cx="9144000" cy="5143500"/>
          </a:xfrm>
          <a:prstGeom prst="rect">
            <a:avLst/>
          </a:prstGeom>
          <a:gradFill>
            <a:gsLst>
              <a:gs pos="0">
                <a:schemeClr val="bg1">
                  <a:lumMod val="95000"/>
                </a:schemeClr>
              </a:gs>
              <a:gs pos="50000">
                <a:srgbClr val="F7F7F7"/>
              </a:gs>
              <a:gs pos="100000">
                <a:srgbClr val="FCFCFC"/>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015"/>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685800">
        <a:lnSpc>
          <a:spcPct val="90000"/>
        </a:lnSpc>
        <a:spcBef>
          <a:spcPct val="0"/>
        </a:spcBef>
        <a:buNone/>
        <a:defRPr sz="3000" kern="1200">
          <a:solidFill>
            <a:schemeClr val="tx1"/>
          </a:solidFill>
          <a:latin typeface="+mj-lt"/>
          <a:ea typeface="+mj-lt"/>
          <a:cs typeface="+mj-lt"/>
        </a:defRPr>
      </a:lvl1pPr>
    </p:titleStyle>
    <p:bodyStyle>
      <a:lvl1pPr marL="171450" indent="-171450" algn="l" defTabSz="685800">
        <a:lnSpc>
          <a:spcPct val="90000"/>
        </a:lnSpc>
        <a:spcBef>
          <a:spcPts val="750"/>
        </a:spcBef>
        <a:buFont typeface="Arial" panose="020B0604020202020204"/>
        <a:buChar char="•"/>
        <a:defRPr sz="1800" kern="1200">
          <a:solidFill>
            <a:schemeClr val="tx1"/>
          </a:solidFill>
          <a:latin typeface="+mn-lt"/>
          <a:ea typeface="+mn-lt"/>
          <a:cs typeface="+mn-lt"/>
        </a:defRPr>
      </a:lvl1pPr>
      <a:lvl2pPr marL="514350" indent="-171450" algn="l" defTabSz="685800">
        <a:lnSpc>
          <a:spcPct val="90000"/>
        </a:lnSpc>
        <a:spcBef>
          <a:spcPts val="375"/>
        </a:spcBef>
        <a:buFont typeface="Arial" panose="020B0604020202020204"/>
        <a:buChar char="•"/>
        <a:defRPr sz="1500" kern="1200">
          <a:solidFill>
            <a:schemeClr val="tx1"/>
          </a:solidFill>
          <a:latin typeface="+mn-lt"/>
          <a:ea typeface="+mn-lt"/>
          <a:cs typeface="+mn-lt"/>
        </a:defRPr>
      </a:lvl2pPr>
      <a:lvl3pPr marL="857250" indent="-171450" algn="l" defTabSz="685800">
        <a:lnSpc>
          <a:spcPct val="90000"/>
        </a:lnSpc>
        <a:spcBef>
          <a:spcPts val="375"/>
        </a:spcBef>
        <a:buFont typeface="Arial" panose="020B0604020202020204"/>
        <a:buChar char="•"/>
        <a:defRPr sz="1350" kern="1200">
          <a:solidFill>
            <a:schemeClr val="tx1"/>
          </a:solidFill>
          <a:latin typeface="+mn-lt"/>
          <a:ea typeface="+mn-lt"/>
          <a:cs typeface="+mn-lt"/>
        </a:defRPr>
      </a:lvl3pPr>
      <a:lvl4pPr marL="1200150" indent="-171450" algn="l" defTabSz="685800">
        <a:lnSpc>
          <a:spcPct val="90000"/>
        </a:lnSpc>
        <a:spcBef>
          <a:spcPts val="375"/>
        </a:spcBef>
        <a:buFont typeface="Arial" panose="020B0604020202020204"/>
        <a:buChar char="•"/>
        <a:defRPr sz="1350" kern="1200">
          <a:solidFill>
            <a:schemeClr val="tx1"/>
          </a:solidFill>
          <a:latin typeface="+mn-lt"/>
          <a:ea typeface="+mn-lt"/>
          <a:cs typeface="+mn-lt"/>
        </a:defRPr>
      </a:lvl4pPr>
      <a:lvl5pPr marL="1543050" indent="-171450" algn="l" defTabSz="685800">
        <a:lnSpc>
          <a:spcPct val="90000"/>
        </a:lnSpc>
        <a:spcBef>
          <a:spcPts val="375"/>
        </a:spcBef>
        <a:buFont typeface="Arial" panose="020B0604020202020204"/>
        <a:buChar char="•"/>
        <a:defRPr sz="1350" kern="1200">
          <a:solidFill>
            <a:schemeClr val="tx1"/>
          </a:solidFill>
          <a:latin typeface="+mn-lt"/>
          <a:ea typeface="+mn-lt"/>
          <a:cs typeface="+mn-lt"/>
        </a:defRPr>
      </a:lvl5pPr>
      <a:lvl6pPr marL="1885950" indent="-171450" algn="l" defTabSz="685800">
        <a:lnSpc>
          <a:spcPct val="90000"/>
        </a:lnSpc>
        <a:spcBef>
          <a:spcPts val="375"/>
        </a:spcBef>
        <a:buFont typeface="Arial" panose="020B0604020202020204"/>
        <a:buChar char="•"/>
        <a:defRPr sz="1350" kern="1200">
          <a:solidFill>
            <a:schemeClr val="tx1"/>
          </a:solidFill>
          <a:latin typeface="+mn-lt"/>
          <a:ea typeface="+mn-lt"/>
          <a:cs typeface="+mn-lt"/>
        </a:defRPr>
      </a:lvl6pPr>
      <a:lvl7pPr marL="2228850" indent="-171450" algn="l" defTabSz="685800">
        <a:lnSpc>
          <a:spcPct val="90000"/>
        </a:lnSpc>
        <a:spcBef>
          <a:spcPts val="375"/>
        </a:spcBef>
        <a:buFont typeface="Arial" panose="020B0604020202020204"/>
        <a:buChar char="•"/>
        <a:defRPr sz="1350" kern="1200">
          <a:solidFill>
            <a:schemeClr val="tx1"/>
          </a:solidFill>
          <a:latin typeface="+mn-lt"/>
          <a:ea typeface="+mn-lt"/>
          <a:cs typeface="+mn-lt"/>
        </a:defRPr>
      </a:lvl7pPr>
      <a:lvl8pPr marL="2571750" indent="-171450" algn="l" defTabSz="685800">
        <a:lnSpc>
          <a:spcPct val="90000"/>
        </a:lnSpc>
        <a:spcBef>
          <a:spcPts val="375"/>
        </a:spcBef>
        <a:buFont typeface="Arial" panose="020B0604020202020204"/>
        <a:buChar char="•"/>
        <a:defRPr sz="1350" kern="1200">
          <a:solidFill>
            <a:schemeClr val="tx1"/>
          </a:solidFill>
          <a:latin typeface="+mn-lt"/>
          <a:ea typeface="+mn-lt"/>
          <a:cs typeface="+mn-lt"/>
        </a:defRPr>
      </a:lvl8pPr>
      <a:lvl9pPr marL="2914650" indent="-171450" algn="l" defTabSz="685800">
        <a:lnSpc>
          <a:spcPct val="90000"/>
        </a:lnSpc>
        <a:spcBef>
          <a:spcPts val="375"/>
        </a:spcBef>
        <a:buFont typeface="Arial" panose="020B0604020202020204"/>
        <a:buChar char="•"/>
        <a:defRPr sz="1350" kern="1200">
          <a:solidFill>
            <a:schemeClr val="tx1"/>
          </a:solidFill>
          <a:latin typeface="+mn-lt"/>
          <a:ea typeface="+mn-lt"/>
          <a:cs typeface="+mn-lt"/>
        </a:defRPr>
      </a:lvl9pPr>
    </p:bodyStyle>
    <p:otherStyle>
      <a:lvl1pPr marL="0" algn="l" defTabSz="685800">
        <a:buNone/>
        <a:defRPr sz="1350" kern="1200">
          <a:solidFill>
            <a:schemeClr val="tx1"/>
          </a:solidFill>
          <a:latin typeface="+mn-lt"/>
          <a:ea typeface="+mn-lt"/>
          <a:cs typeface="+mn-lt"/>
        </a:defRPr>
      </a:lvl1pPr>
      <a:lvl2pPr marL="342900" algn="l" defTabSz="685800">
        <a:buNone/>
        <a:defRPr sz="1350" kern="1200">
          <a:solidFill>
            <a:schemeClr val="tx1"/>
          </a:solidFill>
          <a:latin typeface="+mn-lt"/>
          <a:ea typeface="+mn-lt"/>
          <a:cs typeface="+mn-lt"/>
        </a:defRPr>
      </a:lvl2pPr>
      <a:lvl3pPr marL="685800" algn="l" defTabSz="685800">
        <a:buNone/>
        <a:defRPr sz="1350" kern="1200">
          <a:solidFill>
            <a:schemeClr val="tx1"/>
          </a:solidFill>
          <a:latin typeface="+mn-lt"/>
          <a:ea typeface="+mn-lt"/>
          <a:cs typeface="+mn-lt"/>
        </a:defRPr>
      </a:lvl3pPr>
      <a:lvl4pPr marL="1028700" algn="l" defTabSz="685800">
        <a:buNone/>
        <a:defRPr sz="1350" kern="1200">
          <a:solidFill>
            <a:schemeClr val="tx1"/>
          </a:solidFill>
          <a:latin typeface="+mn-lt"/>
          <a:ea typeface="+mn-lt"/>
          <a:cs typeface="+mn-lt"/>
        </a:defRPr>
      </a:lvl4pPr>
      <a:lvl5pPr marL="1371600" algn="l" defTabSz="685800">
        <a:buNone/>
        <a:defRPr sz="1350" kern="1200">
          <a:solidFill>
            <a:schemeClr val="tx1"/>
          </a:solidFill>
          <a:latin typeface="+mn-lt"/>
          <a:ea typeface="+mn-lt"/>
          <a:cs typeface="+mn-lt"/>
        </a:defRPr>
      </a:lvl5pPr>
      <a:lvl6pPr marL="1714500" algn="l" defTabSz="685800">
        <a:buNone/>
        <a:defRPr sz="1350" kern="1200">
          <a:solidFill>
            <a:schemeClr val="tx1"/>
          </a:solidFill>
          <a:latin typeface="+mn-lt"/>
          <a:ea typeface="+mn-lt"/>
          <a:cs typeface="+mn-lt"/>
        </a:defRPr>
      </a:lvl6pPr>
      <a:lvl7pPr marL="2057400" algn="l" defTabSz="685800">
        <a:buNone/>
        <a:defRPr sz="1350" kern="1200">
          <a:solidFill>
            <a:schemeClr val="tx1"/>
          </a:solidFill>
          <a:latin typeface="+mn-lt"/>
          <a:ea typeface="+mn-lt"/>
          <a:cs typeface="+mn-lt"/>
        </a:defRPr>
      </a:lvl7pPr>
      <a:lvl8pPr marL="2400300" algn="l" defTabSz="685800">
        <a:buNone/>
        <a:defRPr sz="1350" kern="1200">
          <a:solidFill>
            <a:schemeClr val="tx1"/>
          </a:solidFill>
          <a:latin typeface="+mn-lt"/>
          <a:ea typeface="+mn-lt"/>
          <a:cs typeface="+mn-lt"/>
        </a:defRPr>
      </a:lvl8pPr>
      <a:lvl9pPr marL="2743200" algn="l" defTabSz="685800">
        <a:buNone/>
        <a:defRPr sz="135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0.xml"/><Relationship Id="rId2" Type="http://schemas.openxmlformats.org/officeDocument/2006/relationships/image" Target="../media/image2.jpe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0.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0.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0.xml"/><Relationship Id="rId4" Type="http://schemas.openxmlformats.org/officeDocument/2006/relationships/image" Target="../media/image5.png"/><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0.xml"/><Relationship Id="rId2" Type="http://schemas.openxmlformats.org/officeDocument/2006/relationships/image" Target="../media/image6.pn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0.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0.xml"/><Relationship Id="rId4" Type="http://schemas.openxmlformats.org/officeDocument/2006/relationships/image" Target="../media/image9.png"/><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0.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0.xml"/><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0.xml"/><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10.xml"/><Relationship Id="rId4" Type="http://schemas.openxmlformats.org/officeDocument/2006/relationships/image" Target="../media/image21.jpeg"/><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0.xml"/><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0.xml"/><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0.xml"/><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0.xml"/><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占位符 2"/>
          <p:cNvSpPr>
            <a:spLocks noGrp="1"/>
          </p:cNvSpPr>
          <p:nvPr/>
        </p:nvSpPr>
        <p:spPr>
          <a:xfrm>
            <a:off x="0" y="2942107"/>
            <a:ext cx="9115605" cy="2179803"/>
          </a:xfrm>
          <a:prstGeom prst="rect">
            <a:avLst/>
          </a:prstGeom>
          <a:noFill/>
          <a:ln w="9525">
            <a:noFill/>
          </a:ln>
        </p:spPr>
        <p:txBody>
          <a:bodyPr anchor="ctr"/>
          <a:lstStyle/>
          <a:p>
            <a:pPr marL="1789430" indent="-1789430" algn="ctr">
              <a:lnSpc>
                <a:spcPct val="135000"/>
              </a:lnSpc>
              <a:spcBef>
                <a:spcPts val="125"/>
              </a:spcBef>
              <a:spcAft>
                <a:spcPts val="0"/>
              </a:spcAft>
              <a:buFont typeface="Arial" panose="020B0604020202020204"/>
              <a:buNone/>
              <a:tabLst>
                <a:tab pos="1788795" algn="l"/>
              </a:tabLst>
            </a:pPr>
            <a:endParaRPr sz="2400" b="1">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endParaRPr>
          </a:p>
          <a:p>
            <a:pPr marL="1789430" indent="-1789430" algn="ctr">
              <a:lnSpc>
                <a:spcPct val="135000"/>
              </a:lnSpc>
              <a:spcBef>
                <a:spcPts val="125"/>
              </a:spcBef>
              <a:spcAft>
                <a:spcPts val="0"/>
              </a:spcAft>
              <a:buFont typeface="Arial" panose="020B0604020202020204"/>
              <a:buNone/>
              <a:tabLst>
                <a:tab pos="1788795" algn="l"/>
              </a:tabLst>
            </a:pPr>
            <a:r>
              <a:rPr sz="2400" b="1">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rPr>
              <a:t>华东分部生技部、武汉南瑞</a:t>
            </a:r>
            <a:endParaRPr sz="2400" b="1">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endParaRPr>
          </a:p>
          <a:p>
            <a:pPr marL="1789430" indent="-1789430" algn="ctr">
              <a:lnSpc>
                <a:spcPct val="135000"/>
              </a:lnSpc>
              <a:spcBef>
                <a:spcPts val="125"/>
              </a:spcBef>
              <a:spcAft>
                <a:spcPts val="0"/>
              </a:spcAft>
              <a:buFont typeface="Arial" panose="020B0604020202020204"/>
              <a:buNone/>
              <a:tabLst>
                <a:tab pos="1788795" algn="l"/>
              </a:tabLst>
            </a:pPr>
            <a:r>
              <a:rPr sz="2400" b="1">
                <a:latin typeface="微软雅黑" panose="020B0503020204020204" charset="-122"/>
                <a:ea typeface="微软雅黑" panose="020B0503020204020204" charset="-122"/>
                <a:cs typeface="微软雅黑" panose="020B0503020204020204" charset="-122"/>
              </a:rPr>
              <a:t>2026年8月</a:t>
            </a:r>
            <a:endParaRPr sz="2400">
              <a:solidFill>
                <a:schemeClr val="tx1"/>
              </a:solidFill>
              <a:latin typeface="微软雅黑" panose="020B0503020204020204" charset="-122"/>
              <a:ea typeface="微软雅黑" panose="020B0503020204020204" charset="-122"/>
              <a:cs typeface="微软雅黑" panose="020B0503020204020204" charset="-122"/>
            </a:endParaRPr>
          </a:p>
        </p:txBody>
      </p:sp>
      <p:pic>
        <p:nvPicPr>
          <p:cNvPr id="14" name="图片 1"/>
          <p:cNvPicPr>
            <a:picLocks noChangeAspect="1"/>
          </p:cNvPicPr>
          <p:nvPr/>
        </p:nvPicPr>
        <p:blipFill>
          <a:blip r:embed="rId1"/>
          <a:stretch>
            <a:fillRect/>
          </a:stretch>
        </p:blipFill>
        <p:spPr>
          <a:xfrm>
            <a:off x="6598" y="987574"/>
            <a:ext cx="9115129" cy="2520280"/>
          </a:xfrm>
          <a:prstGeom prst="rect">
            <a:avLst/>
          </a:prstGeom>
          <a:ln w="9525">
            <a:noFill/>
          </a:ln>
        </p:spPr>
      </p:pic>
      <p:sp>
        <p:nvSpPr>
          <p:cNvPr id="10" name="TextBox 6"/>
          <p:cNvSpPr>
            <a:spLocks noGrp="1"/>
          </p:cNvSpPr>
          <p:nvPr/>
        </p:nvSpPr>
        <p:spPr>
          <a:xfrm>
            <a:off x="14197" y="1249290"/>
            <a:ext cx="9115605" cy="2061210"/>
          </a:xfrm>
          <a:prstGeom prst="rect">
            <a:avLst/>
          </a:prstGeom>
          <a:noFill/>
        </p:spPr>
        <p:txBody>
          <a:bodyPr wrap="square">
            <a:spAutoFit/>
          </a:bodyPr>
          <a:lstStyle/>
          <a:p>
            <a:pPr algn="ctr">
              <a:buNone/>
            </a:pPr>
            <a:r>
              <a:rPr sz="3200" b="1">
                <a:solidFill>
                  <a:schemeClr val="bg1"/>
                </a:solidFill>
                <a:latin typeface="微软雅黑" panose="020B0503020204020204" charset="-122"/>
                <a:ea typeface="微软雅黑" panose="020B0503020204020204" charset="-122"/>
                <a:cs typeface="微软雅黑" panose="020B0503020204020204" charset="-122"/>
              </a:rPr>
              <a:t>2026年国网华东分部基于多模态数据分析的电网安全智能管控关键技术研究</a:t>
            </a:r>
            <a:endParaRPr sz="3200" b="1">
              <a:solidFill>
                <a:schemeClr val="bg1"/>
              </a:solidFill>
              <a:latin typeface="微软雅黑" panose="020B0503020204020204" charset="-122"/>
              <a:ea typeface="微软雅黑" panose="020B0503020204020204" charset="-122"/>
              <a:cs typeface="微软雅黑" panose="020B0503020204020204" charset="-122"/>
            </a:endParaRPr>
          </a:p>
          <a:p>
            <a:pPr algn="ctr">
              <a:buNone/>
            </a:pPr>
            <a:endParaRPr sz="3200" b="1">
              <a:solidFill>
                <a:schemeClr val="bg1"/>
              </a:solidFill>
              <a:latin typeface="微软雅黑" panose="020B0503020204020204" charset="-122"/>
              <a:ea typeface="微软雅黑" panose="020B0503020204020204" charset="-122"/>
              <a:cs typeface="微软雅黑" panose="020B0503020204020204" charset="-122"/>
            </a:endParaRPr>
          </a:p>
          <a:p>
            <a:pPr algn="ctr">
              <a:buNone/>
            </a:pPr>
            <a:r>
              <a:rPr sz="3200" b="1">
                <a:solidFill>
                  <a:schemeClr val="bg1"/>
                </a:solidFill>
                <a:latin typeface="微软雅黑" panose="020B0503020204020204" charset="-122"/>
                <a:ea typeface="微软雅黑" panose="020B0503020204020204" charset="-122"/>
                <a:cs typeface="微软雅黑" panose="020B0503020204020204" charset="-122"/>
              </a:rPr>
              <a:t>项目阶段性进展汇报</a:t>
            </a:r>
            <a:endParaRPr sz="3200" b="1">
              <a:solidFill>
                <a:schemeClr val="bg1"/>
              </a:solidFill>
              <a:latin typeface="微软雅黑" panose="020B0503020204020204" charset="-122"/>
              <a:ea typeface="微软雅黑" panose="020B0503020204020204" charset="-122"/>
              <a:cs typeface="微软雅黑" panose="020B0503020204020204" charset="-122"/>
            </a:endParaRPr>
          </a:p>
        </p:txBody>
      </p:sp>
      <p:pic>
        <p:nvPicPr>
          <p:cNvPr id="16" name="Picture 2"/>
          <p:cNvPicPr>
            <a:picLocks noChangeAspect="1"/>
          </p:cNvPicPr>
          <p:nvPr/>
        </p:nvPicPr>
        <p:blipFill>
          <a:blip r:embed="rId2"/>
          <a:srcRect l="68782" t="1129" r="1331" b="85966"/>
          <a:stretch>
            <a:fillRect/>
          </a:stretch>
        </p:blipFill>
        <p:spPr>
          <a:xfrm>
            <a:off x="6948264" y="18780"/>
            <a:ext cx="2195736" cy="701675"/>
          </a:xfrm>
          <a:prstGeom prst="rect">
            <a:avLst/>
          </a:prstGeom>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矩形 8"/>
          <p:cNvSpPr>
            <a:spLocks noGrp="1"/>
          </p:cNvSpPr>
          <p:nvPr/>
        </p:nvSpPr>
        <p:spPr>
          <a:xfrm>
            <a:off x="275590" y="699542"/>
            <a:ext cx="2174755" cy="4334349"/>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000">
              <a:latin typeface="微软雅黑" panose="020B0503020204020204" charset="-122"/>
              <a:ea typeface="微软雅黑" panose="020B0503020204020204" charset="-122"/>
              <a:cs typeface="微软雅黑" panose="020B0503020204020204" charset="-122"/>
            </a:endParaRPr>
          </a:p>
        </p:txBody>
      </p:sp>
      <p:sp>
        <p:nvSpPr>
          <p:cNvPr id="14" name="文本框 13"/>
          <p:cNvSpPr>
            <a:spLocks noGrp="1"/>
          </p:cNvSpPr>
          <p:nvPr/>
        </p:nvSpPr>
        <p:spPr>
          <a:xfrm>
            <a:off x="275590" y="2140213"/>
            <a:ext cx="2183260" cy="460199"/>
          </a:xfrm>
          <a:prstGeom prst="rect">
            <a:avLst/>
          </a:prstGeom>
          <a:noFill/>
        </p:spPr>
        <p:txBody>
          <a:bodyPr wrap="square">
            <a:spAutoFit/>
          </a:bodyPr>
          <a:lstStyle/>
          <a:p>
            <a:r>
              <a:rPr sz="2400">
                <a:solidFill>
                  <a:schemeClr val="bg1"/>
                </a:solidFill>
                <a:latin typeface="微软雅黑" panose="020B0503020204020204" charset="-122"/>
                <a:ea typeface="微软雅黑" panose="020B0503020204020204" charset="-122"/>
                <a:cs typeface="微软雅黑" panose="020B0503020204020204" charset="-122"/>
              </a:rPr>
              <a:t>CONTENTS</a:t>
            </a:r>
            <a:endParaRPr sz="24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5" name="文本框 14"/>
          <p:cNvSpPr>
            <a:spLocks noGrp="1"/>
          </p:cNvSpPr>
          <p:nvPr/>
        </p:nvSpPr>
        <p:spPr>
          <a:xfrm>
            <a:off x="557457" y="2543022"/>
            <a:ext cx="940369" cy="460199"/>
          </a:xfrm>
          <a:prstGeom prst="rect">
            <a:avLst/>
          </a:prstGeom>
          <a:noFill/>
        </p:spPr>
        <p:txBody>
          <a:bodyPr wrap="square">
            <a:spAutoFit/>
          </a:bodyPr>
          <a:lstStyle/>
          <a:p>
            <a:r>
              <a:rPr sz="2400" b="1">
                <a:solidFill>
                  <a:schemeClr val="bg1"/>
                </a:solidFill>
                <a:latin typeface="微软雅黑" panose="020B0503020204020204" charset="-122"/>
                <a:ea typeface="微软雅黑" panose="020B0503020204020204" charset="-122"/>
                <a:cs typeface="微软雅黑" panose="020B0503020204020204" charset="-122"/>
              </a:rPr>
              <a:t>目 录</a:t>
            </a:r>
            <a:endParaRPr sz="24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nvSpPr>
        <p:spPr>
          <a:xfrm flipV="1">
            <a:off x="725727" y="3129803"/>
            <a:ext cx="335932" cy="34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latin typeface="微软雅黑" panose="020B0503020204020204" charset="-122"/>
              <a:ea typeface="微软雅黑" panose="020B0503020204020204" charset="-122"/>
              <a:cs typeface="微软雅黑" panose="020B0503020204020204" charset="-122"/>
            </a:endParaRPr>
          </a:p>
        </p:txBody>
      </p:sp>
      <p:sp>
        <p:nvSpPr>
          <p:cNvPr id="48" name="文本框 47"/>
          <p:cNvSpPr>
            <a:spLocks noGrp="1"/>
          </p:cNvSpPr>
          <p:nvPr/>
        </p:nvSpPr>
        <p:spPr>
          <a:xfrm>
            <a:off x="275590" y="2141286"/>
            <a:ext cx="2183260" cy="460199"/>
          </a:xfrm>
          <a:prstGeom prst="rect">
            <a:avLst/>
          </a:prstGeom>
          <a:noFill/>
        </p:spPr>
        <p:txBody>
          <a:bodyPr wrap="square">
            <a:spAutoFit/>
          </a:bodyPr>
          <a:lstStyle/>
          <a:p>
            <a:r>
              <a:rPr sz="2400">
                <a:solidFill>
                  <a:schemeClr val="bg1"/>
                </a:solidFill>
                <a:latin typeface="微软雅黑" panose="020B0503020204020204" charset="-122"/>
                <a:ea typeface="微软雅黑" panose="020B0503020204020204" charset="-122"/>
                <a:cs typeface="微软雅黑" panose="020B0503020204020204" charset="-122"/>
              </a:rPr>
              <a:t>CONTENTS</a:t>
            </a:r>
            <a:endParaRPr sz="24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0" name="矩形 19"/>
          <p:cNvSpPr>
            <a:spLocks noGrp="1"/>
          </p:cNvSpPr>
          <p:nvPr/>
        </p:nvSpPr>
        <p:spPr>
          <a:xfrm>
            <a:off x="8744278" y="982557"/>
            <a:ext cx="72697" cy="1858953"/>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000">
              <a:latin typeface="微软雅黑" panose="020B0503020204020204" charset="-122"/>
              <a:ea typeface="微软雅黑" panose="020B0503020204020204" charset="-122"/>
              <a:cs typeface="微软雅黑" panose="020B0503020204020204" charset="-122"/>
            </a:endParaRPr>
          </a:p>
        </p:txBody>
      </p:sp>
      <p:sp>
        <p:nvSpPr>
          <p:cNvPr id="36" name="矩形 35"/>
          <p:cNvSpPr>
            <a:spLocks noGrp="1"/>
          </p:cNvSpPr>
          <p:nvPr/>
        </p:nvSpPr>
        <p:spPr>
          <a:xfrm>
            <a:off x="8744278" y="2799006"/>
            <a:ext cx="72697" cy="1858953"/>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000">
              <a:latin typeface="微软雅黑" panose="020B0503020204020204" charset="-122"/>
              <a:ea typeface="微软雅黑" panose="020B0503020204020204" charset="-122"/>
              <a:cs typeface="微软雅黑" panose="020B0503020204020204" charset="-122"/>
            </a:endParaRPr>
          </a:p>
        </p:txBody>
      </p:sp>
      <p:sp>
        <p:nvSpPr>
          <p:cNvPr id="10" name="矩形 32"/>
          <p:cNvSpPr>
            <a:spLocks noGrp="1"/>
          </p:cNvSpPr>
          <p:nvPr/>
        </p:nvSpPr>
        <p:spPr>
          <a:xfrm>
            <a:off x="3337835" y="1684153"/>
            <a:ext cx="479937" cy="591522"/>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anchor="ctr">
            <a:noAutofit/>
          </a:bodyPr>
          <a:lstStyle/>
          <a:p>
            <a:pPr algn="ctr" defTabSz="685165">
              <a:buNone/>
            </a:pPr>
            <a:r>
              <a:rPr sz="2400" b="1">
                <a:solidFill>
                  <a:prstClr val="white"/>
                </a:solidFill>
                <a:latin typeface="微软雅黑" panose="020B0503020204020204" charset="-122"/>
                <a:ea typeface="微软雅黑" panose="020B0503020204020204" charset="-122"/>
                <a:cs typeface="微软雅黑" panose="020B0503020204020204" charset="-122"/>
              </a:rPr>
              <a:t>一</a:t>
            </a:r>
            <a:endParaRPr sz="2400" b="1">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1" name="矩形 13"/>
          <p:cNvSpPr>
            <a:spLocks noGrp="1"/>
          </p:cNvSpPr>
          <p:nvPr/>
        </p:nvSpPr>
        <p:spPr>
          <a:xfrm>
            <a:off x="4129971" y="1679101"/>
            <a:ext cx="3655356" cy="598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anchor="ctr">
            <a:noAutofit/>
          </a:bodyPr>
          <a:lstStyle/>
          <a:p>
            <a:pPr lvl="0" algn="l" defTabSz="913765">
              <a:buClrTx/>
              <a:buSzTx/>
              <a:buFontTx/>
              <a:buNone/>
            </a:pPr>
            <a:r>
              <a:rPr sz="2400" b="1">
                <a:solidFill>
                  <a:schemeClr val="tx1"/>
                </a:solidFill>
                <a:latin typeface="微软雅黑" panose="020B0503020204020204" charset="-122"/>
                <a:ea typeface="微软雅黑" panose="020B0503020204020204" charset="-122"/>
                <a:cs typeface="微软雅黑" panose="020B0503020204020204" charset="-122"/>
              </a:rPr>
              <a:t>必要性分析</a:t>
            </a:r>
            <a:endParaRPr sz="24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2" name="矩形 32"/>
          <p:cNvSpPr>
            <a:spLocks noGrp="1"/>
          </p:cNvSpPr>
          <p:nvPr/>
        </p:nvSpPr>
        <p:spPr>
          <a:xfrm>
            <a:off x="3337836" y="3389264"/>
            <a:ext cx="479937" cy="598400"/>
          </a:xfrm>
          <a:prstGeom prst="rect">
            <a:avLst/>
          </a:prstGeom>
          <a:solidFill>
            <a:srgbClr val="24316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anchor="ctr">
            <a:noAutofit/>
          </a:bodyPr>
          <a:lstStyle/>
          <a:p>
            <a:pPr lvl="0" algn="ctr" defTabSz="685165">
              <a:buClrTx/>
              <a:buSzTx/>
              <a:buFontTx/>
              <a:buNone/>
            </a:pPr>
            <a:r>
              <a:rPr sz="2400" b="1">
                <a:solidFill>
                  <a:prstClr val="white"/>
                </a:solidFill>
                <a:latin typeface="微软雅黑" panose="020B0503020204020204" charset="-122"/>
                <a:ea typeface="微软雅黑" panose="020B0503020204020204" charset="-122"/>
                <a:cs typeface="微软雅黑" panose="020B0503020204020204" charset="-122"/>
              </a:rPr>
              <a:t>三</a:t>
            </a:r>
            <a:endParaRPr sz="2400" b="1">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3" name="矩形 13"/>
          <p:cNvSpPr>
            <a:spLocks noGrp="1"/>
          </p:cNvSpPr>
          <p:nvPr/>
        </p:nvSpPr>
        <p:spPr>
          <a:xfrm>
            <a:off x="4129971" y="3387387"/>
            <a:ext cx="3655356" cy="598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anchor="ctr">
            <a:noAutofit/>
          </a:bodyPr>
          <a:lstStyle/>
          <a:p>
            <a:pPr defTabSz="913765">
              <a:buNone/>
            </a:pPr>
            <a:r>
              <a:rPr sz="2400" b="1">
                <a:solidFill>
                  <a:prstClr val="white"/>
                </a:solidFill>
                <a:latin typeface="微软雅黑" panose="020B0503020204020204" charset="-122"/>
                <a:ea typeface="微软雅黑" panose="020B0503020204020204" charset="-122"/>
                <a:cs typeface="微软雅黑" panose="020B0503020204020204" charset="-122"/>
              </a:rPr>
              <a:t>拟解决问题</a:t>
            </a:r>
            <a:endParaRPr sz="2400" b="1">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5" name="矩形 32"/>
          <p:cNvSpPr>
            <a:spLocks noGrp="1"/>
          </p:cNvSpPr>
          <p:nvPr/>
        </p:nvSpPr>
        <p:spPr>
          <a:xfrm>
            <a:off x="3337836" y="2534495"/>
            <a:ext cx="480466" cy="550879"/>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anchor="ctr">
            <a:noAutofit/>
          </a:bodyPr>
          <a:lstStyle/>
          <a:p>
            <a:pPr lvl="0" algn="ctr" defTabSz="685165">
              <a:buClrTx/>
              <a:buSzTx/>
              <a:buFontTx/>
              <a:buNone/>
            </a:pPr>
            <a:r>
              <a:rPr sz="2400" b="1">
                <a:solidFill>
                  <a:prstClr val="white"/>
                </a:solidFill>
                <a:latin typeface="微软雅黑" panose="020B0503020204020204" charset="-122"/>
                <a:ea typeface="微软雅黑" panose="020B0503020204020204" charset="-122"/>
                <a:cs typeface="微软雅黑" panose="020B0503020204020204" charset="-122"/>
              </a:rPr>
              <a:t>二</a:t>
            </a:r>
            <a:endParaRPr sz="2400" b="1">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6" name="矩形 13"/>
          <p:cNvSpPr>
            <a:spLocks noGrp="1"/>
          </p:cNvSpPr>
          <p:nvPr/>
        </p:nvSpPr>
        <p:spPr>
          <a:xfrm>
            <a:off x="4116214" y="2533245"/>
            <a:ext cx="3655356" cy="598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anchor="ctr">
            <a:noAutofit/>
          </a:bodyPr>
          <a:lstStyle/>
          <a:p>
            <a:pPr lvl="0" algn="l" defTabSz="913765">
              <a:buClrTx/>
              <a:buSzTx/>
              <a:buFontTx/>
              <a:buNone/>
            </a:pPr>
            <a:r>
              <a:rPr sz="2400" b="1">
                <a:solidFill>
                  <a:prstClr val="white"/>
                </a:solidFill>
                <a:latin typeface="微软雅黑" panose="020B0503020204020204" charset="-122"/>
                <a:ea typeface="微软雅黑" panose="020B0503020204020204" charset="-122"/>
                <a:cs typeface="微软雅黑" panose="020B0503020204020204" charset="-122"/>
              </a:rPr>
              <a:t>研究现状</a:t>
            </a:r>
            <a:endParaRPr sz="2400" b="1">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26" name="矩形 13"/>
          <p:cNvSpPr>
            <a:spLocks noGrp="1"/>
          </p:cNvSpPr>
          <p:nvPr/>
        </p:nvSpPr>
        <p:spPr>
          <a:xfrm>
            <a:off x="4130500" y="3388013"/>
            <a:ext cx="3655356" cy="598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anchor="ctr">
            <a:noAutofit/>
          </a:bodyPr>
          <a:lstStyle/>
          <a:p>
            <a:pPr defTabSz="913765">
              <a:buNone/>
            </a:pPr>
            <a:r>
              <a:rPr sz="2400" b="1">
                <a:solidFill>
                  <a:schemeClr val="tx1"/>
                </a:solidFill>
                <a:latin typeface="微软雅黑" panose="020B0503020204020204" charset="-122"/>
                <a:ea typeface="微软雅黑" panose="020B0503020204020204" charset="-122"/>
                <a:cs typeface="微软雅黑" panose="020B0503020204020204" charset="-122"/>
              </a:rPr>
              <a:t>拟解决问题</a:t>
            </a:r>
            <a:endParaRPr sz="24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28" name="矩形 13"/>
          <p:cNvSpPr>
            <a:spLocks noGrp="1"/>
          </p:cNvSpPr>
          <p:nvPr/>
        </p:nvSpPr>
        <p:spPr>
          <a:xfrm>
            <a:off x="4129971" y="2532620"/>
            <a:ext cx="3655356" cy="598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anchor="ctr">
            <a:noAutofit/>
          </a:bodyPr>
          <a:lstStyle/>
          <a:p>
            <a:pPr lvl="0" algn="l" defTabSz="913765">
              <a:buClrTx/>
              <a:buSzTx/>
              <a:buFontTx/>
              <a:buNone/>
            </a:pPr>
            <a:r>
              <a:rPr sz="2400" b="1">
                <a:solidFill>
                  <a:schemeClr val="tx1"/>
                </a:solidFill>
                <a:latin typeface="微软雅黑" panose="020B0503020204020204" charset="-122"/>
                <a:ea typeface="微软雅黑" panose="020B0503020204020204" charset="-122"/>
                <a:cs typeface="微软雅黑" panose="020B0503020204020204" charset="-122"/>
              </a:rPr>
              <a:t>研究现状</a:t>
            </a:r>
            <a:endParaRPr sz="24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3" name="矩形 13"/>
          <p:cNvSpPr>
            <a:spLocks noGrp="1"/>
          </p:cNvSpPr>
          <p:nvPr/>
        </p:nvSpPr>
        <p:spPr>
          <a:xfrm>
            <a:off x="4126937" y="1713619"/>
            <a:ext cx="3655356" cy="598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anchor="ctr">
            <a:noAutofit/>
          </a:bodyPr>
          <a:lstStyle/>
          <a:p>
            <a:pPr lvl="0" algn="l" defTabSz="913765">
              <a:buClrTx/>
              <a:buSzTx/>
              <a:buFontTx/>
              <a:buNone/>
            </a:pPr>
            <a:r>
              <a:rPr sz="2800" b="1">
                <a:solidFill>
                  <a:schemeClr val="bg1"/>
                </a:solidFill>
                <a:latin typeface="微软雅黑" panose="020B0503020204020204" charset="-122"/>
                <a:ea typeface="微软雅黑" panose="020B0503020204020204" charset="-122"/>
                <a:cs typeface="微软雅黑" panose="020B0503020204020204" charset="-122"/>
              </a:rPr>
              <a:t>必要性分析</a:t>
            </a:r>
            <a:endParaRPr sz="28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 name="矩形 13"/>
          <p:cNvSpPr>
            <a:spLocks noGrp="1"/>
          </p:cNvSpPr>
          <p:nvPr/>
        </p:nvSpPr>
        <p:spPr>
          <a:xfrm>
            <a:off x="4144788" y="3388639"/>
            <a:ext cx="3655356" cy="598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anchor="ctr">
            <a:noAutofit/>
          </a:bodyPr>
          <a:lstStyle/>
          <a:p>
            <a:pPr defTabSz="913765">
              <a:buNone/>
            </a:pPr>
            <a:r>
              <a:rPr sz="2800">
                <a:solidFill>
                  <a:prstClr val="white"/>
                </a:solidFill>
                <a:latin typeface="微软雅黑" panose="020B0503020204020204" charset="-122"/>
                <a:ea typeface="微软雅黑" panose="020B0503020204020204" charset="-122"/>
                <a:cs typeface="微软雅黑" panose="020B0503020204020204" charset="-122"/>
              </a:rPr>
              <a:t>计划与验证</a:t>
            </a:r>
            <a:endParaRPr sz="280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32" name="矩形 13"/>
          <p:cNvSpPr>
            <a:spLocks noGrp="1"/>
          </p:cNvSpPr>
          <p:nvPr/>
        </p:nvSpPr>
        <p:spPr>
          <a:xfrm>
            <a:off x="4144258" y="2533245"/>
            <a:ext cx="3655356" cy="598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anchor="ctr">
            <a:noAutofit/>
          </a:bodyPr>
          <a:lstStyle/>
          <a:p>
            <a:pPr lvl="0" algn="l" defTabSz="913765">
              <a:buClrTx/>
              <a:buSzTx/>
              <a:buFontTx/>
              <a:buNone/>
            </a:pPr>
            <a:r>
              <a:rPr sz="2800">
                <a:solidFill>
                  <a:prstClr val="white"/>
                </a:solidFill>
                <a:latin typeface="微软雅黑" panose="020B0503020204020204" charset="-122"/>
                <a:ea typeface="微软雅黑" panose="020B0503020204020204" charset="-122"/>
                <a:cs typeface="微软雅黑" panose="020B0503020204020204" charset="-122"/>
              </a:rPr>
              <a:t>技术与成果</a:t>
            </a:r>
            <a:endParaRPr sz="280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34" name="矩形 32"/>
          <p:cNvSpPr>
            <a:spLocks noGrp="1"/>
          </p:cNvSpPr>
          <p:nvPr/>
        </p:nvSpPr>
        <p:spPr>
          <a:xfrm>
            <a:off x="3337836" y="3388639"/>
            <a:ext cx="479937" cy="598400"/>
          </a:xfrm>
          <a:prstGeom prst="rect">
            <a:avLst/>
          </a:prstGeom>
          <a:solidFill>
            <a:srgbClr val="24316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anchor="ctr">
            <a:noAutofit/>
          </a:bodyPr>
          <a:lstStyle/>
          <a:p>
            <a:pPr lvl="0" algn="ctr" defTabSz="685165">
              <a:buClrTx/>
              <a:buSzTx/>
              <a:buFontTx/>
              <a:buNone/>
            </a:pPr>
            <a:r>
              <a:rPr sz="2400" b="1">
                <a:solidFill>
                  <a:prstClr val="white"/>
                </a:solidFill>
                <a:latin typeface="微软雅黑" panose="020B0503020204020204" charset="-122"/>
                <a:ea typeface="微软雅黑" panose="020B0503020204020204" charset="-122"/>
                <a:cs typeface="微软雅黑" panose="020B0503020204020204" charset="-122"/>
              </a:rPr>
              <a:t>三</a:t>
            </a:r>
            <a:endParaRPr sz="2400" b="1">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39" name="矩形 32"/>
          <p:cNvSpPr>
            <a:spLocks noGrp="1"/>
          </p:cNvSpPr>
          <p:nvPr/>
        </p:nvSpPr>
        <p:spPr>
          <a:xfrm>
            <a:off x="3319316" y="3381761"/>
            <a:ext cx="479937" cy="598400"/>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anchor="ctr">
            <a:noAutofit/>
          </a:bodyPr>
          <a:lstStyle/>
          <a:p>
            <a:pPr lvl="0" algn="ctr" defTabSz="685165">
              <a:buClrTx/>
              <a:buSzTx/>
              <a:buFontTx/>
              <a:buNone/>
            </a:pPr>
            <a:r>
              <a:rPr sz="2400" b="1">
                <a:solidFill>
                  <a:prstClr val="white"/>
                </a:solidFill>
                <a:latin typeface="微软雅黑" panose="020B0503020204020204" charset="-122"/>
                <a:ea typeface="微软雅黑" panose="020B0503020204020204" charset="-122"/>
                <a:cs typeface="微软雅黑" panose="020B0503020204020204" charset="-122"/>
              </a:rPr>
              <a:t>三</a:t>
            </a:r>
            <a:endParaRPr sz="2400" b="1">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43" name="矩形 32"/>
          <p:cNvSpPr>
            <a:spLocks noGrp="1"/>
          </p:cNvSpPr>
          <p:nvPr/>
        </p:nvSpPr>
        <p:spPr>
          <a:xfrm>
            <a:off x="3351595" y="2556380"/>
            <a:ext cx="480466" cy="550879"/>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anchor="ctr">
            <a:noAutofit/>
          </a:bodyPr>
          <a:lstStyle/>
          <a:p>
            <a:pPr lvl="0" algn="ctr" defTabSz="685165">
              <a:buClrTx/>
              <a:buSzTx/>
              <a:buFontTx/>
              <a:buNone/>
            </a:pPr>
            <a:r>
              <a:rPr sz="2800" b="1">
                <a:solidFill>
                  <a:prstClr val="white"/>
                </a:solidFill>
                <a:latin typeface="微软雅黑" panose="020B0503020204020204" charset="-122"/>
                <a:ea typeface="微软雅黑" panose="020B0503020204020204" charset="-122"/>
                <a:cs typeface="微软雅黑" panose="020B0503020204020204" charset="-122"/>
              </a:rPr>
              <a:t>二</a:t>
            </a:r>
            <a:endParaRPr sz="2800" b="1">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44" name="矩形 32"/>
          <p:cNvSpPr>
            <a:spLocks noGrp="1"/>
          </p:cNvSpPr>
          <p:nvPr/>
        </p:nvSpPr>
        <p:spPr>
          <a:xfrm>
            <a:off x="3352122" y="1713619"/>
            <a:ext cx="479937" cy="591522"/>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anchor="ctr">
            <a:noAutofit/>
          </a:bodyPr>
          <a:lstStyle/>
          <a:p>
            <a:pPr algn="ctr" defTabSz="685165">
              <a:buNone/>
            </a:pPr>
            <a:r>
              <a:rPr sz="2800" b="1">
                <a:solidFill>
                  <a:prstClr val="white"/>
                </a:solidFill>
                <a:latin typeface="微软雅黑" panose="020B0503020204020204" charset="-122"/>
                <a:ea typeface="微软雅黑" panose="020B0503020204020204" charset="-122"/>
                <a:cs typeface="微软雅黑" panose="020B0503020204020204" charset="-122"/>
              </a:rPr>
              <a:t>一</a:t>
            </a:r>
            <a:endParaRPr sz="2800" b="1">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45" name="矩形 32"/>
          <p:cNvSpPr>
            <a:spLocks noGrp="1"/>
          </p:cNvSpPr>
          <p:nvPr/>
        </p:nvSpPr>
        <p:spPr>
          <a:xfrm>
            <a:off x="3356885" y="3405521"/>
            <a:ext cx="479937" cy="598400"/>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anchor="ctr">
            <a:noAutofit/>
          </a:bodyPr>
          <a:lstStyle/>
          <a:p>
            <a:pPr lvl="0" algn="ctr" defTabSz="685165">
              <a:buClrTx/>
              <a:buSzTx/>
              <a:buFontTx/>
              <a:buNone/>
            </a:pPr>
            <a:r>
              <a:rPr sz="2800" b="1">
                <a:solidFill>
                  <a:prstClr val="white"/>
                </a:solidFill>
                <a:latin typeface="微软雅黑" panose="020B0503020204020204" charset="-122"/>
                <a:ea typeface="微软雅黑" panose="020B0503020204020204" charset="-122"/>
                <a:cs typeface="微软雅黑" panose="020B0503020204020204" charset="-122"/>
              </a:rPr>
              <a:t>三</a:t>
            </a:r>
            <a:endParaRPr sz="2800" b="1">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25" name="矩形 13"/>
          <p:cNvSpPr>
            <a:spLocks noGrp="1"/>
          </p:cNvSpPr>
          <p:nvPr/>
        </p:nvSpPr>
        <p:spPr>
          <a:xfrm>
            <a:off x="4130500" y="1706225"/>
            <a:ext cx="3655356" cy="598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anchor="ctr">
            <a:noAutofit/>
          </a:bodyPr>
          <a:lstStyle/>
          <a:p>
            <a:pPr lvl="0" algn="l" defTabSz="913765">
              <a:buClrTx/>
              <a:buSzTx/>
              <a:buFontTx/>
              <a:buNone/>
            </a:pPr>
            <a:r>
              <a:rPr sz="2800" b="1">
                <a:solidFill>
                  <a:srgbClr val="C00000"/>
                </a:solidFill>
                <a:latin typeface="微软雅黑" panose="020B0503020204020204" charset="-122"/>
                <a:ea typeface="微软雅黑" panose="020B0503020204020204" charset="-122"/>
                <a:cs typeface="微软雅黑" panose="020B0503020204020204" charset="-122"/>
              </a:rPr>
              <a:t>阶段进展</a:t>
            </a:r>
            <a:endParaRPr sz="2800" b="1">
              <a:solidFill>
                <a:srgbClr val="C00000"/>
              </a:solidFill>
              <a:latin typeface="微软雅黑" panose="020B0503020204020204" charset="-122"/>
              <a:ea typeface="微软雅黑" panose="020B0503020204020204" charset="-122"/>
              <a:cs typeface="微软雅黑" panose="020B0503020204020204" charset="-122"/>
            </a:endParaRPr>
          </a:p>
        </p:txBody>
      </p:sp>
      <p:pic>
        <p:nvPicPr>
          <p:cNvPr id="74" name="Picture 2"/>
          <p:cNvPicPr>
            <a:picLocks noChangeAspect="1"/>
          </p:cNvPicPr>
          <p:nvPr/>
        </p:nvPicPr>
        <p:blipFill>
          <a:blip r:embed="rId1"/>
          <a:srcRect l="68782" t="1129" r="1331" b="85966"/>
          <a:stretch>
            <a:fillRect/>
          </a:stretch>
        </p:blipFill>
        <p:spPr>
          <a:xfrm>
            <a:off x="6948264" y="18780"/>
            <a:ext cx="2195736" cy="701675"/>
          </a:xfrm>
          <a:prstGeom prst="rect">
            <a:avLst/>
          </a:prstGeom>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323528" y="51976"/>
            <a:ext cx="2031325" cy="830997"/>
          </a:xfrm>
          <a:prstGeom prst="rect">
            <a:avLst/>
          </a:prstGeom>
        </p:spPr>
        <p:txBody>
          <a:bodyPr wrap="none">
            <a:spAutoFit/>
          </a:bodyPr>
          <a:lstStyle/>
          <a:p>
            <a:pPr lvl="0" defTabSz="913765">
              <a:buNone/>
            </a:pPr>
            <a:r>
              <a:rPr sz="2400" b="1">
                <a:latin typeface="微软雅黑" panose="020B0503020204020204" charset="-122"/>
                <a:ea typeface="微软雅黑" panose="020B0503020204020204" charset="-122"/>
                <a:cs typeface="微软雅黑" panose="020B0503020204020204" charset="-122"/>
              </a:rPr>
              <a:t>一、阶段进展</a:t>
            </a:r>
            <a:endParaRPr sz="2400" b="1">
              <a:latin typeface="微软雅黑" panose="020B0503020204020204" charset="-122"/>
              <a:ea typeface="微软雅黑" panose="020B0503020204020204" charset="-122"/>
              <a:cs typeface="微软雅黑" panose="020B0503020204020204" charset="-122"/>
            </a:endParaRPr>
          </a:p>
        </p:txBody>
      </p:sp>
      <p:pic>
        <p:nvPicPr>
          <p:cNvPr id="13" name="Picture 2"/>
          <p:cNvPicPr>
            <a:picLocks noChangeAspect="1"/>
          </p:cNvPicPr>
          <p:nvPr/>
        </p:nvPicPr>
        <p:blipFill>
          <a:blip r:embed="rId1"/>
          <a:srcRect l="68782" t="1129" r="1331" b="85966"/>
          <a:stretch>
            <a:fillRect/>
          </a:stretch>
        </p:blipFill>
        <p:spPr>
          <a:xfrm>
            <a:off x="6948264" y="18780"/>
            <a:ext cx="2195736" cy="701675"/>
          </a:xfrm>
          <a:prstGeom prst="rect">
            <a:avLst/>
          </a:prstGeom>
          <a:ln>
            <a:noFill/>
          </a:ln>
        </p:spPr>
      </p:pic>
      <p:sp>
        <p:nvSpPr>
          <p:cNvPr id="10" name="Text Box 4"/>
          <p:cNvSpPr>
            <a:spLocks noGrp="1"/>
          </p:cNvSpPr>
          <p:nvPr/>
        </p:nvSpPr>
        <p:spPr>
          <a:xfrm>
            <a:off x="2894754" y="68009"/>
            <a:ext cx="3528392" cy="396583"/>
          </a:xfrm>
          <a:prstGeom prst="rect">
            <a:avLst/>
          </a:prstGeom>
          <a:noFill/>
          <a:ln w="9525">
            <a:noFill/>
          </a:ln>
        </p:spPr>
        <p:txBody>
          <a:bodyPr wrap="square" anchor="t">
            <a:spAutoFit/>
          </a:bodyPr>
          <a:lstStyle/>
          <a:p>
            <a:pPr marL="306070" indent="-306070" defTabSz="457200">
              <a:lnSpc>
                <a:spcPct val="120000"/>
              </a:lnSpc>
              <a:spcBef>
                <a:spcPct val="20000"/>
              </a:spcBef>
              <a:spcAft>
                <a:spcPts val="600"/>
              </a:spcAft>
              <a:buClr>
                <a:schemeClr val="tx1"/>
              </a:buClr>
              <a:buSzPct val="92000"/>
              <a:buFont typeface="Wingdings" panose="05000000000000000000"/>
              <a:buChar char="n"/>
            </a:pPr>
            <a:r>
              <a:rPr b="1">
                <a:latin typeface="+mj-ea"/>
                <a:ea typeface="+mj-ea"/>
                <a:cs typeface="+mj-ea"/>
              </a:rPr>
              <a:t>阶段结论</a:t>
            </a:r>
            <a:endParaRPr b="1" kern="100">
              <a:latin typeface="+mj-ea"/>
              <a:ea typeface="+mj-ea"/>
              <a:cs typeface="+mj-ea"/>
            </a:endParaRPr>
          </a:p>
        </p:txBody>
      </p:sp>
      <p:sp>
        <p:nvSpPr>
          <p:cNvPr id="3" name="矩形 2"/>
          <p:cNvSpPr>
            <a:spLocks noGrp="1"/>
          </p:cNvSpPr>
          <p:nvPr/>
        </p:nvSpPr>
        <p:spPr>
          <a:xfrm>
            <a:off x="323215" y="915670"/>
            <a:ext cx="8465185" cy="3885565"/>
          </a:xfrm>
          <a:prstGeom prst="rect">
            <a:avLst/>
          </a:prstGeom>
          <a:ln>
            <a:solidFill>
              <a:srgbClr val="0070C0"/>
            </a:solidFill>
            <a:prstDash val="lgDash"/>
          </a:ln>
        </p:spPr>
        <p:txBody>
          <a:bodyPr wrap="square">
            <a:noAutofit/>
          </a:bodyPr>
          <a:lstStyle/>
          <a:p>
            <a:pPr>
              <a:lnSpc>
                <a:spcPct val="120000"/>
              </a:lnSpc>
              <a:spcBef>
                <a:spcPts val="1000"/>
              </a:spcBef>
              <a:spcAft>
                <a:spcPts val="1000"/>
              </a:spcAft>
              <a:buNone/>
            </a:pPr>
            <a:r>
              <a:rPr sz="1600">
                <a:latin typeface="+mj-ea"/>
                <a:ea typeface="+mj-ea"/>
                <a:cs typeface="+mj-ea"/>
              </a:rPr>
              <a:t>课题1已进入核心技术集成与实验验证阶段，整体与2026年中期检查计划保持一致。</a:t>
            </a:r>
            <a:endParaRPr sz="1600" kern="100">
              <a:latin typeface="+mj-ea"/>
              <a:ea typeface="+mj-ea"/>
              <a:cs typeface="+mj-ea"/>
            </a:endParaRPr>
          </a:p>
          <a:p>
            <a:pPr>
              <a:lnSpc>
                <a:spcPct val="125000"/>
              </a:lnSpc>
              <a:spcAft>
                <a:spcPts val="500"/>
              </a:spcAft>
              <a:buNone/>
            </a:pPr>
            <a:r>
              <a:rPr sz="1600">
                <a:latin typeface="+mj-ea"/>
                <a:ea typeface="+mj-ea"/>
                <a:cs typeface="+mj-ea"/>
              </a:rPr>
              <a:t>1. 主链路｜已贯通工作票OCR解析、结构化抽取、证据落盘、设备关联、图谱存储和演示服务。</a:t>
            </a:r>
            <a:endParaRPr sz="1600" kern="100">
              <a:latin typeface="+mj-ea"/>
              <a:ea typeface="+mj-ea"/>
              <a:cs typeface="+mj-ea"/>
            </a:endParaRPr>
          </a:p>
          <a:p>
            <a:pPr>
              <a:lnSpc>
                <a:spcPct val="125000"/>
              </a:lnSpc>
              <a:spcAft>
                <a:spcPts val="500"/>
              </a:spcAft>
              <a:buNone/>
            </a:pPr>
            <a:r>
              <a:rPr sz="1600">
                <a:latin typeface="+mj-ea"/>
                <a:ea typeface="+mj-ea"/>
                <a:cs typeface="+mj-ea"/>
              </a:rPr>
              <a:t>2. 当前输出｜可保留OCR文本、表格、区块坐标、版面得分及JSON、Markdown、预处理图等中间文件。</a:t>
            </a:r>
            <a:endParaRPr sz="1600" kern="100">
              <a:latin typeface="+mj-ea"/>
              <a:ea typeface="+mj-ea"/>
              <a:cs typeface="+mj-ea"/>
            </a:endParaRPr>
          </a:p>
          <a:p>
            <a:pPr>
              <a:lnSpc>
                <a:spcPct val="125000"/>
              </a:lnSpc>
              <a:spcAft>
                <a:spcPts val="500"/>
              </a:spcAft>
              <a:buNone/>
            </a:pPr>
            <a:r>
              <a:rPr sz="1600">
                <a:latin typeface="+mj-ea"/>
                <a:ea typeface="+mj-ea"/>
                <a:cs typeface="+mj-ea"/>
              </a:rPr>
              <a:t>3. 实现边界｜页码字段当前仍为空；字段级置信度及“字段→原文→页码/坐标”直接映射尚待补齐。</a:t>
            </a:r>
            <a:endParaRPr sz="1600" kern="100">
              <a:latin typeface="+mj-ea"/>
              <a:ea typeface="+mj-ea"/>
              <a:cs typeface="+mj-ea"/>
            </a:endParaRPr>
          </a:p>
          <a:p>
            <a:pPr>
              <a:lnSpc>
                <a:spcPct val="125000"/>
              </a:lnSpc>
              <a:spcAft>
                <a:spcPts val="500"/>
              </a:spcAft>
              <a:buNone/>
            </a:pPr>
            <a:r>
              <a:rPr sz="1600">
                <a:latin typeface="+mj-ea"/>
                <a:ea typeface="+mj-ea"/>
                <a:cs typeface="+mj-ea"/>
              </a:rPr>
              <a:t>4. 抽取状态｜现有样例采用规则兜底；BERT-MRC需在检查点到位后接入，Qwen用于校验和关系抽取。</a:t>
            </a:r>
            <a:endParaRPr sz="1600" kern="100">
              <a:latin typeface="+mj-ea"/>
              <a:ea typeface="+mj-ea"/>
              <a:cs typeface="+mj-ea"/>
            </a:endParaRPr>
          </a:p>
          <a:p>
            <a:pPr>
              <a:lnSpc>
                <a:spcPct val="125000"/>
              </a:lnSpc>
              <a:spcAft>
                <a:spcPts val="500"/>
              </a:spcAft>
              <a:buNone/>
            </a:pPr>
            <a:r>
              <a:rPr sz="1600">
                <a:latin typeface="+mj-ea"/>
                <a:ea typeface="+mj-ea"/>
                <a:cs typeface="+mj-ea"/>
              </a:rPr>
              <a:t>5. 验证准备｜已建立100份PDF、100张PNG、配套台账与标准答案，具备批量实验条件。</a:t>
            </a:r>
            <a:endParaRPr sz="1600" kern="100">
              <a:latin typeface="+mj-ea"/>
              <a:ea typeface="+mj-ea"/>
              <a:cs typeface="+mj-ea"/>
            </a:endParaRPr>
          </a:p>
          <a:p>
            <a:pPr>
              <a:lnSpc>
                <a:spcPct val="125000"/>
              </a:lnSpc>
              <a:spcAft>
                <a:spcPts val="500"/>
              </a:spcAft>
              <a:buNone/>
            </a:pPr>
            <a:r>
              <a:rPr sz="1600">
                <a:latin typeface="+mj-ea"/>
                <a:ea typeface="+mj-ea"/>
                <a:cs typeface="+mj-ea"/>
              </a:rPr>
              <a:t>6. 下一节点｜完成100票统一跑测、错误分类和“票—设备—摄像头—视频”单票闭环演示。</a:t>
            </a:r>
            <a:endParaRPr sz="1600" kern="100">
              <a:latin typeface="+mj-ea"/>
              <a:ea typeface="+mj-ea"/>
              <a:cs typeface="+mj-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323528" y="51976"/>
            <a:ext cx="2031325" cy="830997"/>
          </a:xfrm>
          <a:prstGeom prst="rect">
            <a:avLst/>
          </a:prstGeom>
        </p:spPr>
        <p:txBody>
          <a:bodyPr wrap="none">
            <a:spAutoFit/>
          </a:bodyPr>
          <a:lstStyle/>
          <a:p>
            <a:pPr lvl="0" defTabSz="913765">
              <a:buNone/>
            </a:pPr>
            <a:r>
              <a:rPr sz="2400" b="1">
                <a:latin typeface="微软雅黑" panose="020B0503020204020204" charset="-122"/>
                <a:ea typeface="微软雅黑" panose="020B0503020204020204" charset="-122"/>
                <a:cs typeface="微软雅黑" panose="020B0503020204020204" charset="-122"/>
              </a:rPr>
              <a:t>一、阶段进展</a:t>
            </a:r>
            <a:endParaRPr sz="2400" b="1">
              <a:latin typeface="微软雅黑" panose="020B0503020204020204" charset="-122"/>
              <a:ea typeface="微软雅黑" panose="020B0503020204020204" charset="-122"/>
              <a:cs typeface="微软雅黑" panose="020B0503020204020204" charset="-122"/>
            </a:endParaRPr>
          </a:p>
        </p:txBody>
      </p:sp>
      <p:pic>
        <p:nvPicPr>
          <p:cNvPr id="22" name="Picture 2"/>
          <p:cNvPicPr>
            <a:picLocks noChangeAspect="1"/>
          </p:cNvPicPr>
          <p:nvPr/>
        </p:nvPicPr>
        <p:blipFill>
          <a:blip r:embed="rId1"/>
          <a:srcRect l="68782" t="1129" r="1331" b="85966"/>
          <a:stretch>
            <a:fillRect/>
          </a:stretch>
        </p:blipFill>
        <p:spPr>
          <a:xfrm>
            <a:off x="6948264" y="18780"/>
            <a:ext cx="2195736" cy="701675"/>
          </a:xfrm>
          <a:prstGeom prst="rect">
            <a:avLst/>
          </a:prstGeom>
          <a:ln>
            <a:noFill/>
          </a:ln>
        </p:spPr>
      </p:pic>
      <p:sp>
        <p:nvSpPr>
          <p:cNvPr id="10" name="Text Box 4"/>
          <p:cNvSpPr>
            <a:spLocks noGrp="1"/>
          </p:cNvSpPr>
          <p:nvPr/>
        </p:nvSpPr>
        <p:spPr>
          <a:xfrm>
            <a:off x="2894754" y="68009"/>
            <a:ext cx="3528392" cy="396583"/>
          </a:xfrm>
          <a:prstGeom prst="rect">
            <a:avLst/>
          </a:prstGeom>
          <a:noFill/>
          <a:ln w="9525">
            <a:noFill/>
          </a:ln>
        </p:spPr>
        <p:txBody>
          <a:bodyPr wrap="square" anchor="t">
            <a:spAutoFit/>
          </a:bodyPr>
          <a:lstStyle/>
          <a:p>
            <a:pPr marL="306070" indent="-306070" defTabSz="457200">
              <a:lnSpc>
                <a:spcPct val="120000"/>
              </a:lnSpc>
              <a:spcBef>
                <a:spcPct val="20000"/>
              </a:spcBef>
              <a:spcAft>
                <a:spcPts val="600"/>
              </a:spcAft>
              <a:buClr>
                <a:schemeClr val="tx1"/>
              </a:buClr>
              <a:buSzPct val="92000"/>
              <a:buFont typeface="Wingdings" panose="05000000000000000000"/>
              <a:buChar char="n"/>
            </a:pPr>
            <a:r>
              <a:rPr b="1">
                <a:latin typeface="+mj-ea"/>
                <a:ea typeface="+mj-ea"/>
                <a:cs typeface="+mj-ea"/>
              </a:rPr>
              <a:t>问题与目标</a:t>
            </a:r>
            <a:endParaRPr b="1" kern="100">
              <a:latin typeface="+mj-ea"/>
              <a:ea typeface="+mj-ea"/>
              <a:cs typeface="+mj-ea"/>
            </a:endParaRPr>
          </a:p>
        </p:txBody>
      </p:sp>
      <p:sp>
        <p:nvSpPr>
          <p:cNvPr id="3" name="矩形 2"/>
          <p:cNvSpPr>
            <a:spLocks noGrp="1"/>
          </p:cNvSpPr>
          <p:nvPr/>
        </p:nvSpPr>
        <p:spPr>
          <a:xfrm>
            <a:off x="339468" y="809233"/>
            <a:ext cx="8465063" cy="1419860"/>
          </a:xfrm>
          <a:prstGeom prst="rect">
            <a:avLst/>
          </a:prstGeom>
          <a:ln>
            <a:solidFill>
              <a:srgbClr val="0070C0"/>
            </a:solidFill>
            <a:prstDash val="lgDash"/>
          </a:ln>
        </p:spPr>
        <p:txBody>
          <a:bodyPr wrap="square">
            <a:spAutoFit/>
          </a:bodyPr>
          <a:lstStyle/>
          <a:p>
            <a:pPr>
              <a:lnSpc>
                <a:spcPct val="120000"/>
              </a:lnSpc>
              <a:buNone/>
            </a:pPr>
            <a:r>
              <a:rPr sz="1800">
                <a:latin typeface="微软雅黑" panose="020B0503020204020204" charset="-122"/>
                <a:ea typeface="微软雅黑" panose="020B0503020204020204" charset="-122"/>
                <a:cs typeface="微软雅黑" panose="020B0503020204020204" charset="-122"/>
              </a:rPr>
              <a:t>当前主要矛盾不是“有没有数据”，而是工作票、设备台账、监控视频和风险事件尚未形成统一语义与时空关联。项目以课题1为当前突破口，先打通“票面解析—设备定位—监控关联”，再向风险识别和智能预警扩展。</a:t>
            </a:r>
            <a:endParaRPr sz="1600" kern="100">
              <a:latin typeface="微软雅黑" panose="020B0503020204020204" charset="-122"/>
              <a:ea typeface="微软雅黑" panose="020B0503020204020204" charset="-122"/>
              <a:cs typeface="微软雅黑" panose="020B0503020204020204" charset="-122"/>
            </a:endParaRPr>
          </a:p>
        </p:txBody>
      </p:sp>
      <p:sp>
        <p:nvSpPr>
          <p:cNvPr id="7" name="文本框 6"/>
          <p:cNvSpPr>
            <a:spLocks noGrp="1"/>
          </p:cNvSpPr>
          <p:nvPr/>
        </p:nvSpPr>
        <p:spPr>
          <a:xfrm>
            <a:off x="539750" y="4545965"/>
            <a:ext cx="2186305" cy="306705"/>
          </a:xfrm>
          <a:prstGeom prst="rect">
            <a:avLst/>
          </a:prstGeom>
          <a:noFill/>
        </p:spPr>
        <p:txBody>
          <a:bodyPr wrap="square">
            <a:spAutoFit/>
          </a:bodyPr>
          <a:lstStyle/>
          <a:p>
            <a:r>
              <a:rPr sz="1400">
                <a:latin typeface="黑体" panose="02010609060101010101" charset="-122"/>
                <a:ea typeface="黑体" panose="02010609060101010101" charset="-122"/>
                <a:cs typeface="黑体" panose="02010609060101010101" charset="-122"/>
              </a:rPr>
              <a:t>票面信息非结构化</a:t>
            </a:r>
            <a:endParaRPr sz="1400">
              <a:latin typeface="黑体" panose="02010609060101010101" charset="-122"/>
              <a:ea typeface="黑体" panose="02010609060101010101" charset="-122"/>
              <a:cs typeface="黑体" panose="02010609060101010101" charset="-122"/>
            </a:endParaRPr>
          </a:p>
        </p:txBody>
      </p:sp>
      <p:sp>
        <p:nvSpPr>
          <p:cNvPr id="11" name="文本框 10"/>
          <p:cNvSpPr>
            <a:spLocks noGrp="1"/>
          </p:cNvSpPr>
          <p:nvPr/>
        </p:nvSpPr>
        <p:spPr>
          <a:xfrm>
            <a:off x="3851910" y="4545965"/>
            <a:ext cx="1403350" cy="518160"/>
          </a:xfrm>
          <a:prstGeom prst="rect">
            <a:avLst/>
          </a:prstGeom>
          <a:noFill/>
        </p:spPr>
        <p:txBody>
          <a:bodyPr wrap="square">
            <a:spAutoFit/>
          </a:bodyPr>
          <a:lstStyle/>
          <a:p>
            <a:r>
              <a:rPr sz="1400">
                <a:latin typeface="黑体" panose="02010609060101010101" charset="-122"/>
                <a:ea typeface="黑体" panose="02010609060101010101" charset="-122"/>
                <a:cs typeface="黑体" panose="02010609060101010101" charset="-122"/>
              </a:rPr>
              <a:t>现场识别有时延</a:t>
            </a:r>
            <a:endParaRPr sz="1400">
              <a:latin typeface="黑体" panose="02010609060101010101" charset="-122"/>
              <a:ea typeface="黑体" panose="02010609060101010101" charset="-122"/>
              <a:cs typeface="黑体" panose="02010609060101010101" charset="-122"/>
            </a:endParaRPr>
          </a:p>
        </p:txBody>
      </p:sp>
      <p:sp>
        <p:nvSpPr>
          <p:cNvPr id="16" name="文本框 15"/>
          <p:cNvSpPr>
            <a:spLocks noGrp="1"/>
          </p:cNvSpPr>
          <p:nvPr/>
        </p:nvSpPr>
        <p:spPr>
          <a:xfrm>
            <a:off x="6876415" y="4516120"/>
            <a:ext cx="961390" cy="518160"/>
          </a:xfrm>
          <a:prstGeom prst="rect">
            <a:avLst/>
          </a:prstGeom>
          <a:noFill/>
        </p:spPr>
        <p:txBody>
          <a:bodyPr wrap="square">
            <a:spAutoFit/>
          </a:bodyPr>
          <a:lstStyle/>
          <a:p>
            <a:r>
              <a:rPr sz="1400">
                <a:latin typeface="黑体" panose="02010609060101010101" charset="-122"/>
                <a:ea typeface="黑体" panose="02010609060101010101" charset="-122"/>
                <a:cs typeface="黑体" panose="02010609060101010101" charset="-122"/>
              </a:rPr>
              <a:t>多源数据相互割裂</a:t>
            </a:r>
            <a:endParaRPr sz="1400">
              <a:latin typeface="黑体" panose="02010609060101010101" charset="-122"/>
              <a:ea typeface="黑体" panose="02010609060101010101" charset="-122"/>
              <a:cs typeface="黑体" panose="02010609060101010101" charset="-122"/>
            </a:endParaRPr>
          </a:p>
        </p:txBody>
      </p:sp>
      <p:pic>
        <p:nvPicPr>
          <p:cNvPr id="28" name="图片 4"/>
          <p:cNvPicPr>
            <a:picLocks noChangeAspect="1"/>
          </p:cNvPicPr>
          <p:nvPr/>
        </p:nvPicPr>
        <p:blipFill>
          <a:blip r:embed="rId2"/>
          <a:srcRect l="7751" r="7751"/>
          <a:stretch>
            <a:fillRect/>
          </a:stretch>
        </p:blipFill>
        <p:spPr>
          <a:xfrm>
            <a:off x="3066718" y="2514727"/>
            <a:ext cx="2605846" cy="1892274"/>
          </a:xfrm>
          <a:prstGeom prst="rect">
            <a:avLst/>
          </a:prstGeom>
        </p:spPr>
      </p:pic>
      <p:pic>
        <p:nvPicPr>
          <p:cNvPr id="29" name="图片 8"/>
          <p:cNvPicPr>
            <a:picLocks noChangeAspect="1"/>
          </p:cNvPicPr>
          <p:nvPr/>
        </p:nvPicPr>
        <p:blipFill>
          <a:blip r:embed="rId3"/>
          <a:srcRect l="7591" r="7591"/>
          <a:stretch>
            <a:fillRect/>
          </a:stretch>
        </p:blipFill>
        <p:spPr>
          <a:xfrm>
            <a:off x="275392" y="2481569"/>
            <a:ext cx="2450421" cy="1925570"/>
          </a:xfrm>
          <a:prstGeom prst="rect">
            <a:avLst/>
          </a:prstGeom>
        </p:spPr>
      </p:pic>
      <p:pic>
        <p:nvPicPr>
          <p:cNvPr id="30" name="图片 3"/>
          <p:cNvPicPr>
            <a:picLocks noChangeAspect="1"/>
          </p:cNvPicPr>
          <p:nvPr/>
        </p:nvPicPr>
        <p:blipFill>
          <a:blip r:embed="rId4"/>
          <a:stretch>
            <a:fillRect/>
          </a:stretch>
        </p:blipFill>
        <p:spPr>
          <a:xfrm>
            <a:off x="6012180" y="2514600"/>
            <a:ext cx="2672715" cy="193230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Rectangle 140"/>
          <p:cNvSpPr>
            <a:spLocks noGrp="1"/>
          </p:cNvSpPr>
          <p:nvPr/>
        </p:nvSpPr>
        <p:spPr>
          <a:xfrm>
            <a:off x="0" y="0"/>
            <a:ext cx="9144000" cy="0"/>
          </a:xfrm>
          <a:prstGeom prst="rect">
            <a:avLst/>
          </a:prstGeom>
          <a:noFill/>
          <a:ln>
            <a:noFill/>
          </a:ln>
        </p:spPr>
        <p:txBody>
          <a:bodyPr vert="horz" wrap="none" lIns="91440" tIns="45720" rIns="91440" bIns="45720" anchor="ctr">
            <a:spAutoFit/>
          </a:bodyPr>
          <a:lstStyle/>
          <a:p/>
        </p:txBody>
      </p:sp>
      <p:pic>
        <p:nvPicPr>
          <p:cNvPr id="12" name="Picture 2"/>
          <p:cNvPicPr>
            <a:picLocks noChangeAspect="1"/>
          </p:cNvPicPr>
          <p:nvPr/>
        </p:nvPicPr>
        <p:blipFill>
          <a:blip r:embed="rId1"/>
          <a:srcRect l="68782" t="1129" r="1331" b="85966"/>
          <a:stretch>
            <a:fillRect/>
          </a:stretch>
        </p:blipFill>
        <p:spPr>
          <a:xfrm>
            <a:off x="6948264" y="18780"/>
            <a:ext cx="2195736" cy="701675"/>
          </a:xfrm>
          <a:prstGeom prst="rect">
            <a:avLst/>
          </a:prstGeom>
          <a:ln>
            <a:noFill/>
          </a:ln>
        </p:spPr>
      </p:pic>
      <p:sp>
        <p:nvSpPr>
          <p:cNvPr id="5" name="矩形 4"/>
          <p:cNvSpPr>
            <a:spLocks noGrp="1"/>
          </p:cNvSpPr>
          <p:nvPr/>
        </p:nvSpPr>
        <p:spPr>
          <a:xfrm>
            <a:off x="323528" y="51976"/>
            <a:ext cx="2031325" cy="461665"/>
          </a:xfrm>
          <a:prstGeom prst="rect">
            <a:avLst/>
          </a:prstGeom>
        </p:spPr>
        <p:txBody>
          <a:bodyPr wrap="none">
            <a:spAutoFit/>
          </a:bodyPr>
          <a:lstStyle/>
          <a:p>
            <a:pPr lvl="0" defTabSz="913765">
              <a:buNone/>
            </a:pPr>
            <a:r>
              <a:rPr sz="2400" b="1">
                <a:latin typeface="微软雅黑" panose="020B0503020204020204" charset="-122"/>
                <a:ea typeface="微软雅黑" panose="020B0503020204020204" charset="-122"/>
                <a:cs typeface="微软雅黑" panose="020B0503020204020204" charset="-122"/>
              </a:rPr>
              <a:t>二、技术与成果</a:t>
            </a:r>
            <a:endParaRPr sz="2400" b="1">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2771800" y="472482"/>
            <a:ext cx="3231654" cy="369332"/>
          </a:xfrm>
          <a:prstGeom prst="rect">
            <a:avLst/>
          </a:prstGeom>
        </p:spPr>
        <p:txBody>
          <a:bodyPr wrap="square">
            <a:spAutoFit/>
          </a:bodyPr>
          <a:lstStyle/>
          <a:p>
            <a:pPr lvl="0" algn="ctr">
              <a:buNone/>
            </a:pPr>
            <a:r>
              <a:rPr b="1">
                <a:latin typeface="微软雅黑" panose="020B0503020204020204" charset="-122"/>
                <a:ea typeface="微软雅黑" panose="020B0503020204020204" charset="-122"/>
                <a:cs typeface="微软雅黑" panose="020B0503020204020204" charset="-122"/>
              </a:rPr>
              <a:t>总体技术路线</a:t>
            </a:r>
            <a:endParaRPr b="1">
              <a:latin typeface="微软雅黑" panose="020B0503020204020204" charset="-122"/>
              <a:ea typeface="微软雅黑" panose="020B0503020204020204" charset="-122"/>
              <a:cs typeface="微软雅黑" panose="020B0503020204020204" charset="-122"/>
            </a:endParaRPr>
          </a:p>
        </p:txBody>
      </p:sp>
      <p:pic>
        <p:nvPicPr>
          <p:cNvPr id="15" name="图片 1"/>
          <p:cNvPicPr>
            <a:picLocks noChangeAspect="1"/>
          </p:cNvPicPr>
          <p:nvPr/>
        </p:nvPicPr>
        <p:blipFill>
          <a:blip r:embed="rId2"/>
          <a:srcRect l="3938" t="18340" r="4708" b="5462"/>
          <a:stretch>
            <a:fillRect/>
          </a:stretch>
        </p:blipFill>
        <p:spPr>
          <a:xfrm>
            <a:off x="251460" y="915035"/>
            <a:ext cx="8625840" cy="40157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4"/>
          <p:cNvSpPr>
            <a:spLocks noGrp="1"/>
          </p:cNvSpPr>
          <p:nvPr/>
        </p:nvSpPr>
        <p:spPr>
          <a:xfrm>
            <a:off x="538917" y="627650"/>
            <a:ext cx="8064896" cy="460375"/>
          </a:xfrm>
          <a:prstGeom prst="rect">
            <a:avLst/>
          </a:prstGeom>
          <a:noFill/>
          <a:ln w="9525">
            <a:noFill/>
          </a:ln>
        </p:spPr>
        <p:txBody>
          <a:bodyPr wrap="square" anchor="t">
            <a:spAutoFit/>
          </a:bodyPr>
          <a:lstStyle/>
          <a:p>
            <a:pPr marL="306070" indent="-306070" defTabSz="457200">
              <a:lnSpc>
                <a:spcPct val="120000"/>
              </a:lnSpc>
              <a:spcBef>
                <a:spcPct val="20000"/>
              </a:spcBef>
              <a:spcAft>
                <a:spcPts val="600"/>
              </a:spcAft>
              <a:buClr>
                <a:schemeClr val="tx1"/>
              </a:buClr>
              <a:buSzPct val="92000"/>
              <a:buFont typeface="Wingdings" panose="05000000000000000000"/>
              <a:buChar char="n"/>
            </a:pPr>
            <a:r>
              <a:rPr sz="2000" b="1">
                <a:latin typeface="+mj-ea"/>
                <a:ea typeface="+mj-ea"/>
                <a:cs typeface="+mj-ea"/>
              </a:rPr>
              <a:t>当前技术栈</a:t>
            </a:r>
            <a:endParaRPr sz="2000" b="1" kern="100">
              <a:latin typeface="+mj-ea"/>
              <a:ea typeface="+mj-ea"/>
              <a:cs typeface="+mj-ea"/>
            </a:endParaRPr>
          </a:p>
        </p:txBody>
      </p:sp>
      <p:sp>
        <p:nvSpPr>
          <p:cNvPr id="6" name="Rectangle 163"/>
          <p:cNvSpPr>
            <a:spLocks noGrp="1"/>
          </p:cNvSpPr>
          <p:nvPr/>
        </p:nvSpPr>
        <p:spPr>
          <a:xfrm>
            <a:off x="0" y="0"/>
            <a:ext cx="9144000" cy="0"/>
          </a:xfrm>
          <a:prstGeom prst="rect">
            <a:avLst/>
          </a:prstGeom>
          <a:noFill/>
          <a:ln>
            <a:noFill/>
          </a:ln>
        </p:spPr>
        <p:txBody>
          <a:bodyPr vert="horz" wrap="none" lIns="91440" tIns="45720" rIns="91440" bIns="45720" anchor="ctr">
            <a:spAutoFit/>
          </a:bodyPr>
          <a:lstStyle/>
          <a:p>
            <a:endParaRPr sz="1800"/>
          </a:p>
        </p:txBody>
      </p:sp>
      <p:pic>
        <p:nvPicPr>
          <p:cNvPr id="12" name="Picture 2"/>
          <p:cNvPicPr>
            <a:picLocks noChangeAspect="1"/>
          </p:cNvPicPr>
          <p:nvPr/>
        </p:nvPicPr>
        <p:blipFill>
          <a:blip r:embed="rId1"/>
          <a:srcRect l="68782" t="1129" r="1331" b="85966"/>
          <a:stretch>
            <a:fillRect/>
          </a:stretch>
        </p:blipFill>
        <p:spPr>
          <a:xfrm>
            <a:off x="6948264" y="18780"/>
            <a:ext cx="2195736" cy="701675"/>
          </a:xfrm>
          <a:prstGeom prst="rect">
            <a:avLst/>
          </a:prstGeom>
          <a:ln>
            <a:noFill/>
          </a:ln>
        </p:spPr>
      </p:pic>
      <p:sp>
        <p:nvSpPr>
          <p:cNvPr id="8" name="矩形 7"/>
          <p:cNvSpPr>
            <a:spLocks noGrp="1"/>
          </p:cNvSpPr>
          <p:nvPr/>
        </p:nvSpPr>
        <p:spPr>
          <a:xfrm>
            <a:off x="323528" y="51976"/>
            <a:ext cx="2031325" cy="461665"/>
          </a:xfrm>
          <a:prstGeom prst="rect">
            <a:avLst/>
          </a:prstGeom>
        </p:spPr>
        <p:txBody>
          <a:bodyPr wrap="none">
            <a:spAutoFit/>
          </a:bodyPr>
          <a:lstStyle/>
          <a:p>
            <a:pPr lvl="0" defTabSz="913765">
              <a:buNone/>
            </a:pPr>
            <a:r>
              <a:rPr sz="2400" b="1">
                <a:latin typeface="微软雅黑" panose="020B0503020204020204" charset="-122"/>
                <a:ea typeface="微软雅黑" panose="020B0503020204020204" charset="-122"/>
                <a:cs typeface="微软雅黑" panose="020B0503020204020204" charset="-122"/>
              </a:rPr>
              <a:t>二、技术与成果</a:t>
            </a:r>
            <a:endParaRPr sz="2400" b="1">
              <a:latin typeface="微软雅黑" panose="020B0503020204020204" charset="-122"/>
              <a:ea typeface="微软雅黑" panose="020B0503020204020204" charset="-122"/>
              <a:cs typeface="微软雅黑" panose="020B0503020204020204" charset="-122"/>
            </a:endParaRPr>
          </a:p>
        </p:txBody>
      </p:sp>
      <p:sp>
        <p:nvSpPr>
          <p:cNvPr id="4" name="文本框 3"/>
          <p:cNvSpPr>
            <a:spLocks noGrp="1"/>
          </p:cNvSpPr>
          <p:nvPr/>
        </p:nvSpPr>
        <p:spPr>
          <a:xfrm>
            <a:off x="323215" y="1131570"/>
            <a:ext cx="8369935" cy="3671570"/>
          </a:xfrm>
          <a:prstGeom prst="rect">
            <a:avLst/>
          </a:prstGeom>
        </p:spPr>
        <p:txBody>
          <a:bodyPr wrap="square">
            <a:spAutoFit/>
          </a:bodyPr>
          <a:lstStyle/>
          <a:p>
            <a:pPr marL="285750" indent="-285750">
              <a:lnSpc>
                <a:spcPct val="150000"/>
              </a:lnSpc>
              <a:spcAft>
                <a:spcPts val="1000"/>
              </a:spcAft>
              <a:buFont typeface="Wingdings" panose="05000000000000000000"/>
              <a:buChar char="Ø"/>
            </a:pPr>
            <a:r>
              <a:rPr sz="1600">
                <a:latin typeface="微软雅黑" panose="020B0503020204020204" charset="-122"/>
                <a:ea typeface="微软雅黑" panose="020B0503020204020204" charset="-122"/>
                <a:cs typeface="微软雅黑" panose="020B0503020204020204" charset="-122"/>
              </a:rPr>
              <a:t>文档理解｜OpenCV预处理；PPStructureV3 / PaddleOCR-VL解析文字、表格、坐标和版面得分。</a:t>
            </a:r>
            <a:endParaRPr sz="1600">
              <a:latin typeface="微软雅黑" panose="020B0503020204020204" charset="-122"/>
              <a:ea typeface="微软雅黑" panose="020B0503020204020204" charset="-122"/>
              <a:cs typeface="微软雅黑" panose="020B0503020204020204" charset="-122"/>
            </a:endParaRPr>
          </a:p>
          <a:p>
            <a:pPr marL="285750" indent="-285750">
              <a:lnSpc>
                <a:spcPct val="150000"/>
              </a:lnSpc>
              <a:spcAft>
                <a:spcPts val="1000"/>
              </a:spcAft>
              <a:buFont typeface="Wingdings" panose="05000000000000000000"/>
              <a:buChar char="Ø"/>
            </a:pPr>
            <a:r>
              <a:rPr sz="1600">
                <a:latin typeface="微软雅黑" panose="020B0503020204020204" charset="-122"/>
                <a:ea typeface="微软雅黑" panose="020B0503020204020204" charset="-122"/>
                <a:cs typeface="微软雅黑" panose="020B0503020204020204" charset="-122"/>
              </a:rPr>
              <a:t>语义抽取｜规则兜底为主；BERT-MRC待检查点，Qwen承担结果校验和关系抽取。</a:t>
            </a:r>
            <a:endParaRPr sz="1600">
              <a:latin typeface="微软雅黑" panose="020B0503020204020204" charset="-122"/>
              <a:ea typeface="微软雅黑" panose="020B0503020204020204" charset="-122"/>
              <a:cs typeface="微软雅黑" panose="020B0503020204020204" charset="-122"/>
            </a:endParaRPr>
          </a:p>
          <a:p>
            <a:pPr marL="285750" indent="-285750">
              <a:lnSpc>
                <a:spcPct val="150000"/>
              </a:lnSpc>
              <a:spcAft>
                <a:spcPts val="1000"/>
              </a:spcAft>
              <a:buFont typeface="Wingdings" panose="05000000000000000000"/>
              <a:buChar char="Ø"/>
            </a:pPr>
            <a:r>
              <a:rPr sz="1600">
                <a:latin typeface="微软雅黑" panose="020B0503020204020204" charset="-122"/>
                <a:ea typeface="微软雅黑" panose="020B0503020204020204" charset="-122"/>
                <a:cs typeface="微软雅黑" panose="020B0503020204020204" charset="-122"/>
              </a:rPr>
              <a:t>证据留存｜保存JSON、Markdown、预处理图和OCR区块；页码、字段置信度待补齐。</a:t>
            </a:r>
            <a:endParaRPr sz="1600">
              <a:latin typeface="微软雅黑" panose="020B0503020204020204" charset="-122"/>
              <a:ea typeface="微软雅黑" panose="020B0503020204020204" charset="-122"/>
              <a:cs typeface="微软雅黑" panose="020B0503020204020204" charset="-122"/>
            </a:endParaRPr>
          </a:p>
          <a:p>
            <a:pPr marL="285750" indent="-285750">
              <a:lnSpc>
                <a:spcPct val="150000"/>
              </a:lnSpc>
              <a:spcAft>
                <a:spcPts val="1000"/>
              </a:spcAft>
              <a:buFont typeface="Wingdings" panose="05000000000000000000"/>
              <a:buChar char="Ø"/>
            </a:pPr>
            <a:r>
              <a:rPr sz="1600">
                <a:latin typeface="微软雅黑" panose="020B0503020204020204" charset="-122"/>
                <a:ea typeface="微软雅黑" panose="020B0503020204020204" charset="-122"/>
                <a:cs typeface="微软雅黑" panose="020B0503020204020204" charset="-122"/>
              </a:rPr>
              <a:t>关联存储｜设备标准化与编码匹配；Neo4j关联票、设备、地点和摄像头。</a:t>
            </a:r>
            <a:endParaRPr sz="1600">
              <a:latin typeface="微软雅黑" panose="020B0503020204020204" charset="-122"/>
              <a:ea typeface="微软雅黑" panose="020B0503020204020204" charset="-122"/>
              <a:cs typeface="微软雅黑" panose="020B0503020204020204" charset="-122"/>
            </a:endParaRPr>
          </a:p>
          <a:p>
            <a:pPr marL="285750" indent="-285750">
              <a:lnSpc>
                <a:spcPct val="150000"/>
              </a:lnSpc>
              <a:spcAft>
                <a:spcPts val="1000"/>
              </a:spcAft>
              <a:buFont typeface="Wingdings" panose="05000000000000000000"/>
              <a:buChar char="Ø"/>
            </a:pPr>
            <a:r>
              <a:rPr sz="1600">
                <a:latin typeface="微软雅黑" panose="020B0503020204020204" charset="-122"/>
                <a:ea typeface="微软雅黑" panose="020B0503020204020204" charset="-122"/>
                <a:cs typeface="微软雅黑" panose="020B0503020204020204" charset="-122"/>
              </a:rPr>
              <a:t>服务应用｜FastAPI + Gradio + SSE，输出阶段耗时、JSON和Cypher。</a:t>
            </a:r>
            <a:endParaRPr sz="1600">
              <a:latin typeface="微软雅黑" panose="020B0503020204020204" charset="-122"/>
              <a:ea typeface="微软雅黑" panose="020B0503020204020204" charset="-122"/>
              <a:cs typeface="微软雅黑" panose="020B0503020204020204" charset="-122"/>
            </a:endParaRPr>
          </a:p>
          <a:p>
            <a:pPr marL="285750" indent="-285750">
              <a:lnSpc>
                <a:spcPct val="150000"/>
              </a:lnSpc>
              <a:spcAft>
                <a:spcPts val="1000"/>
              </a:spcAft>
              <a:buFont typeface="Wingdings" panose="05000000000000000000"/>
              <a:buChar char="Ø"/>
            </a:pPr>
            <a:r>
              <a:rPr sz="1600">
                <a:latin typeface="微软雅黑" panose="020B0503020204020204" charset="-122"/>
                <a:ea typeface="微软雅黑" panose="020B0503020204020204" charset="-122"/>
                <a:cs typeface="微软雅黑" panose="020B0503020204020204" charset="-122"/>
              </a:rPr>
              <a:t>工程价值｜形成可演示、可观察、可追溯原型，支撑批量评测与平台集成。</a:t>
            </a:r>
            <a:endParaRPr sz="16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 name="Text Box 4"/>
          <p:cNvSpPr>
            <a:spLocks noGrp="1"/>
          </p:cNvSpPr>
          <p:nvPr/>
        </p:nvSpPr>
        <p:spPr>
          <a:xfrm>
            <a:off x="415979" y="620668"/>
            <a:ext cx="8712969" cy="968375"/>
          </a:xfrm>
          <a:prstGeom prst="rect">
            <a:avLst/>
          </a:prstGeom>
          <a:noFill/>
          <a:ln w="9525">
            <a:noFill/>
          </a:ln>
        </p:spPr>
        <p:txBody>
          <a:bodyPr wrap="square" anchor="t">
            <a:spAutoFit/>
          </a:bodyPr>
          <a:lstStyle>
            <a:lvl1pPr marL="306070" indent="-306070" defTabSz="457200">
              <a:lnSpc>
                <a:spcPct val="120000"/>
              </a:lnSpc>
              <a:spcBef>
                <a:spcPct val="20000"/>
              </a:spcBef>
              <a:spcAft>
                <a:spcPts val="600"/>
              </a:spcAft>
              <a:buClr>
                <a:schemeClr val="tx1"/>
              </a:buClr>
              <a:buSzPct val="92000"/>
              <a:buFont typeface="Wingdings" panose="05000000000000000000"/>
              <a:buChar char="n"/>
              <a:defRPr b="1" kern="100">
                <a:latin typeface="+mj-ea"/>
                <a:ea typeface="+mj-ea"/>
                <a:cs typeface="+mj-ea"/>
              </a:defRPr>
            </a:lvl1pPr>
          </a:lstStyle>
          <a:p>
            <a:r>
              <a:rPr sz="2000"/>
              <a:t>课题1：工作票结构化抽取主链路已打通</a:t>
            </a:r>
            <a:endParaRPr sz="2000" b="1" kern="100">
              <a:solidFill>
                <a:srgbClr val="000000"/>
              </a:solidFill>
              <a:latin typeface="+mj-ea"/>
              <a:ea typeface="+mj-ea"/>
              <a:cs typeface="+mj-ea"/>
            </a:endParaRPr>
          </a:p>
        </p:txBody>
      </p:sp>
      <p:sp>
        <p:nvSpPr>
          <p:cNvPr id="6" name="矩形 5"/>
          <p:cNvSpPr>
            <a:spLocks noGrp="1"/>
          </p:cNvSpPr>
          <p:nvPr/>
        </p:nvSpPr>
        <p:spPr>
          <a:xfrm>
            <a:off x="477324" y="1091862"/>
            <a:ext cx="8208912" cy="1900555"/>
          </a:xfrm>
          <a:prstGeom prst="rect">
            <a:avLst/>
          </a:prstGeom>
        </p:spPr>
        <p:txBody>
          <a:bodyPr wrap="square">
            <a:spAutoFit/>
          </a:bodyPr>
          <a:lstStyle/>
          <a:p>
            <a:pPr algn="just">
              <a:lnSpc>
                <a:spcPct val="120000"/>
              </a:lnSpc>
              <a:spcAft>
                <a:spcPts val="0"/>
              </a:spcAft>
              <a:buNone/>
            </a:pPr>
            <a:r>
              <a:rPr>
                <a:latin typeface="+mj-ea"/>
                <a:ea typeface="+mj-ea"/>
                <a:cs typeface="+mj-ea"/>
              </a:rPr>
              <a:t>工作票图像/PDF → PPStructureV3版面与OCR → Markdown/JSON证据 → LLM按固定Schema抽取 → 安全规则一致性校验。输出同时保留字段值、原文证据、页码/坐标、置信状态和中间文件，便于复核与回溯。</a:t>
            </a:r>
            <a:endParaRPr sz="1800" b="1" kern="100"/>
          </a:p>
        </p:txBody>
      </p:sp>
      <p:sp>
        <p:nvSpPr>
          <p:cNvPr id="3" name="Rectangle 140"/>
          <p:cNvSpPr>
            <a:spLocks noGrp="1"/>
          </p:cNvSpPr>
          <p:nvPr/>
        </p:nvSpPr>
        <p:spPr>
          <a:xfrm>
            <a:off x="0" y="0"/>
            <a:ext cx="9144000" cy="0"/>
          </a:xfrm>
          <a:prstGeom prst="rect">
            <a:avLst/>
          </a:prstGeom>
          <a:noFill/>
          <a:ln>
            <a:noFill/>
          </a:ln>
        </p:spPr>
        <p:txBody>
          <a:bodyPr vert="horz" wrap="none" lIns="91440" tIns="45720" rIns="91440" bIns="45720" anchor="ctr">
            <a:spAutoFit/>
          </a:bodyPr>
          <a:lstStyle/>
          <a:p/>
        </p:txBody>
      </p:sp>
      <p:pic>
        <p:nvPicPr>
          <p:cNvPr id="33" name="Picture 2"/>
          <p:cNvPicPr>
            <a:picLocks noChangeAspect="1"/>
          </p:cNvPicPr>
          <p:nvPr/>
        </p:nvPicPr>
        <p:blipFill>
          <a:blip r:embed="rId1"/>
          <a:srcRect l="68782" t="1129" r="1331" b="85966"/>
          <a:stretch>
            <a:fillRect/>
          </a:stretch>
        </p:blipFill>
        <p:spPr>
          <a:xfrm>
            <a:off x="6948264" y="18780"/>
            <a:ext cx="2195736" cy="701675"/>
          </a:xfrm>
          <a:prstGeom prst="rect">
            <a:avLst/>
          </a:prstGeom>
          <a:ln>
            <a:noFill/>
          </a:ln>
        </p:spPr>
      </p:pic>
      <p:sp>
        <p:nvSpPr>
          <p:cNvPr id="7" name="矩形 6"/>
          <p:cNvSpPr>
            <a:spLocks noGrp="1"/>
          </p:cNvSpPr>
          <p:nvPr/>
        </p:nvSpPr>
        <p:spPr>
          <a:xfrm>
            <a:off x="323528" y="51976"/>
            <a:ext cx="2031325" cy="461665"/>
          </a:xfrm>
          <a:prstGeom prst="rect">
            <a:avLst/>
          </a:prstGeom>
        </p:spPr>
        <p:txBody>
          <a:bodyPr wrap="none">
            <a:spAutoFit/>
          </a:bodyPr>
          <a:lstStyle/>
          <a:p>
            <a:pPr lvl="0" defTabSz="913765">
              <a:buNone/>
            </a:pPr>
            <a:r>
              <a:rPr sz="2400" b="1">
                <a:latin typeface="微软雅黑" panose="020B0503020204020204" charset="-122"/>
                <a:ea typeface="微软雅黑" panose="020B0503020204020204" charset="-122"/>
                <a:cs typeface="微软雅黑" panose="020B0503020204020204" charset="-122"/>
              </a:rPr>
              <a:t>二、技术与成果</a:t>
            </a:r>
            <a:endParaRPr sz="2400" b="1">
              <a:latin typeface="微软雅黑" panose="020B0503020204020204" charset="-122"/>
              <a:ea typeface="微软雅黑" panose="020B0503020204020204" charset="-122"/>
              <a:cs typeface="微软雅黑" panose="020B0503020204020204" charset="-122"/>
            </a:endParaRPr>
          </a:p>
        </p:txBody>
      </p:sp>
      <p:pic>
        <p:nvPicPr>
          <p:cNvPr id="35" name="图片 3"/>
          <p:cNvPicPr>
            <a:picLocks noChangeAspect="1"/>
          </p:cNvPicPr>
          <p:nvPr/>
        </p:nvPicPr>
        <p:blipFill>
          <a:blip r:embed="rId2"/>
          <a:srcRect/>
          <a:stretch>
            <a:fillRect/>
          </a:stretch>
        </p:blipFill>
        <p:spPr>
          <a:xfrm>
            <a:off x="683260" y="2499995"/>
            <a:ext cx="2392680" cy="2098040"/>
          </a:xfrm>
          <a:prstGeom prst="rect">
            <a:avLst/>
          </a:prstGeom>
        </p:spPr>
      </p:pic>
      <p:sp>
        <p:nvSpPr>
          <p:cNvPr id="5" name="矩形 4"/>
          <p:cNvSpPr>
            <a:spLocks noGrp="1"/>
          </p:cNvSpPr>
          <p:nvPr/>
        </p:nvSpPr>
        <p:spPr>
          <a:xfrm>
            <a:off x="3497580" y="4799330"/>
            <a:ext cx="2418715" cy="306705"/>
          </a:xfrm>
          <a:prstGeom prst="rect">
            <a:avLst/>
          </a:prstGeom>
        </p:spPr>
        <p:txBody>
          <a:bodyPr wrap="square">
            <a:spAutoFit/>
          </a:bodyPr>
          <a:lstStyle/>
          <a:p>
            <a:pPr lvl="0" algn="ctr">
              <a:buNone/>
            </a:pPr>
            <a:r>
              <a:rPr sz="1400">
                <a:latin typeface="微软雅黑" panose="020B0503020204020204" charset="-122"/>
                <a:ea typeface="微软雅黑" panose="020B0503020204020204" charset="-122"/>
                <a:cs typeface="微软雅黑" panose="020B0503020204020204" charset="-122"/>
              </a:rPr>
              <a:t>版面与文字识别</a:t>
            </a:r>
            <a:endParaRPr sz="1400">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899795" y="4805680"/>
            <a:ext cx="2171065" cy="306705"/>
          </a:xfrm>
          <a:prstGeom prst="rect">
            <a:avLst/>
          </a:prstGeom>
        </p:spPr>
        <p:txBody>
          <a:bodyPr wrap="square">
            <a:spAutoFit/>
          </a:bodyPr>
          <a:lstStyle/>
          <a:p>
            <a:pPr lvl="0" algn="ctr">
              <a:buNone/>
            </a:pPr>
            <a:r>
              <a:rPr sz="1400">
                <a:latin typeface="微软雅黑" panose="020B0503020204020204" charset="-122"/>
                <a:ea typeface="微软雅黑" panose="020B0503020204020204" charset="-122"/>
                <a:cs typeface="微软雅黑" panose="020B0503020204020204" charset="-122"/>
              </a:rPr>
              <a:t>原始工作票样本</a:t>
            </a:r>
            <a:endParaRPr sz="1400">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5712192" y="4799368"/>
            <a:ext cx="3231654" cy="306705"/>
          </a:xfrm>
          <a:prstGeom prst="rect">
            <a:avLst/>
          </a:prstGeom>
        </p:spPr>
        <p:txBody>
          <a:bodyPr wrap="square">
            <a:spAutoFit/>
          </a:bodyPr>
          <a:lstStyle/>
          <a:p>
            <a:pPr lvl="0" algn="ctr">
              <a:buClrTx/>
              <a:buSzTx/>
              <a:buFontTx/>
              <a:buNone/>
            </a:pPr>
            <a:r>
              <a:rPr sz="1400">
                <a:latin typeface="微软雅黑" panose="020B0503020204020204" charset="-122"/>
                <a:ea typeface="微软雅黑" panose="020B0503020204020204" charset="-122"/>
                <a:cs typeface="微软雅黑" panose="020B0503020204020204" charset="-122"/>
              </a:rPr>
              <a:t>证据约束抽取框架</a:t>
            </a:r>
            <a:endParaRPr sz="1400">
              <a:latin typeface="微软雅黑" panose="020B0503020204020204" charset="-122"/>
              <a:ea typeface="微软雅黑" panose="020B0503020204020204" charset="-122"/>
              <a:cs typeface="微软雅黑" panose="020B0503020204020204" charset="-122"/>
            </a:endParaRPr>
          </a:p>
        </p:txBody>
      </p:sp>
      <p:pic>
        <p:nvPicPr>
          <p:cNvPr id="39" name="图片 17"/>
          <p:cNvPicPr>
            <a:picLocks noChangeAspect="1"/>
          </p:cNvPicPr>
          <p:nvPr/>
        </p:nvPicPr>
        <p:blipFill>
          <a:blip r:embed="rId3"/>
          <a:srcRect/>
          <a:stretch>
            <a:fillRect/>
          </a:stretch>
        </p:blipFill>
        <p:spPr>
          <a:xfrm>
            <a:off x="6202045" y="3011805"/>
            <a:ext cx="2346960" cy="1719580"/>
          </a:xfrm>
          <a:prstGeom prst="rect">
            <a:avLst/>
          </a:prstGeom>
        </p:spPr>
      </p:pic>
      <p:pic>
        <p:nvPicPr>
          <p:cNvPr id="40" name="图片 9"/>
          <p:cNvPicPr>
            <a:picLocks noChangeAspect="1"/>
          </p:cNvPicPr>
          <p:nvPr/>
        </p:nvPicPr>
        <p:blipFill>
          <a:blip r:embed="rId4"/>
          <a:srcRect/>
          <a:stretch>
            <a:fillRect/>
          </a:stretch>
        </p:blipFill>
        <p:spPr>
          <a:xfrm>
            <a:off x="4045585" y="2992120"/>
            <a:ext cx="1352550" cy="173926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 name="Text Box 4"/>
          <p:cNvSpPr>
            <a:spLocks noGrp="1"/>
          </p:cNvSpPr>
          <p:nvPr/>
        </p:nvSpPr>
        <p:spPr>
          <a:xfrm>
            <a:off x="415979" y="620668"/>
            <a:ext cx="8712969" cy="460375"/>
          </a:xfrm>
          <a:prstGeom prst="rect">
            <a:avLst/>
          </a:prstGeom>
          <a:noFill/>
          <a:ln w="9525">
            <a:noFill/>
          </a:ln>
        </p:spPr>
        <p:txBody>
          <a:bodyPr wrap="square" anchor="t">
            <a:spAutoFit/>
          </a:bodyPr>
          <a:lstStyle>
            <a:lvl1pPr marL="306070" indent="-306070" defTabSz="457200">
              <a:lnSpc>
                <a:spcPct val="120000"/>
              </a:lnSpc>
              <a:spcBef>
                <a:spcPct val="20000"/>
              </a:spcBef>
              <a:spcAft>
                <a:spcPts val="600"/>
              </a:spcAft>
              <a:buClr>
                <a:schemeClr val="tx1"/>
              </a:buClr>
              <a:buSzPct val="92000"/>
              <a:buFont typeface="Wingdings" panose="05000000000000000000"/>
              <a:buChar char="n"/>
              <a:defRPr b="1" kern="100">
                <a:latin typeface="+mj-ea"/>
                <a:ea typeface="+mj-ea"/>
                <a:cs typeface="+mj-ea"/>
              </a:defRPr>
            </a:lvl1pPr>
          </a:lstStyle>
          <a:p>
            <a:r>
              <a:rPr sz="2000"/>
              <a:t>设备—地点—摄像头关联已形成初步实现</a:t>
            </a:r>
            <a:endParaRPr sz="2000"/>
          </a:p>
        </p:txBody>
      </p:sp>
      <p:sp>
        <p:nvSpPr>
          <p:cNvPr id="6" name="矩形 5"/>
          <p:cNvSpPr>
            <a:spLocks noGrp="1"/>
          </p:cNvSpPr>
          <p:nvPr/>
        </p:nvSpPr>
        <p:spPr>
          <a:xfrm>
            <a:off x="477324" y="987574"/>
            <a:ext cx="8208912" cy="2330450"/>
          </a:xfrm>
          <a:prstGeom prst="rect">
            <a:avLst/>
          </a:prstGeom>
        </p:spPr>
        <p:txBody>
          <a:bodyPr wrap="square">
            <a:spAutoFit/>
          </a:bodyPr>
          <a:lstStyle/>
          <a:p>
            <a:pPr algn="just">
              <a:lnSpc>
                <a:spcPct val="150000"/>
              </a:lnSpc>
              <a:spcAft>
                <a:spcPts val="0"/>
              </a:spcAft>
              <a:buNone/>
            </a:pPr>
            <a:r>
              <a:rPr>
                <a:latin typeface="微软雅黑" panose="020B0503020204020204" charset="-122"/>
                <a:ea typeface="微软雅黑" panose="020B0503020204020204" charset="-122"/>
                <a:cs typeface="微软雅黑" panose="020B0503020204020204" charset="-122"/>
              </a:rPr>
              <a:t>已建立Ticket、Entity、Device、Location、Camera等图谱对象及LOCATED_AT、COVERS、PART_OF等关系；通过设备名称标准化和编码匹配，将工作票中的设备/地点与监控资源建立映射。当前处于主流程集成与系统验证阶段，下一步重点验证关联精度与视频查询闭环。</a:t>
            </a:r>
            <a:endParaRPr sz="1800" b="1" kern="100"/>
          </a:p>
        </p:txBody>
      </p:sp>
      <p:sp>
        <p:nvSpPr>
          <p:cNvPr id="3" name="Rectangle 140"/>
          <p:cNvSpPr>
            <a:spLocks noGrp="1"/>
          </p:cNvSpPr>
          <p:nvPr/>
        </p:nvSpPr>
        <p:spPr>
          <a:xfrm>
            <a:off x="0" y="0"/>
            <a:ext cx="9144000" cy="0"/>
          </a:xfrm>
          <a:prstGeom prst="rect">
            <a:avLst/>
          </a:prstGeom>
          <a:noFill/>
          <a:ln>
            <a:noFill/>
          </a:ln>
        </p:spPr>
        <p:txBody>
          <a:bodyPr vert="horz" wrap="none" lIns="91440" tIns="45720" rIns="91440" bIns="45720" anchor="ctr">
            <a:spAutoFit/>
          </a:bodyPr>
          <a:lstStyle/>
          <a:p/>
        </p:txBody>
      </p:sp>
      <p:pic>
        <p:nvPicPr>
          <p:cNvPr id="33" name="Picture 2"/>
          <p:cNvPicPr>
            <a:picLocks noChangeAspect="1"/>
          </p:cNvPicPr>
          <p:nvPr/>
        </p:nvPicPr>
        <p:blipFill>
          <a:blip r:embed="rId1"/>
          <a:srcRect l="68782" t="1129" r="1331" b="85966"/>
          <a:stretch>
            <a:fillRect/>
          </a:stretch>
        </p:blipFill>
        <p:spPr>
          <a:xfrm>
            <a:off x="6948264" y="18780"/>
            <a:ext cx="2195736" cy="701675"/>
          </a:xfrm>
          <a:prstGeom prst="rect">
            <a:avLst/>
          </a:prstGeom>
          <a:ln>
            <a:noFill/>
          </a:ln>
        </p:spPr>
      </p:pic>
      <p:sp>
        <p:nvSpPr>
          <p:cNvPr id="7" name="矩形 6"/>
          <p:cNvSpPr>
            <a:spLocks noGrp="1"/>
          </p:cNvSpPr>
          <p:nvPr/>
        </p:nvSpPr>
        <p:spPr>
          <a:xfrm>
            <a:off x="323528" y="51976"/>
            <a:ext cx="2031325" cy="461665"/>
          </a:xfrm>
          <a:prstGeom prst="rect">
            <a:avLst/>
          </a:prstGeom>
        </p:spPr>
        <p:txBody>
          <a:bodyPr wrap="none">
            <a:spAutoFit/>
          </a:bodyPr>
          <a:lstStyle/>
          <a:p>
            <a:pPr lvl="0" defTabSz="913765">
              <a:buNone/>
            </a:pPr>
            <a:r>
              <a:rPr sz="2400" b="1">
                <a:latin typeface="微软雅黑" panose="020B0503020204020204" charset="-122"/>
                <a:ea typeface="微软雅黑" panose="020B0503020204020204" charset="-122"/>
                <a:cs typeface="微软雅黑" panose="020B0503020204020204" charset="-122"/>
              </a:rPr>
              <a:t>二、技术与成果</a:t>
            </a:r>
            <a:endParaRPr sz="2400" b="1">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219114" y="4804492"/>
            <a:ext cx="3231654" cy="306705"/>
          </a:xfrm>
          <a:prstGeom prst="rect">
            <a:avLst/>
          </a:prstGeom>
        </p:spPr>
        <p:txBody>
          <a:bodyPr wrap="square">
            <a:spAutoFit/>
          </a:bodyPr>
          <a:lstStyle/>
          <a:p>
            <a:pPr lvl="0" algn="ctr">
              <a:buNone/>
            </a:pPr>
            <a:r>
              <a:rPr sz="1400">
                <a:latin typeface="微软雅黑" panose="020B0503020204020204" charset="-122"/>
                <a:ea typeface="微软雅黑" panose="020B0503020204020204" charset="-122"/>
                <a:cs typeface="微软雅黑" panose="020B0503020204020204" charset="-122"/>
              </a:rPr>
              <a:t>设备/地点语义标准化</a:t>
            </a:r>
            <a:endParaRPr sz="1400">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3203575" y="4804410"/>
            <a:ext cx="2837180" cy="306705"/>
          </a:xfrm>
          <a:prstGeom prst="rect">
            <a:avLst/>
          </a:prstGeom>
        </p:spPr>
        <p:txBody>
          <a:bodyPr wrap="square">
            <a:spAutoFit/>
          </a:bodyPr>
          <a:lstStyle/>
          <a:p>
            <a:pPr lvl="0" algn="ctr">
              <a:buNone/>
            </a:pPr>
            <a:r>
              <a:rPr sz="1400">
                <a:latin typeface="微软雅黑" panose="020B0503020204020204" charset="-122"/>
                <a:ea typeface="微软雅黑" panose="020B0503020204020204" charset="-122"/>
                <a:cs typeface="微软雅黑" panose="020B0503020204020204" charset="-122"/>
              </a:rPr>
              <a:t>票据—监控资源映射</a:t>
            </a:r>
            <a:endParaRPr sz="1400">
              <a:latin typeface="微软雅黑" panose="020B0503020204020204" charset="-122"/>
              <a:ea typeface="微软雅黑" panose="020B0503020204020204" charset="-122"/>
              <a:cs typeface="微软雅黑" panose="020B0503020204020204" charset="-122"/>
            </a:endParaRPr>
          </a:p>
        </p:txBody>
      </p:sp>
      <p:sp>
        <p:nvSpPr>
          <p:cNvPr id="17" name="矩形 16"/>
          <p:cNvSpPr>
            <a:spLocks noGrp="1"/>
          </p:cNvSpPr>
          <p:nvPr/>
        </p:nvSpPr>
        <p:spPr>
          <a:xfrm>
            <a:off x="5867767" y="4772698"/>
            <a:ext cx="3231654" cy="306705"/>
          </a:xfrm>
          <a:prstGeom prst="rect">
            <a:avLst/>
          </a:prstGeom>
        </p:spPr>
        <p:txBody>
          <a:bodyPr wrap="square">
            <a:spAutoFit/>
          </a:bodyPr>
          <a:lstStyle/>
          <a:p>
            <a:pPr lvl="0" algn="ctr">
              <a:buClrTx/>
              <a:buSzTx/>
              <a:buFontTx/>
              <a:buNone/>
            </a:pPr>
            <a:r>
              <a:rPr sz="1400">
                <a:latin typeface="+mj-ea"/>
                <a:ea typeface="+mj-ea"/>
                <a:cs typeface="+mj-ea"/>
              </a:rPr>
              <a:t>关联与检索闭环</a:t>
            </a:r>
            <a:endParaRPr sz="1400" kern="100">
              <a:latin typeface="+mj-ea"/>
              <a:ea typeface="+mj-ea"/>
              <a:cs typeface="+mj-ea"/>
            </a:endParaRPr>
          </a:p>
        </p:txBody>
      </p:sp>
      <p:pic>
        <p:nvPicPr>
          <p:cNvPr id="38" name="picture 112"/>
          <p:cNvPicPr>
            <a:picLocks noChangeAspect="1"/>
          </p:cNvPicPr>
          <p:nvPr/>
        </p:nvPicPr>
        <p:blipFill>
          <a:blip r:embed="rId2"/>
          <a:srcRect l="5893" r="5893"/>
          <a:stretch>
            <a:fillRect/>
          </a:stretch>
        </p:blipFill>
        <p:spPr>
          <a:xfrm rot="21600000">
            <a:off x="581660" y="3065780"/>
            <a:ext cx="2382520" cy="1706880"/>
          </a:xfrm>
          <a:prstGeom prst="rect">
            <a:avLst/>
          </a:prstGeom>
        </p:spPr>
      </p:pic>
      <p:pic>
        <p:nvPicPr>
          <p:cNvPr id="39" name="图片 7"/>
          <p:cNvPicPr>
            <a:picLocks noChangeAspect="1"/>
          </p:cNvPicPr>
          <p:nvPr/>
        </p:nvPicPr>
        <p:blipFill>
          <a:blip r:embed="rId3"/>
          <a:stretch>
            <a:fillRect/>
          </a:stretch>
        </p:blipFill>
        <p:spPr>
          <a:xfrm>
            <a:off x="3491865" y="3068320"/>
            <a:ext cx="2212340" cy="1704975"/>
          </a:xfrm>
          <a:prstGeom prst="rect">
            <a:avLst/>
          </a:prstGeom>
        </p:spPr>
      </p:pic>
      <p:pic>
        <p:nvPicPr>
          <p:cNvPr id="40" name="图片 8"/>
          <p:cNvPicPr>
            <a:picLocks noChangeAspect="1"/>
          </p:cNvPicPr>
          <p:nvPr/>
        </p:nvPicPr>
        <p:blipFill>
          <a:blip r:embed="rId4"/>
          <a:stretch>
            <a:fillRect/>
          </a:stretch>
        </p:blipFill>
        <p:spPr>
          <a:xfrm>
            <a:off x="6228080" y="3065780"/>
            <a:ext cx="2236470" cy="170624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 name="Text Box 4"/>
          <p:cNvSpPr>
            <a:spLocks noGrp="1"/>
          </p:cNvSpPr>
          <p:nvPr/>
        </p:nvSpPr>
        <p:spPr>
          <a:xfrm>
            <a:off x="415979" y="620668"/>
            <a:ext cx="8712969" cy="968375"/>
          </a:xfrm>
          <a:prstGeom prst="rect">
            <a:avLst/>
          </a:prstGeom>
          <a:noFill/>
          <a:ln w="9525">
            <a:noFill/>
          </a:ln>
        </p:spPr>
        <p:txBody>
          <a:bodyPr wrap="square" anchor="t">
            <a:spAutoFit/>
          </a:bodyPr>
          <a:lstStyle>
            <a:lvl1pPr marL="306070" indent="-306070" defTabSz="457200">
              <a:lnSpc>
                <a:spcPct val="120000"/>
              </a:lnSpc>
              <a:spcBef>
                <a:spcPct val="20000"/>
              </a:spcBef>
              <a:spcAft>
                <a:spcPts val="600"/>
              </a:spcAft>
              <a:buClr>
                <a:schemeClr val="tx1"/>
              </a:buClr>
              <a:buSzPct val="92000"/>
              <a:buFont typeface="Wingdings" panose="05000000000000000000"/>
              <a:buChar char="n"/>
              <a:defRPr b="1" kern="100">
                <a:latin typeface="+mj-ea"/>
                <a:ea typeface="+mj-ea"/>
                <a:cs typeface="+mj-ea"/>
              </a:defRPr>
            </a:lvl1pPr>
          </a:lstStyle>
          <a:p>
            <a:r>
              <a:rPr sz="2000"/>
              <a:t>当前系统已具备可演示、可观测、可追溯的工程形态</a:t>
            </a:r>
            <a:endParaRPr sz="2000" b="1" kern="100">
              <a:solidFill>
                <a:srgbClr val="000000"/>
              </a:solidFill>
              <a:latin typeface="+mj-ea"/>
              <a:ea typeface="+mj-ea"/>
              <a:cs typeface="+mj-ea"/>
            </a:endParaRPr>
          </a:p>
        </p:txBody>
      </p:sp>
      <p:sp>
        <p:nvSpPr>
          <p:cNvPr id="6" name="矩形 5"/>
          <p:cNvSpPr>
            <a:spLocks noGrp="1"/>
          </p:cNvSpPr>
          <p:nvPr/>
        </p:nvSpPr>
        <p:spPr>
          <a:xfrm>
            <a:off x="477324" y="1091862"/>
            <a:ext cx="8208912" cy="1900555"/>
          </a:xfrm>
          <a:prstGeom prst="rect">
            <a:avLst/>
          </a:prstGeom>
        </p:spPr>
        <p:txBody>
          <a:bodyPr wrap="square">
            <a:spAutoFit/>
          </a:bodyPr>
          <a:lstStyle/>
          <a:p>
            <a:pPr algn="just">
              <a:lnSpc>
                <a:spcPct val="120000"/>
              </a:lnSpc>
              <a:spcAft>
                <a:spcPts val="0"/>
              </a:spcAft>
              <a:buNone/>
            </a:pPr>
            <a:r>
              <a:rPr>
                <a:latin typeface="+mj-ea"/>
                <a:ea typeface="+mj-ea"/>
                <a:cs typeface="+mj-ea"/>
              </a:rPr>
              <a:t>后端采用FastAPI封装结构化识别与多模态直传接口；前端通过SSE展示上传、OCR、首字返回、模型生成和总耗时。任务自动留存识别文本、结构化结果、可视化文件、模型输出与耗时，形成完整运行证据链。</a:t>
            </a:r>
            <a:endParaRPr sz="1800" b="1" kern="100"/>
          </a:p>
        </p:txBody>
      </p:sp>
      <p:sp>
        <p:nvSpPr>
          <p:cNvPr id="3" name="Rectangle 140"/>
          <p:cNvSpPr>
            <a:spLocks noGrp="1"/>
          </p:cNvSpPr>
          <p:nvPr/>
        </p:nvSpPr>
        <p:spPr>
          <a:xfrm>
            <a:off x="0" y="0"/>
            <a:ext cx="9144000" cy="0"/>
          </a:xfrm>
          <a:prstGeom prst="rect">
            <a:avLst/>
          </a:prstGeom>
          <a:noFill/>
          <a:ln>
            <a:noFill/>
          </a:ln>
        </p:spPr>
        <p:txBody>
          <a:bodyPr vert="horz" wrap="none" lIns="91440" tIns="45720" rIns="91440" bIns="45720" anchor="ctr">
            <a:spAutoFit/>
          </a:bodyPr>
          <a:lstStyle/>
          <a:p/>
        </p:txBody>
      </p:sp>
      <p:pic>
        <p:nvPicPr>
          <p:cNvPr id="33" name="Picture 2"/>
          <p:cNvPicPr>
            <a:picLocks noChangeAspect="1"/>
          </p:cNvPicPr>
          <p:nvPr/>
        </p:nvPicPr>
        <p:blipFill>
          <a:blip r:embed="rId1"/>
          <a:srcRect l="68782" t="1129" r="1331" b="85966"/>
          <a:stretch>
            <a:fillRect/>
          </a:stretch>
        </p:blipFill>
        <p:spPr>
          <a:xfrm>
            <a:off x="6948264" y="18780"/>
            <a:ext cx="2195736" cy="701675"/>
          </a:xfrm>
          <a:prstGeom prst="rect">
            <a:avLst/>
          </a:prstGeom>
          <a:ln>
            <a:noFill/>
          </a:ln>
        </p:spPr>
      </p:pic>
      <p:sp>
        <p:nvSpPr>
          <p:cNvPr id="7" name="矩形 6"/>
          <p:cNvSpPr>
            <a:spLocks noGrp="1"/>
          </p:cNvSpPr>
          <p:nvPr/>
        </p:nvSpPr>
        <p:spPr>
          <a:xfrm>
            <a:off x="323528" y="51976"/>
            <a:ext cx="2031325" cy="461665"/>
          </a:xfrm>
          <a:prstGeom prst="rect">
            <a:avLst/>
          </a:prstGeom>
        </p:spPr>
        <p:txBody>
          <a:bodyPr wrap="none">
            <a:spAutoFit/>
          </a:bodyPr>
          <a:lstStyle/>
          <a:p>
            <a:pPr lvl="0" defTabSz="913765">
              <a:buNone/>
            </a:pPr>
            <a:r>
              <a:rPr sz="2400" b="1">
                <a:latin typeface="微软雅黑" panose="020B0503020204020204" charset="-122"/>
                <a:ea typeface="微软雅黑" panose="020B0503020204020204" charset="-122"/>
                <a:cs typeface="微软雅黑" panose="020B0503020204020204" charset="-122"/>
              </a:rPr>
              <a:t>二、技术与成果</a:t>
            </a:r>
            <a:endParaRPr sz="2400" b="1">
              <a:latin typeface="微软雅黑" panose="020B0503020204020204" charset="-122"/>
              <a:ea typeface="微软雅黑" panose="020B0503020204020204" charset="-122"/>
              <a:cs typeface="微软雅黑" panose="020B0503020204020204" charset="-122"/>
            </a:endParaRPr>
          </a:p>
        </p:txBody>
      </p:sp>
      <p:pic>
        <p:nvPicPr>
          <p:cNvPr id="35" name="图片 3"/>
          <p:cNvPicPr>
            <a:picLocks noChangeAspect="1"/>
          </p:cNvPicPr>
          <p:nvPr/>
        </p:nvPicPr>
        <p:blipFill>
          <a:blip r:embed="rId2"/>
          <a:srcRect/>
          <a:stretch>
            <a:fillRect/>
          </a:stretch>
        </p:blipFill>
        <p:spPr>
          <a:xfrm>
            <a:off x="755650" y="3011805"/>
            <a:ext cx="2466975" cy="1719580"/>
          </a:xfrm>
          <a:prstGeom prst="rect">
            <a:avLst/>
          </a:prstGeom>
        </p:spPr>
      </p:pic>
      <p:sp>
        <p:nvSpPr>
          <p:cNvPr id="5" name="矩形 4"/>
          <p:cNvSpPr>
            <a:spLocks noGrp="1"/>
          </p:cNvSpPr>
          <p:nvPr/>
        </p:nvSpPr>
        <p:spPr>
          <a:xfrm>
            <a:off x="3497580" y="4799330"/>
            <a:ext cx="2418715" cy="306705"/>
          </a:xfrm>
          <a:prstGeom prst="rect">
            <a:avLst/>
          </a:prstGeom>
        </p:spPr>
        <p:txBody>
          <a:bodyPr wrap="square">
            <a:spAutoFit/>
          </a:bodyPr>
          <a:lstStyle/>
          <a:p>
            <a:pPr lvl="0" algn="ctr">
              <a:buNone/>
            </a:pPr>
            <a:r>
              <a:rPr sz="1400">
                <a:latin typeface="微软雅黑" panose="020B0503020204020204" charset="-122"/>
                <a:ea typeface="微软雅黑" panose="020B0503020204020204" charset="-122"/>
                <a:cs typeface="微软雅黑" panose="020B0503020204020204" charset="-122"/>
              </a:rPr>
              <a:t>五类运行指标</a:t>
            </a:r>
            <a:endParaRPr sz="1400">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899795" y="4805680"/>
            <a:ext cx="2171065" cy="306705"/>
          </a:xfrm>
          <a:prstGeom prst="rect">
            <a:avLst/>
          </a:prstGeom>
        </p:spPr>
        <p:txBody>
          <a:bodyPr wrap="square">
            <a:spAutoFit/>
          </a:bodyPr>
          <a:lstStyle/>
          <a:p>
            <a:pPr lvl="0" algn="ctr">
              <a:buNone/>
            </a:pPr>
            <a:r>
              <a:rPr sz="1400">
                <a:latin typeface="微软雅黑" panose="020B0503020204020204" charset="-122"/>
                <a:ea typeface="微软雅黑" panose="020B0503020204020204" charset="-122"/>
                <a:cs typeface="微软雅黑" panose="020B0503020204020204" charset="-122"/>
              </a:rPr>
              <a:t>双模式识别入口</a:t>
            </a:r>
            <a:endParaRPr sz="1400">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5712192" y="4799368"/>
            <a:ext cx="3231654" cy="306705"/>
          </a:xfrm>
          <a:prstGeom prst="rect">
            <a:avLst/>
          </a:prstGeom>
        </p:spPr>
        <p:txBody>
          <a:bodyPr wrap="square">
            <a:spAutoFit/>
          </a:bodyPr>
          <a:lstStyle/>
          <a:p>
            <a:pPr lvl="0" algn="ctr">
              <a:buClrTx/>
              <a:buSzTx/>
              <a:buFontTx/>
              <a:buNone/>
            </a:pPr>
            <a:r>
              <a:rPr sz="1400">
                <a:latin typeface="微软雅黑" panose="020B0503020204020204" charset="-122"/>
                <a:ea typeface="微软雅黑" panose="020B0503020204020204" charset="-122"/>
                <a:cs typeface="微软雅黑" panose="020B0503020204020204" charset="-122"/>
              </a:rPr>
              <a:t>全过程结果留痕</a:t>
            </a:r>
            <a:endParaRPr sz="1400">
              <a:latin typeface="微软雅黑" panose="020B0503020204020204" charset="-122"/>
              <a:ea typeface="微软雅黑" panose="020B0503020204020204" charset="-122"/>
              <a:cs typeface="微软雅黑" panose="020B0503020204020204" charset="-122"/>
            </a:endParaRPr>
          </a:p>
        </p:txBody>
      </p:sp>
      <p:pic>
        <p:nvPicPr>
          <p:cNvPr id="39" name="图片 17"/>
          <p:cNvPicPr>
            <a:picLocks noChangeAspect="1"/>
          </p:cNvPicPr>
          <p:nvPr/>
        </p:nvPicPr>
        <p:blipFill>
          <a:blip r:embed="rId3"/>
          <a:srcRect/>
          <a:stretch>
            <a:fillRect/>
          </a:stretch>
        </p:blipFill>
        <p:spPr>
          <a:xfrm>
            <a:off x="6202045" y="3011805"/>
            <a:ext cx="2346960" cy="1719580"/>
          </a:xfrm>
          <a:prstGeom prst="rect">
            <a:avLst/>
          </a:prstGeom>
        </p:spPr>
      </p:pic>
      <p:pic>
        <p:nvPicPr>
          <p:cNvPr id="40" name="图片 9"/>
          <p:cNvPicPr>
            <a:picLocks noChangeAspect="1"/>
          </p:cNvPicPr>
          <p:nvPr/>
        </p:nvPicPr>
        <p:blipFill>
          <a:blip r:embed="rId4"/>
          <a:srcRect/>
          <a:stretch>
            <a:fillRect/>
          </a:stretch>
        </p:blipFill>
        <p:spPr>
          <a:xfrm>
            <a:off x="4045585" y="2992120"/>
            <a:ext cx="1352550" cy="173926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 name="Text Box 4"/>
          <p:cNvSpPr>
            <a:spLocks noGrp="1"/>
          </p:cNvSpPr>
          <p:nvPr/>
        </p:nvSpPr>
        <p:spPr>
          <a:xfrm>
            <a:off x="415979" y="620668"/>
            <a:ext cx="8712969" cy="968375"/>
          </a:xfrm>
          <a:prstGeom prst="rect">
            <a:avLst/>
          </a:prstGeom>
          <a:noFill/>
          <a:ln w="9525">
            <a:noFill/>
          </a:ln>
        </p:spPr>
        <p:txBody>
          <a:bodyPr wrap="square" anchor="t">
            <a:spAutoFit/>
          </a:bodyPr>
          <a:lstStyle>
            <a:lvl1pPr marL="306070" indent="-306070" defTabSz="457200">
              <a:lnSpc>
                <a:spcPct val="120000"/>
              </a:lnSpc>
              <a:spcBef>
                <a:spcPct val="20000"/>
              </a:spcBef>
              <a:spcAft>
                <a:spcPts val="600"/>
              </a:spcAft>
              <a:buClr>
                <a:schemeClr val="tx1"/>
              </a:buClr>
              <a:buSzPct val="92000"/>
              <a:buFont typeface="Wingdings" panose="05000000000000000000"/>
              <a:buChar char="n"/>
              <a:defRPr b="1" kern="100">
                <a:latin typeface="+mj-ea"/>
                <a:ea typeface="+mj-ea"/>
                <a:cs typeface="+mj-ea"/>
              </a:defRPr>
            </a:lvl1pPr>
          </a:lstStyle>
          <a:p>
            <a:r>
              <a:rPr sz="2000"/>
              <a:t>实验条件已具备，批量验证是下一关键节点</a:t>
            </a:r>
            <a:endParaRPr sz="2000" b="1" kern="100">
              <a:solidFill>
                <a:srgbClr val="000000"/>
              </a:solidFill>
              <a:latin typeface="+mj-ea"/>
              <a:ea typeface="+mj-ea"/>
              <a:cs typeface="+mj-ea"/>
            </a:endParaRPr>
          </a:p>
        </p:txBody>
      </p:sp>
      <p:sp>
        <p:nvSpPr>
          <p:cNvPr id="6" name="矩形 5"/>
          <p:cNvSpPr>
            <a:spLocks noGrp="1"/>
          </p:cNvSpPr>
          <p:nvPr/>
        </p:nvSpPr>
        <p:spPr>
          <a:xfrm>
            <a:off x="477324" y="1091862"/>
            <a:ext cx="8208912" cy="1900555"/>
          </a:xfrm>
          <a:prstGeom prst="rect">
            <a:avLst/>
          </a:prstGeom>
        </p:spPr>
        <p:txBody>
          <a:bodyPr wrap="square">
            <a:spAutoFit/>
          </a:bodyPr>
          <a:lstStyle/>
          <a:p>
            <a:pPr algn="just">
              <a:lnSpc>
                <a:spcPct val="120000"/>
              </a:lnSpc>
              <a:spcAft>
                <a:spcPts val="0"/>
              </a:spcAft>
              <a:buNone/>
            </a:pPr>
            <a:r>
              <a:rPr>
                <a:latin typeface="+mj-ea"/>
                <a:ea typeface="+mj-ea"/>
                <a:cs typeface="+mj-ea"/>
              </a:rPr>
              <a:t>已建立100份PDF、100张PNG及配套台账和标准答案，具备单票验证与批量实验条件。模拟样本主要字段综合识别准确率约90%；历史结果预检显示JSON可解析率为100%，固定Schema完全遵循率仍需提升。注：历史预检仅用于定位问题，不作为正式主实验结论。</a:t>
            </a:r>
            <a:endParaRPr sz="1800" b="1" kern="100"/>
          </a:p>
        </p:txBody>
      </p:sp>
      <p:sp>
        <p:nvSpPr>
          <p:cNvPr id="3" name="Rectangle 140"/>
          <p:cNvSpPr>
            <a:spLocks noGrp="1"/>
          </p:cNvSpPr>
          <p:nvPr/>
        </p:nvSpPr>
        <p:spPr>
          <a:xfrm>
            <a:off x="0" y="0"/>
            <a:ext cx="9144000" cy="0"/>
          </a:xfrm>
          <a:prstGeom prst="rect">
            <a:avLst/>
          </a:prstGeom>
          <a:noFill/>
          <a:ln>
            <a:noFill/>
          </a:ln>
        </p:spPr>
        <p:txBody>
          <a:bodyPr vert="horz" wrap="none" lIns="91440" tIns="45720" rIns="91440" bIns="45720" anchor="ctr">
            <a:spAutoFit/>
          </a:bodyPr>
          <a:lstStyle/>
          <a:p/>
        </p:txBody>
      </p:sp>
      <p:pic>
        <p:nvPicPr>
          <p:cNvPr id="33" name="Picture 2"/>
          <p:cNvPicPr>
            <a:picLocks noChangeAspect="1"/>
          </p:cNvPicPr>
          <p:nvPr/>
        </p:nvPicPr>
        <p:blipFill>
          <a:blip r:embed="rId1"/>
          <a:srcRect l="68782" t="1129" r="1331" b="85966"/>
          <a:stretch>
            <a:fillRect/>
          </a:stretch>
        </p:blipFill>
        <p:spPr>
          <a:xfrm>
            <a:off x="6948264" y="18780"/>
            <a:ext cx="2195736" cy="701675"/>
          </a:xfrm>
          <a:prstGeom prst="rect">
            <a:avLst/>
          </a:prstGeom>
          <a:ln>
            <a:noFill/>
          </a:ln>
        </p:spPr>
      </p:pic>
      <p:sp>
        <p:nvSpPr>
          <p:cNvPr id="7" name="矩形 6"/>
          <p:cNvSpPr>
            <a:spLocks noGrp="1"/>
          </p:cNvSpPr>
          <p:nvPr/>
        </p:nvSpPr>
        <p:spPr>
          <a:xfrm>
            <a:off x="323528" y="51976"/>
            <a:ext cx="2031325" cy="461665"/>
          </a:xfrm>
          <a:prstGeom prst="rect">
            <a:avLst/>
          </a:prstGeom>
        </p:spPr>
        <p:txBody>
          <a:bodyPr wrap="none">
            <a:spAutoFit/>
          </a:bodyPr>
          <a:lstStyle/>
          <a:p>
            <a:pPr lvl="0" defTabSz="913765">
              <a:buNone/>
            </a:pPr>
            <a:r>
              <a:rPr sz="2400" b="1">
                <a:latin typeface="微软雅黑" panose="020B0503020204020204" charset="-122"/>
                <a:ea typeface="微软雅黑" panose="020B0503020204020204" charset="-122"/>
                <a:cs typeface="微软雅黑" panose="020B0503020204020204" charset="-122"/>
              </a:rPr>
              <a:t>三、实验与价值</a:t>
            </a:r>
            <a:endParaRPr sz="2400" b="1">
              <a:latin typeface="微软雅黑" panose="020B0503020204020204" charset="-122"/>
              <a:ea typeface="微软雅黑" panose="020B0503020204020204" charset="-122"/>
              <a:cs typeface="微软雅黑" panose="020B0503020204020204" charset="-122"/>
            </a:endParaRPr>
          </a:p>
        </p:txBody>
      </p:sp>
      <p:pic>
        <p:nvPicPr>
          <p:cNvPr id="35" name="图片 3"/>
          <p:cNvPicPr>
            <a:picLocks noChangeAspect="1"/>
          </p:cNvPicPr>
          <p:nvPr/>
        </p:nvPicPr>
        <p:blipFill>
          <a:blip r:embed="rId2"/>
          <a:srcRect/>
          <a:stretch>
            <a:fillRect/>
          </a:stretch>
        </p:blipFill>
        <p:spPr>
          <a:xfrm>
            <a:off x="755650" y="3011805"/>
            <a:ext cx="2466975" cy="1719580"/>
          </a:xfrm>
          <a:prstGeom prst="rect">
            <a:avLst/>
          </a:prstGeom>
        </p:spPr>
      </p:pic>
      <p:sp>
        <p:nvSpPr>
          <p:cNvPr id="5" name="矩形 4"/>
          <p:cNvSpPr>
            <a:spLocks noGrp="1"/>
          </p:cNvSpPr>
          <p:nvPr/>
        </p:nvSpPr>
        <p:spPr>
          <a:xfrm>
            <a:off x="3497580" y="4799330"/>
            <a:ext cx="2418715" cy="306705"/>
          </a:xfrm>
          <a:prstGeom prst="rect">
            <a:avLst/>
          </a:prstGeom>
        </p:spPr>
        <p:txBody>
          <a:bodyPr wrap="square">
            <a:spAutoFit/>
          </a:bodyPr>
          <a:lstStyle/>
          <a:p>
            <a:pPr lvl="0" algn="ctr">
              <a:buNone/>
            </a:pPr>
            <a:r>
              <a:rPr sz="1400">
                <a:latin typeface="微软雅黑" panose="020B0503020204020204" charset="-122"/>
                <a:ea typeface="微软雅黑" panose="020B0503020204020204" charset="-122"/>
                <a:cs typeface="微软雅黑" panose="020B0503020204020204" charset="-122"/>
              </a:rPr>
              <a:t>真实场景示意</a:t>
            </a:r>
            <a:endParaRPr sz="1400">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899795" y="4805680"/>
            <a:ext cx="2171065" cy="306705"/>
          </a:xfrm>
          <a:prstGeom prst="rect">
            <a:avLst/>
          </a:prstGeom>
        </p:spPr>
        <p:txBody>
          <a:bodyPr wrap="square">
            <a:spAutoFit/>
          </a:bodyPr>
          <a:lstStyle/>
          <a:p>
            <a:pPr lvl="0" algn="ctr">
              <a:buNone/>
            </a:pPr>
            <a:r>
              <a:rPr sz="1400">
                <a:latin typeface="微软雅黑" panose="020B0503020204020204" charset="-122"/>
                <a:ea typeface="微软雅黑" panose="020B0503020204020204" charset="-122"/>
                <a:cs typeface="微软雅黑" panose="020B0503020204020204" charset="-122"/>
              </a:rPr>
              <a:t>版面区域定位</a:t>
            </a:r>
            <a:endParaRPr sz="1400">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5712192" y="4799368"/>
            <a:ext cx="3231654" cy="306705"/>
          </a:xfrm>
          <a:prstGeom prst="rect">
            <a:avLst/>
          </a:prstGeom>
        </p:spPr>
        <p:txBody>
          <a:bodyPr wrap="square">
            <a:spAutoFit/>
          </a:bodyPr>
          <a:lstStyle/>
          <a:p>
            <a:pPr lvl="0" algn="ctr">
              <a:buClrTx/>
              <a:buSzTx/>
              <a:buFontTx/>
              <a:buNone/>
            </a:pPr>
            <a:r>
              <a:rPr sz="1400">
                <a:latin typeface="微软雅黑" panose="020B0503020204020204" charset="-122"/>
                <a:ea typeface="微软雅黑" panose="020B0503020204020204" charset="-122"/>
                <a:cs typeface="微软雅黑" panose="020B0503020204020204" charset="-122"/>
              </a:rPr>
              <a:t>历史结果预检</a:t>
            </a:r>
            <a:endParaRPr sz="1400">
              <a:latin typeface="微软雅黑" panose="020B0503020204020204" charset="-122"/>
              <a:ea typeface="微软雅黑" panose="020B0503020204020204" charset="-122"/>
              <a:cs typeface="微软雅黑" panose="020B0503020204020204" charset="-122"/>
            </a:endParaRPr>
          </a:p>
        </p:txBody>
      </p:sp>
      <p:pic>
        <p:nvPicPr>
          <p:cNvPr id="39" name="图片 17"/>
          <p:cNvPicPr>
            <a:picLocks noChangeAspect="1"/>
          </p:cNvPicPr>
          <p:nvPr/>
        </p:nvPicPr>
        <p:blipFill>
          <a:blip r:embed="rId3"/>
          <a:srcRect/>
          <a:stretch>
            <a:fillRect/>
          </a:stretch>
        </p:blipFill>
        <p:spPr>
          <a:xfrm>
            <a:off x="6202045" y="3011805"/>
            <a:ext cx="2346960" cy="1719580"/>
          </a:xfrm>
          <a:prstGeom prst="rect">
            <a:avLst/>
          </a:prstGeom>
        </p:spPr>
      </p:pic>
      <p:pic>
        <p:nvPicPr>
          <p:cNvPr id="40" name="图片 9"/>
          <p:cNvPicPr>
            <a:picLocks noChangeAspect="1"/>
          </p:cNvPicPr>
          <p:nvPr/>
        </p:nvPicPr>
        <p:blipFill>
          <a:blip r:embed="rId4"/>
          <a:srcRect/>
          <a:stretch>
            <a:fillRect/>
          </a:stretch>
        </p:blipFill>
        <p:spPr>
          <a:xfrm>
            <a:off x="4045585" y="2992120"/>
            <a:ext cx="1352550" cy="173926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 name="Text Box 4"/>
          <p:cNvSpPr>
            <a:spLocks noGrp="1"/>
          </p:cNvSpPr>
          <p:nvPr/>
        </p:nvSpPr>
        <p:spPr>
          <a:xfrm>
            <a:off x="415979" y="620668"/>
            <a:ext cx="8712969" cy="968375"/>
          </a:xfrm>
          <a:prstGeom prst="rect">
            <a:avLst/>
          </a:prstGeom>
          <a:noFill/>
          <a:ln w="9525">
            <a:noFill/>
          </a:ln>
        </p:spPr>
        <p:txBody>
          <a:bodyPr wrap="square" anchor="t">
            <a:spAutoFit/>
          </a:bodyPr>
          <a:lstStyle>
            <a:lvl1pPr marL="306070" indent="-306070" defTabSz="457200">
              <a:lnSpc>
                <a:spcPct val="120000"/>
              </a:lnSpc>
              <a:spcBef>
                <a:spcPct val="20000"/>
              </a:spcBef>
              <a:spcAft>
                <a:spcPts val="600"/>
              </a:spcAft>
              <a:buClr>
                <a:schemeClr val="tx1"/>
              </a:buClr>
              <a:buSzPct val="92000"/>
              <a:buFont typeface="Wingdings" panose="05000000000000000000"/>
              <a:buChar char="n"/>
              <a:defRPr b="1" kern="100">
                <a:latin typeface="+mj-ea"/>
                <a:ea typeface="+mj-ea"/>
                <a:cs typeface="+mj-ea"/>
              </a:defRPr>
            </a:lvl1pPr>
          </a:lstStyle>
          <a:p>
            <a:r>
              <a:rPr sz="2000"/>
              <a:t>课题2、课题3已完成共性能力储备，仍需真实场景数据</a:t>
            </a:r>
            <a:endParaRPr sz="2000" b="1" kern="100">
              <a:solidFill>
                <a:srgbClr val="000000"/>
              </a:solidFill>
              <a:latin typeface="+mj-ea"/>
              <a:ea typeface="+mj-ea"/>
              <a:cs typeface="+mj-ea"/>
            </a:endParaRPr>
          </a:p>
        </p:txBody>
      </p:sp>
      <p:sp>
        <p:nvSpPr>
          <p:cNvPr id="6" name="矩形 5"/>
          <p:cNvSpPr>
            <a:spLocks noGrp="1"/>
          </p:cNvSpPr>
          <p:nvPr/>
        </p:nvSpPr>
        <p:spPr>
          <a:xfrm>
            <a:off x="477324" y="1091862"/>
            <a:ext cx="8208912" cy="1900555"/>
          </a:xfrm>
          <a:prstGeom prst="rect">
            <a:avLst/>
          </a:prstGeom>
        </p:spPr>
        <p:txBody>
          <a:bodyPr wrap="square">
            <a:spAutoFit/>
          </a:bodyPr>
          <a:lstStyle/>
          <a:p>
            <a:pPr algn="just">
              <a:lnSpc>
                <a:spcPct val="120000"/>
              </a:lnSpc>
              <a:spcAft>
                <a:spcPts val="0"/>
              </a:spcAft>
              <a:buNone/>
            </a:pPr>
            <a:r>
              <a:rPr>
                <a:latin typeface="+mj-ea"/>
                <a:ea typeface="+mj-ea"/>
                <a:cs typeface="+mj-ea"/>
              </a:rPr>
              <a:t>已具备多模态图片直传、兼容模型调用、流式生成和结果留痕能力，可用于视觉复核与智能体报告。真实违章视频仍不足：先用AI生成样本开展预训练和算法验证，并争取少量真实视频用于微调与独立测试；小人模拟仅验证流程与区域规则。</a:t>
            </a:r>
            <a:endParaRPr sz="1800" b="1" kern="100"/>
          </a:p>
        </p:txBody>
      </p:sp>
      <p:sp>
        <p:nvSpPr>
          <p:cNvPr id="3" name="Rectangle 140"/>
          <p:cNvSpPr>
            <a:spLocks noGrp="1"/>
          </p:cNvSpPr>
          <p:nvPr/>
        </p:nvSpPr>
        <p:spPr>
          <a:xfrm>
            <a:off x="0" y="0"/>
            <a:ext cx="9144000" cy="0"/>
          </a:xfrm>
          <a:prstGeom prst="rect">
            <a:avLst/>
          </a:prstGeom>
          <a:noFill/>
          <a:ln>
            <a:noFill/>
          </a:ln>
        </p:spPr>
        <p:txBody>
          <a:bodyPr vert="horz" wrap="none" lIns="91440" tIns="45720" rIns="91440" bIns="45720" anchor="ctr">
            <a:spAutoFit/>
          </a:bodyPr>
          <a:lstStyle/>
          <a:p/>
        </p:txBody>
      </p:sp>
      <p:pic>
        <p:nvPicPr>
          <p:cNvPr id="33" name="Picture 2"/>
          <p:cNvPicPr>
            <a:picLocks noChangeAspect="1"/>
          </p:cNvPicPr>
          <p:nvPr/>
        </p:nvPicPr>
        <p:blipFill>
          <a:blip r:embed="rId1"/>
          <a:srcRect l="68782" t="1129" r="1331" b="85966"/>
          <a:stretch>
            <a:fillRect/>
          </a:stretch>
        </p:blipFill>
        <p:spPr>
          <a:xfrm>
            <a:off x="6948264" y="18780"/>
            <a:ext cx="2195736" cy="701675"/>
          </a:xfrm>
          <a:prstGeom prst="rect">
            <a:avLst/>
          </a:prstGeom>
          <a:ln>
            <a:noFill/>
          </a:ln>
        </p:spPr>
      </p:pic>
      <p:sp>
        <p:nvSpPr>
          <p:cNvPr id="7" name="矩形 6"/>
          <p:cNvSpPr>
            <a:spLocks noGrp="1"/>
          </p:cNvSpPr>
          <p:nvPr/>
        </p:nvSpPr>
        <p:spPr>
          <a:xfrm>
            <a:off x="323528" y="51976"/>
            <a:ext cx="2031325" cy="461665"/>
          </a:xfrm>
          <a:prstGeom prst="rect">
            <a:avLst/>
          </a:prstGeom>
        </p:spPr>
        <p:txBody>
          <a:bodyPr wrap="none">
            <a:spAutoFit/>
          </a:bodyPr>
          <a:lstStyle/>
          <a:p>
            <a:pPr lvl="0" defTabSz="913765">
              <a:buNone/>
            </a:pPr>
            <a:r>
              <a:rPr sz="2400" b="1">
                <a:latin typeface="微软雅黑" panose="020B0503020204020204" charset="-122"/>
                <a:ea typeface="微软雅黑" panose="020B0503020204020204" charset="-122"/>
                <a:cs typeface="微软雅黑" panose="020B0503020204020204" charset="-122"/>
              </a:rPr>
              <a:t>三、实验与价值</a:t>
            </a:r>
            <a:endParaRPr sz="2400" b="1">
              <a:latin typeface="微软雅黑" panose="020B0503020204020204" charset="-122"/>
              <a:ea typeface="微软雅黑" panose="020B0503020204020204" charset="-122"/>
              <a:cs typeface="微软雅黑" panose="020B0503020204020204" charset="-122"/>
            </a:endParaRPr>
          </a:p>
        </p:txBody>
      </p:sp>
      <p:pic>
        <p:nvPicPr>
          <p:cNvPr id="35" name="图片 3"/>
          <p:cNvPicPr>
            <a:picLocks noChangeAspect="1"/>
          </p:cNvPicPr>
          <p:nvPr/>
        </p:nvPicPr>
        <p:blipFill>
          <a:blip r:embed="rId2"/>
          <a:srcRect/>
          <a:stretch>
            <a:fillRect/>
          </a:stretch>
        </p:blipFill>
        <p:spPr>
          <a:xfrm>
            <a:off x="755650" y="3011805"/>
            <a:ext cx="2466975" cy="1719580"/>
          </a:xfrm>
          <a:prstGeom prst="rect">
            <a:avLst/>
          </a:prstGeom>
        </p:spPr>
      </p:pic>
      <p:sp>
        <p:nvSpPr>
          <p:cNvPr id="5" name="矩形 4"/>
          <p:cNvSpPr>
            <a:spLocks noGrp="1"/>
          </p:cNvSpPr>
          <p:nvPr/>
        </p:nvSpPr>
        <p:spPr>
          <a:xfrm>
            <a:off x="3497580" y="4799330"/>
            <a:ext cx="2418715" cy="306705"/>
          </a:xfrm>
          <a:prstGeom prst="rect">
            <a:avLst/>
          </a:prstGeom>
        </p:spPr>
        <p:txBody>
          <a:bodyPr wrap="square">
            <a:spAutoFit/>
          </a:bodyPr>
          <a:lstStyle/>
          <a:p>
            <a:pPr lvl="0" algn="ctr">
              <a:buNone/>
            </a:pPr>
            <a:r>
              <a:rPr sz="1400">
                <a:latin typeface="微软雅黑" panose="020B0503020204020204" charset="-122"/>
                <a:ea typeface="微软雅黑" panose="020B0503020204020204" charset="-122"/>
                <a:cs typeface="微软雅黑" panose="020B0503020204020204" charset="-122"/>
              </a:rPr>
              <a:t>Agent与检索技术储备</a:t>
            </a:r>
            <a:endParaRPr sz="1400">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899795" y="4805680"/>
            <a:ext cx="2171065" cy="306705"/>
          </a:xfrm>
          <a:prstGeom prst="rect">
            <a:avLst/>
          </a:prstGeom>
        </p:spPr>
        <p:txBody>
          <a:bodyPr wrap="square">
            <a:spAutoFit/>
          </a:bodyPr>
          <a:lstStyle/>
          <a:p>
            <a:pPr lvl="0" algn="ctr">
              <a:buNone/>
            </a:pPr>
            <a:r>
              <a:rPr sz="1400">
                <a:latin typeface="微软雅黑" panose="020B0503020204020204" charset="-122"/>
                <a:ea typeface="微软雅黑" panose="020B0503020204020204" charset="-122"/>
                <a:cs typeface="微软雅黑" panose="020B0503020204020204" charset="-122"/>
              </a:rPr>
              <a:t>视觉接口储备</a:t>
            </a:r>
            <a:endParaRPr sz="1400">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5712192" y="4799368"/>
            <a:ext cx="3231654" cy="306705"/>
          </a:xfrm>
          <a:prstGeom prst="rect">
            <a:avLst/>
          </a:prstGeom>
        </p:spPr>
        <p:txBody>
          <a:bodyPr wrap="square">
            <a:spAutoFit/>
          </a:bodyPr>
          <a:lstStyle/>
          <a:p>
            <a:pPr lvl="0" algn="ctr">
              <a:buClrTx/>
              <a:buSzTx/>
              <a:buFontTx/>
              <a:buNone/>
            </a:pPr>
            <a:r>
              <a:rPr sz="1400">
                <a:latin typeface="微软雅黑" panose="020B0503020204020204" charset="-122"/>
                <a:ea typeface="微软雅黑" panose="020B0503020204020204" charset="-122"/>
                <a:cs typeface="微软雅黑" panose="020B0503020204020204" charset="-122"/>
              </a:rPr>
              <a:t>合成数据＋真实验证</a:t>
            </a:r>
            <a:endParaRPr sz="1400">
              <a:latin typeface="微软雅黑" panose="020B0503020204020204" charset="-122"/>
              <a:ea typeface="微软雅黑" panose="020B0503020204020204" charset="-122"/>
              <a:cs typeface="微软雅黑" panose="020B0503020204020204" charset="-122"/>
            </a:endParaRPr>
          </a:p>
        </p:txBody>
      </p:sp>
      <p:pic>
        <p:nvPicPr>
          <p:cNvPr id="39" name="图片 17"/>
          <p:cNvPicPr>
            <a:picLocks noChangeAspect="1"/>
          </p:cNvPicPr>
          <p:nvPr/>
        </p:nvPicPr>
        <p:blipFill>
          <a:blip r:embed="rId3"/>
          <a:srcRect/>
          <a:stretch>
            <a:fillRect/>
          </a:stretch>
        </p:blipFill>
        <p:spPr>
          <a:xfrm>
            <a:off x="6202045" y="3011805"/>
            <a:ext cx="2346960" cy="1719580"/>
          </a:xfrm>
          <a:prstGeom prst="rect">
            <a:avLst/>
          </a:prstGeom>
        </p:spPr>
      </p:pic>
      <p:pic>
        <p:nvPicPr>
          <p:cNvPr id="40" name="图片 9"/>
          <p:cNvPicPr>
            <a:picLocks noChangeAspect="1"/>
          </p:cNvPicPr>
          <p:nvPr/>
        </p:nvPicPr>
        <p:blipFill>
          <a:blip r:embed="rId4"/>
          <a:srcRect/>
          <a:stretch>
            <a:fillRect/>
          </a:stretch>
        </p:blipFill>
        <p:spPr>
          <a:xfrm>
            <a:off x="4045585" y="2992120"/>
            <a:ext cx="1352550" cy="173926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4"/>
          <p:cNvSpPr>
            <a:spLocks noGrp="1"/>
          </p:cNvSpPr>
          <p:nvPr/>
        </p:nvSpPr>
        <p:spPr>
          <a:xfrm>
            <a:off x="538917" y="627650"/>
            <a:ext cx="8064896" cy="460375"/>
          </a:xfrm>
          <a:prstGeom prst="rect">
            <a:avLst/>
          </a:prstGeom>
          <a:noFill/>
          <a:ln w="9525">
            <a:noFill/>
          </a:ln>
        </p:spPr>
        <p:txBody>
          <a:bodyPr wrap="square" anchor="t">
            <a:spAutoFit/>
          </a:bodyPr>
          <a:lstStyle/>
          <a:p>
            <a:pPr marL="306070" indent="-306070" defTabSz="457200">
              <a:lnSpc>
                <a:spcPct val="120000"/>
              </a:lnSpc>
              <a:spcBef>
                <a:spcPct val="20000"/>
              </a:spcBef>
              <a:spcAft>
                <a:spcPts val="600"/>
              </a:spcAft>
              <a:buClr>
                <a:schemeClr val="tx1"/>
              </a:buClr>
              <a:buSzPct val="92000"/>
              <a:buFont typeface="Wingdings" panose="05000000000000000000"/>
              <a:buChar char="n"/>
            </a:pPr>
            <a:r>
              <a:rPr sz="2000" b="1">
                <a:latin typeface="+mj-ea"/>
                <a:ea typeface="+mj-ea"/>
                <a:cs typeface="+mj-ea"/>
              </a:rPr>
              <a:t>当前能力已对应解决三类关键问题</a:t>
            </a:r>
            <a:endParaRPr sz="2000" b="1" kern="100">
              <a:latin typeface="+mj-ea"/>
              <a:ea typeface="+mj-ea"/>
              <a:cs typeface="+mj-ea"/>
            </a:endParaRPr>
          </a:p>
        </p:txBody>
      </p:sp>
      <p:sp>
        <p:nvSpPr>
          <p:cNvPr id="6" name="Rectangle 163"/>
          <p:cNvSpPr>
            <a:spLocks noGrp="1"/>
          </p:cNvSpPr>
          <p:nvPr/>
        </p:nvSpPr>
        <p:spPr>
          <a:xfrm>
            <a:off x="0" y="0"/>
            <a:ext cx="9144000" cy="0"/>
          </a:xfrm>
          <a:prstGeom prst="rect">
            <a:avLst/>
          </a:prstGeom>
          <a:noFill/>
          <a:ln>
            <a:noFill/>
          </a:ln>
        </p:spPr>
        <p:txBody>
          <a:bodyPr vert="horz" wrap="none" lIns="91440" tIns="45720" rIns="91440" bIns="45720" anchor="ctr">
            <a:spAutoFit/>
          </a:bodyPr>
          <a:lstStyle/>
          <a:p>
            <a:endParaRPr sz="1800"/>
          </a:p>
        </p:txBody>
      </p:sp>
      <p:pic>
        <p:nvPicPr>
          <p:cNvPr id="12" name="Picture 2"/>
          <p:cNvPicPr>
            <a:picLocks noChangeAspect="1"/>
          </p:cNvPicPr>
          <p:nvPr/>
        </p:nvPicPr>
        <p:blipFill>
          <a:blip r:embed="rId1"/>
          <a:srcRect l="68782" t="1129" r="1331" b="85966"/>
          <a:stretch>
            <a:fillRect/>
          </a:stretch>
        </p:blipFill>
        <p:spPr>
          <a:xfrm>
            <a:off x="6948264" y="18780"/>
            <a:ext cx="2195736" cy="701675"/>
          </a:xfrm>
          <a:prstGeom prst="rect">
            <a:avLst/>
          </a:prstGeom>
          <a:ln>
            <a:noFill/>
          </a:ln>
        </p:spPr>
      </p:pic>
      <p:sp>
        <p:nvSpPr>
          <p:cNvPr id="8" name="矩形 7"/>
          <p:cNvSpPr>
            <a:spLocks noGrp="1"/>
          </p:cNvSpPr>
          <p:nvPr/>
        </p:nvSpPr>
        <p:spPr>
          <a:xfrm>
            <a:off x="323528" y="51976"/>
            <a:ext cx="2031325" cy="461665"/>
          </a:xfrm>
          <a:prstGeom prst="rect">
            <a:avLst/>
          </a:prstGeom>
        </p:spPr>
        <p:txBody>
          <a:bodyPr wrap="none">
            <a:spAutoFit/>
          </a:bodyPr>
          <a:lstStyle/>
          <a:p>
            <a:pPr lvl="0" defTabSz="913765">
              <a:buNone/>
            </a:pPr>
            <a:r>
              <a:rPr sz="2400" b="1">
                <a:latin typeface="微软雅黑" panose="020B0503020204020204" charset="-122"/>
                <a:ea typeface="微软雅黑" panose="020B0503020204020204" charset="-122"/>
                <a:cs typeface="微软雅黑" panose="020B0503020204020204" charset="-122"/>
              </a:rPr>
              <a:t>三、实验与价值</a:t>
            </a:r>
            <a:endParaRPr sz="2400" b="1">
              <a:latin typeface="微软雅黑" panose="020B0503020204020204" charset="-122"/>
              <a:ea typeface="微软雅黑" panose="020B0503020204020204" charset="-122"/>
              <a:cs typeface="微软雅黑" panose="020B0503020204020204" charset="-122"/>
            </a:endParaRPr>
          </a:p>
        </p:txBody>
      </p:sp>
      <p:sp>
        <p:nvSpPr>
          <p:cNvPr id="4" name="文本框 3"/>
          <p:cNvSpPr>
            <a:spLocks noGrp="1"/>
          </p:cNvSpPr>
          <p:nvPr/>
        </p:nvSpPr>
        <p:spPr>
          <a:xfrm>
            <a:off x="323215" y="1131570"/>
            <a:ext cx="8369935" cy="3671570"/>
          </a:xfrm>
          <a:prstGeom prst="rect">
            <a:avLst/>
          </a:prstGeom>
        </p:spPr>
        <p:txBody>
          <a:bodyPr wrap="square">
            <a:spAutoFit/>
          </a:bodyPr>
          <a:lstStyle/>
          <a:p>
            <a:pPr marL="285750" indent="-285750">
              <a:lnSpc>
                <a:spcPct val="150000"/>
              </a:lnSpc>
              <a:spcAft>
                <a:spcPts val="1000"/>
              </a:spcAft>
              <a:buFont typeface="Wingdings" panose="05000000000000000000"/>
              <a:buChar char="Ø"/>
            </a:pPr>
            <a:r>
              <a:rPr sz="1600">
                <a:latin typeface="微软雅黑" panose="020B0503020204020204" charset="-122"/>
                <a:ea typeface="微软雅黑" panose="020B0503020204020204" charset="-122"/>
                <a:cs typeface="微软雅黑" panose="020B0503020204020204" charset="-122"/>
              </a:rPr>
              <a:t>票面结构化｜OCR版面解析 + 固定Schema；输出JSON与原文证据，减少人工录入和复核。</a:t>
            </a:r>
            <a:endParaRPr sz="1600">
              <a:latin typeface="微软雅黑" panose="020B0503020204020204" charset="-122"/>
              <a:ea typeface="微软雅黑" panose="020B0503020204020204" charset="-122"/>
              <a:cs typeface="微软雅黑" panose="020B0503020204020204" charset="-122"/>
            </a:endParaRPr>
          </a:p>
          <a:p>
            <a:pPr marL="285750" indent="-285750">
              <a:lnSpc>
                <a:spcPct val="150000"/>
              </a:lnSpc>
              <a:spcAft>
                <a:spcPts val="1000"/>
              </a:spcAft>
              <a:buFont typeface="Wingdings" panose="05000000000000000000"/>
              <a:buChar char="Ø"/>
            </a:pPr>
            <a:r>
              <a:rPr sz="1600">
                <a:latin typeface="微软雅黑" panose="020B0503020204020204" charset="-122"/>
                <a:ea typeface="微软雅黑" panose="020B0503020204020204" charset="-122"/>
                <a:cs typeface="微软雅黑" panose="020B0503020204020204" charset="-122"/>
              </a:rPr>
              <a:t>过程可追溯｜SSE进度 + 分段计时 + 全程落盘；输出耗时与中间结果，支持问题复现。</a:t>
            </a:r>
            <a:endParaRPr sz="1600">
              <a:latin typeface="微软雅黑" panose="020B0503020204020204" charset="-122"/>
              <a:ea typeface="微软雅黑" panose="020B0503020204020204" charset="-122"/>
              <a:cs typeface="微软雅黑" panose="020B0503020204020204" charset="-122"/>
            </a:endParaRPr>
          </a:p>
          <a:p>
            <a:pPr marL="285750" indent="-285750">
              <a:lnSpc>
                <a:spcPct val="150000"/>
              </a:lnSpc>
              <a:spcAft>
                <a:spcPts val="1000"/>
              </a:spcAft>
              <a:buFont typeface="Wingdings" panose="05000000000000000000"/>
              <a:buChar char="Ø"/>
            </a:pPr>
            <a:r>
              <a:rPr sz="1600">
                <a:latin typeface="微软雅黑" panose="020B0503020204020204" charset="-122"/>
                <a:ea typeface="微软雅黑" panose="020B0503020204020204" charset="-122"/>
                <a:cs typeface="微软雅黑" panose="020B0503020204020204" charset="-122"/>
              </a:rPr>
              <a:t>信息可关联｜标准化 + 编码匹配 + Neo4j/API；形成票—设备—地点—摄像头查询关系。</a:t>
            </a:r>
            <a:endParaRPr sz="1600">
              <a:latin typeface="微软雅黑" panose="020B0503020204020204" charset="-122"/>
              <a:ea typeface="微软雅黑" panose="020B0503020204020204" charset="-122"/>
              <a:cs typeface="微软雅黑" panose="020B0503020204020204" charset="-122"/>
            </a:endParaRPr>
          </a:p>
          <a:p>
            <a:pPr marL="285750" indent="-285750">
              <a:lnSpc>
                <a:spcPct val="150000"/>
              </a:lnSpc>
              <a:spcAft>
                <a:spcPts val="1000"/>
              </a:spcAft>
              <a:buFont typeface="Wingdings" panose="05000000000000000000"/>
              <a:buChar char="Ø"/>
            </a:pPr>
            <a:r>
              <a:rPr sz="1600">
                <a:latin typeface="微软雅黑" panose="020B0503020204020204" charset="-122"/>
                <a:ea typeface="微软雅黑" panose="020B0503020204020204" charset="-122"/>
                <a:cs typeface="微软雅黑" panose="020B0503020204020204" charset="-122"/>
              </a:rPr>
              <a:t>阶段价值｜已形成可演示、可测试原型；正式结论以100票评测和真实场景验证为准。</a:t>
            </a:r>
            <a:endParaRPr sz="16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Rectangle 163"/>
          <p:cNvSpPr>
            <a:spLocks noGrp="1"/>
          </p:cNvSpPr>
          <p:nvPr/>
        </p:nvSpPr>
        <p:spPr>
          <a:xfrm>
            <a:off x="0" y="0"/>
            <a:ext cx="9144000" cy="0"/>
          </a:xfrm>
          <a:prstGeom prst="rect">
            <a:avLst/>
          </a:prstGeom>
          <a:noFill/>
          <a:ln>
            <a:noFill/>
          </a:ln>
        </p:spPr>
        <p:txBody>
          <a:bodyPr vert="horz" wrap="none" lIns="91440" tIns="45720" rIns="91440" bIns="45720" anchor="ctr">
            <a:spAutoFit/>
          </a:bodyPr>
          <a:lstStyle/>
          <a:p/>
        </p:txBody>
      </p:sp>
      <p:pic>
        <p:nvPicPr>
          <p:cNvPr id="12" name="Picture 2"/>
          <p:cNvPicPr>
            <a:picLocks noChangeAspect="1"/>
          </p:cNvPicPr>
          <p:nvPr/>
        </p:nvPicPr>
        <p:blipFill>
          <a:blip r:embed="rId1"/>
          <a:srcRect l="68782" t="1129" r="1331" b="85966"/>
          <a:stretch>
            <a:fillRect/>
          </a:stretch>
        </p:blipFill>
        <p:spPr>
          <a:xfrm>
            <a:off x="6948264" y="18780"/>
            <a:ext cx="2195736" cy="701675"/>
          </a:xfrm>
          <a:prstGeom prst="rect">
            <a:avLst/>
          </a:prstGeom>
          <a:ln>
            <a:noFill/>
          </a:ln>
        </p:spPr>
      </p:pic>
      <p:sp>
        <p:nvSpPr>
          <p:cNvPr id="8" name="矩形 7"/>
          <p:cNvSpPr>
            <a:spLocks noGrp="1"/>
          </p:cNvSpPr>
          <p:nvPr/>
        </p:nvSpPr>
        <p:spPr>
          <a:xfrm>
            <a:off x="323528" y="51976"/>
            <a:ext cx="2031325" cy="461665"/>
          </a:xfrm>
          <a:prstGeom prst="rect">
            <a:avLst/>
          </a:prstGeom>
        </p:spPr>
        <p:txBody>
          <a:bodyPr wrap="none">
            <a:spAutoFit/>
          </a:bodyPr>
          <a:lstStyle/>
          <a:p>
            <a:pPr lvl="0" defTabSz="913765">
              <a:buNone/>
            </a:pPr>
            <a:r>
              <a:rPr sz="2400" b="1">
                <a:latin typeface="微软雅黑" panose="020B0503020204020204" charset="-122"/>
                <a:ea typeface="微软雅黑" panose="020B0503020204020204" charset="-122"/>
                <a:cs typeface="微软雅黑" panose="020B0503020204020204" charset="-122"/>
              </a:rPr>
              <a:t>四、下一步计划</a:t>
            </a:r>
            <a:endParaRPr sz="2400" b="1">
              <a:latin typeface="微软雅黑" panose="020B0503020204020204" charset="-122"/>
              <a:ea typeface="微软雅黑" panose="020B0503020204020204" charset="-122"/>
              <a:cs typeface="微软雅黑" panose="020B0503020204020204" charset="-122"/>
            </a:endParaRPr>
          </a:p>
        </p:txBody>
      </p:sp>
      <p:graphicFrame>
        <p:nvGraphicFramePr>
          <p:cNvPr id="14" name="表格 3"/>
          <p:cNvGraphicFramePr/>
          <p:nvPr/>
        </p:nvGraphicFramePr>
        <p:xfrm>
          <a:off x="467415" y="843302"/>
          <a:ext cx="8208000" cy="3704263"/>
        </p:xfrm>
        <a:graphic>
          <a:graphicData uri="http://schemas.openxmlformats.org/drawingml/2006/table">
            <a:tbl>
              <a:tblPr>
                <a:tableStyleId>{5C22544A-7EE6-4342-B048-85BDC9FD1C3A}</a:tableStyleId>
              </a:tblPr>
              <a:tblGrid>
                <a:gridCol w="1188000"/>
                <a:gridCol w="1872000"/>
                <a:gridCol w="2268000"/>
                <a:gridCol w="2880000"/>
              </a:tblGrid>
              <a:tr h="346784">
                <a:tc>
                  <a:txBody>
                    <a:bodyPr/>
                    <a:lstStyle/>
                    <a:p>
                      <a:pPr algn="ctr">
                        <a:lnSpc>
                          <a:spcPct val="100000"/>
                        </a:lnSpc>
                        <a:buNone/>
                      </a:pPr>
                      <a:r>
                        <a:rPr sz="1600" u="none">
                          <a:latin typeface="+mj-ea"/>
                          <a:ea typeface="+mj-ea"/>
                          <a:cs typeface="+mj-ea"/>
                        </a:rPr>
                        <a:t>时间</a:t>
                      </a:r>
                      <a:endParaRPr sz="1600" b="0" i="0" u="none">
                        <a:solidFill>
                          <a:srgbClr val="000000"/>
                        </a:solidFill>
                        <a:latin typeface="+mj-ea"/>
                        <a:ea typeface="+mj-ea"/>
                        <a:cs typeface="+mj-ea"/>
                      </a:endParaRPr>
                    </a:p>
                  </a:txBody>
                  <a:tcPr marL="8653" marR="8653" marT="8653" marB="0" anchor="ctr">
                    <a:solidFill>
                      <a:schemeClr val="accent1">
                        <a:lumMod val="60000"/>
                        <a:lumOff val="40000"/>
                      </a:schemeClr>
                    </a:solidFill>
                  </a:tcPr>
                </a:tc>
                <a:tc>
                  <a:txBody>
                    <a:bodyPr/>
                    <a:lstStyle/>
                    <a:p>
                      <a:pPr algn="ctr">
                        <a:lnSpc>
                          <a:spcPct val="100000"/>
                        </a:lnSpc>
                        <a:buNone/>
                      </a:pPr>
                      <a:r>
                        <a:rPr sz="1600" b="0" i="0" u="none">
                          <a:solidFill>
                            <a:srgbClr val="000000"/>
                          </a:solidFill>
                          <a:latin typeface="+mj-ea"/>
                          <a:ea typeface="+mj-ea"/>
                          <a:cs typeface="+mj-ea"/>
                        </a:rPr>
                        <a:t>工作主线</a:t>
                      </a:r>
                      <a:endParaRPr sz="1600" b="0" i="0" u="none">
                        <a:solidFill>
                          <a:srgbClr val="000000"/>
                        </a:solidFill>
                        <a:latin typeface="+mj-ea"/>
                        <a:ea typeface="+mj-ea"/>
                        <a:cs typeface="+mj-ea"/>
                      </a:endParaRPr>
                    </a:p>
                  </a:txBody>
                  <a:tcPr marL="8653" marR="8653" marT="8653" marB="0" anchor="ctr">
                    <a:solidFill>
                      <a:schemeClr val="accent1">
                        <a:lumMod val="60000"/>
                        <a:lumOff val="40000"/>
                      </a:schemeClr>
                    </a:solidFill>
                  </a:tcPr>
                </a:tc>
                <a:tc>
                  <a:txBody>
                    <a:bodyPr/>
                    <a:lstStyle/>
                    <a:p>
                      <a:pPr algn="ctr">
                        <a:lnSpc>
                          <a:spcPct val="100000"/>
                        </a:lnSpc>
                        <a:buNone/>
                      </a:pPr>
                      <a:r>
                        <a:rPr sz="1600" u="none">
                          <a:latin typeface="+mj-ea"/>
                          <a:ea typeface="+mj-ea"/>
                          <a:cs typeface="+mj-ea"/>
                        </a:rPr>
                        <a:t>重点任务</a:t>
                      </a:r>
                      <a:endParaRPr sz="1600" b="0" i="0" u="none">
                        <a:solidFill>
                          <a:srgbClr val="000000"/>
                        </a:solidFill>
                        <a:latin typeface="+mj-ea"/>
                        <a:ea typeface="+mj-ea"/>
                        <a:cs typeface="+mj-ea"/>
                      </a:endParaRPr>
                    </a:p>
                  </a:txBody>
                  <a:tcPr marL="8653" marR="8653" marT="8653" marB="0" anchor="ctr">
                    <a:solidFill>
                      <a:schemeClr val="accent1">
                        <a:lumMod val="60000"/>
                        <a:lumOff val="40000"/>
                      </a:schemeClr>
                    </a:solidFill>
                  </a:tcPr>
                </a:tc>
                <a:tc>
                  <a:txBody>
                    <a:bodyPr/>
                    <a:lstStyle/>
                    <a:p>
                      <a:pPr algn="ctr">
                        <a:lnSpc>
                          <a:spcPct val="100000"/>
                        </a:lnSpc>
                        <a:buNone/>
                      </a:pPr>
                      <a:r>
                        <a:rPr sz="1600" u="none">
                          <a:latin typeface="+mj-ea"/>
                          <a:ea typeface="+mj-ea"/>
                          <a:cs typeface="+mj-ea"/>
                        </a:rPr>
                        <a:t>交付 / 验收</a:t>
                      </a:r>
                      <a:endParaRPr sz="1600" b="0" i="0" u="none">
                        <a:solidFill>
                          <a:srgbClr val="000000"/>
                        </a:solidFill>
                        <a:latin typeface="+mj-ea"/>
                        <a:ea typeface="+mj-ea"/>
                        <a:cs typeface="+mj-ea"/>
                      </a:endParaRPr>
                    </a:p>
                  </a:txBody>
                  <a:tcPr marL="8653" marR="8653" marT="8653" marB="0" anchor="ctr">
                    <a:solidFill>
                      <a:schemeClr val="accent1">
                        <a:lumMod val="60000"/>
                        <a:lumOff val="40000"/>
                      </a:schemeClr>
                    </a:solidFill>
                  </a:tcPr>
                </a:tc>
              </a:tr>
              <a:tr h="993737">
                <a:tc>
                  <a:txBody>
                    <a:bodyPr/>
                    <a:lstStyle/>
                    <a:p>
                      <a:pPr algn="ctr">
                        <a:lnSpc>
                          <a:spcPct val="100000"/>
                        </a:lnSpc>
                        <a:spcBef>
                          <a:spcPts val="0"/>
                        </a:spcBef>
                        <a:spcAft>
                          <a:spcPts val="0"/>
                        </a:spcAft>
                        <a:buNone/>
                      </a:pPr>
                      <a:r>
                        <a:rPr sz="1350" u="none">
                          <a:latin typeface="+mj-ea"/>
                          <a:ea typeface="+mj-ea"/>
                          <a:cs typeface="+mj-ea"/>
                        </a:rPr>
                        <a:t>2026年8月</a:t>
                      </a:r>
                      <a:endParaRPr sz="1350" b="0" i="0" u="none">
                        <a:solidFill>
                          <a:srgbClr val="000000"/>
                        </a:solidFill>
                        <a:latin typeface="+mj-ea"/>
                        <a:ea typeface="+mj-ea"/>
                        <a:cs typeface="+mj-ea"/>
                      </a:endParaRPr>
                    </a:p>
                  </a:txBody>
                  <a:tcPr marL="8653" marR="8653" marT="8653" marB="0" anchor="ctr">
                    <a:solidFill>
                      <a:schemeClr val="accent1">
                        <a:lumMod val="40000"/>
                        <a:lumOff val="60000"/>
                      </a:schemeClr>
                    </a:solidFill>
                  </a:tcPr>
                </a:tc>
                <a:tc rowSpan="2">
                  <a:txBody>
                    <a:bodyPr/>
                    <a:lstStyle/>
                    <a:p>
                      <a:pPr algn="ctr">
                        <a:lnSpc>
                          <a:spcPct val="100000"/>
                        </a:lnSpc>
                        <a:spcBef>
                          <a:spcPts val="0"/>
                        </a:spcBef>
                        <a:spcAft>
                          <a:spcPts val="0"/>
                        </a:spcAft>
                        <a:buNone/>
                      </a:pPr>
                      <a:r>
                        <a:rPr sz="1350">
                          <a:solidFill>
                            <a:schemeClr val="dk1"/>
                          </a:solidFill>
                          <a:latin typeface="+mn-lt"/>
                          <a:ea typeface="+mn-lt"/>
                          <a:cs typeface="+mn-lt"/>
                        </a:rPr>
                        <a:t>课题1批量验证</a:t>
                      </a:r>
                      <a:endParaRPr sz="1350" kern="1200">
                        <a:solidFill>
                          <a:schemeClr val="dk1"/>
                        </a:solidFill>
                        <a:latin typeface="+mn-lt"/>
                        <a:ea typeface="+mn-lt"/>
                        <a:cs typeface="+mn-lt"/>
                      </a:endParaRPr>
                    </a:p>
                  </a:txBody>
                  <a:tcPr marL="8653" marR="8653" marT="8653" marB="0" anchor="ctr">
                    <a:solidFill>
                      <a:schemeClr val="accent1">
                        <a:lumMod val="40000"/>
                        <a:lumOff val="60000"/>
                      </a:schemeClr>
                    </a:solidFill>
                  </a:tcPr>
                </a:tc>
                <a:tc>
                  <a:txBody>
                    <a:bodyPr/>
                    <a:lstStyle/>
                    <a:p>
                      <a:pPr algn="ctr">
                        <a:lnSpc>
                          <a:spcPct val="100000"/>
                        </a:lnSpc>
                        <a:spcBef>
                          <a:spcPts val="0"/>
                        </a:spcBef>
                        <a:spcAft>
                          <a:spcPts val="0"/>
                        </a:spcAft>
                        <a:buNone/>
                      </a:pPr>
                      <a:r>
                        <a:rPr sz="1350" b="0" i="0" u="none">
                          <a:solidFill>
                            <a:srgbClr val="000000"/>
                          </a:solidFill>
                          <a:latin typeface="+mj-ea"/>
                          <a:ea typeface="+mj-ea"/>
                          <a:cs typeface="+mj-ea"/>
                        </a:rPr>
                        <a:t>完成100张工作票统一实验</a:t>
                      </a:r>
                      <a:endParaRPr sz="1350" b="0" i="0" u="none">
                        <a:solidFill>
                          <a:srgbClr val="000000"/>
                        </a:solidFill>
                        <a:latin typeface="+mj-ea"/>
                        <a:ea typeface="+mj-ea"/>
                        <a:cs typeface="+mj-ea"/>
                      </a:endParaRPr>
                    </a:p>
                  </a:txBody>
                  <a:tcPr marL="9525" marR="9525" marT="9525" marB="0" anchor="ctr"/>
                </a:tc>
                <a:tc>
                  <a:txBody>
                    <a:bodyPr/>
                    <a:lstStyle/>
                    <a:p>
                      <a:pPr algn="ctr">
                        <a:lnSpc>
                          <a:spcPct val="100000"/>
                        </a:lnSpc>
                        <a:spcBef>
                          <a:spcPts val="0"/>
                        </a:spcBef>
                        <a:spcAft>
                          <a:spcPts val="0"/>
                        </a:spcAft>
                        <a:buNone/>
                      </a:pPr>
                      <a:r>
                        <a:rPr sz="1350" u="none">
                          <a:solidFill>
                            <a:schemeClr val="dk1"/>
                          </a:solidFill>
                          <a:latin typeface="+mj-ea"/>
                          <a:ea typeface="+mj-ea"/>
                          <a:cs typeface="+mj-ea"/>
                        </a:rPr>
                        <a:t>准确率、错误类型与证据链统计</a:t>
                      </a:r>
                      <a:endParaRPr sz="1350" u="none" kern="1200">
                        <a:solidFill>
                          <a:schemeClr val="dk1"/>
                        </a:solidFill>
                        <a:latin typeface="+mj-ea"/>
                        <a:ea typeface="+mj-ea"/>
                        <a:cs typeface="+mj-ea"/>
                      </a:endParaRPr>
                    </a:p>
                  </a:txBody>
                  <a:tcPr marL="9525" marR="9525" marT="9525" marB="0" anchor="ctr"/>
                </a:tc>
              </a:tr>
              <a:tr h="644080">
                <a:tc>
                  <a:txBody>
                    <a:bodyPr/>
                    <a:lstStyle/>
                    <a:p>
                      <a:pPr algn="ctr">
                        <a:lnSpc>
                          <a:spcPct val="100000"/>
                        </a:lnSpc>
                        <a:spcBef>
                          <a:spcPts val="0"/>
                        </a:spcBef>
                        <a:spcAft>
                          <a:spcPts val="0"/>
                        </a:spcAft>
                        <a:buNone/>
                      </a:pPr>
                      <a:r>
                        <a:rPr sz="1350">
                          <a:latin typeface="+mj-ea"/>
                          <a:ea typeface="+mj-ea"/>
                          <a:cs typeface="+mj-ea"/>
                        </a:rPr>
                        <a:t>2026年8月</a:t>
                      </a:r>
                      <a:endParaRPr sz="1350" b="0" i="0" u="none">
                        <a:solidFill>
                          <a:srgbClr val="000000"/>
                        </a:solidFill>
                        <a:latin typeface="+mj-ea"/>
                        <a:ea typeface="+mj-ea"/>
                        <a:cs typeface="+mj-ea"/>
                      </a:endParaRPr>
                    </a:p>
                  </a:txBody>
                  <a:tcPr marL="8653" marR="8653" marT="8653" marB="0" anchor="ctr">
                    <a:solidFill>
                      <a:schemeClr val="accent1">
                        <a:lumMod val="40000"/>
                        <a:lumOff val="60000"/>
                      </a:schemeClr>
                    </a:solidFill>
                  </a:tcPr>
                </a:tc>
                <a:tc vMerge="1">
                  <a:tcPr marL="8653" marR="8653" marT="8653" marB="0" anchor="ctr">
                    <a:solidFill>
                      <a:schemeClr val="accent1">
                        <a:lumMod val="40000"/>
                        <a:lumOff val="60000"/>
                      </a:schemeClr>
                    </a:solidFill>
                  </a:tcPr>
                </a:tc>
                <a:tc>
                  <a:txBody>
                    <a:bodyPr/>
                    <a:lstStyle/>
                    <a:p>
                      <a:pPr algn="ctr">
                        <a:lnSpc>
                          <a:spcPct val="100000"/>
                        </a:lnSpc>
                        <a:spcBef>
                          <a:spcPts val="0"/>
                        </a:spcBef>
                        <a:spcAft>
                          <a:spcPts val="0"/>
                        </a:spcAft>
                        <a:buNone/>
                      </a:pPr>
                      <a:r>
                        <a:rPr sz="1350">
                          <a:solidFill>
                            <a:schemeClr val="dk1"/>
                          </a:solidFill>
                          <a:latin typeface="+mj-ea"/>
                          <a:ea typeface="+mj-ea"/>
                          <a:cs typeface="+mj-ea"/>
                        </a:rPr>
                        <a:t>字段→设备编码→摄像头→视频查询</a:t>
                      </a:r>
                      <a:endParaRPr sz="1350" u="none" kern="1200">
                        <a:solidFill>
                          <a:schemeClr val="dk1"/>
                        </a:solidFill>
                        <a:latin typeface="+mj-ea"/>
                        <a:ea typeface="+mj-ea"/>
                        <a:cs typeface="+mj-ea"/>
                      </a:endParaRPr>
                    </a:p>
                  </a:txBody>
                  <a:tcPr marL="9525" marR="9525" marT="9525" marB="0" anchor="ctr"/>
                </a:tc>
                <a:tc>
                  <a:txBody>
                    <a:bodyPr/>
                    <a:lstStyle/>
                    <a:p>
                      <a:pPr algn="ctr">
                        <a:lnSpc>
                          <a:spcPct val="100000"/>
                        </a:lnSpc>
                        <a:spcBef>
                          <a:spcPts val="0"/>
                        </a:spcBef>
                        <a:spcAft>
                          <a:spcPts val="0"/>
                        </a:spcAft>
                        <a:buNone/>
                      </a:pPr>
                      <a:r>
                        <a:rPr sz="1350" u="none">
                          <a:solidFill>
                            <a:schemeClr val="dk1"/>
                          </a:solidFill>
                          <a:latin typeface="+mj-ea"/>
                          <a:ea typeface="+mj-ea"/>
                          <a:cs typeface="+mj-ea"/>
                        </a:rPr>
                        <a:t>单票端到端演示闭环</a:t>
                      </a:r>
                      <a:endParaRPr sz="1350" u="none" kern="1200">
                        <a:solidFill>
                          <a:schemeClr val="dk1"/>
                        </a:solidFill>
                        <a:latin typeface="+mj-ea"/>
                        <a:ea typeface="+mj-ea"/>
                        <a:cs typeface="+mj-ea"/>
                      </a:endParaRPr>
                    </a:p>
                  </a:txBody>
                  <a:tcPr marL="9525" marR="9525" marT="9525" marB="0" anchor="ctr"/>
                </a:tc>
              </a:tr>
              <a:tr h="969308">
                <a:tc>
                  <a:txBody>
                    <a:bodyPr/>
                    <a:lstStyle/>
                    <a:p>
                      <a:pPr algn="ctr">
                        <a:lnSpc>
                          <a:spcPct val="100000"/>
                        </a:lnSpc>
                        <a:spcBef>
                          <a:spcPts val="0"/>
                        </a:spcBef>
                        <a:spcAft>
                          <a:spcPts val="0"/>
                        </a:spcAft>
                        <a:buNone/>
                      </a:pPr>
                      <a:r>
                        <a:rPr sz="1350">
                          <a:solidFill>
                            <a:schemeClr val="dk1"/>
                          </a:solidFill>
                          <a:latin typeface="+mj-ea"/>
                          <a:ea typeface="+mj-ea"/>
                          <a:cs typeface="+mj-ea"/>
                        </a:rPr>
                        <a:t>2026年8—9月</a:t>
                      </a:r>
                      <a:endParaRPr sz="1350" kern="1200">
                        <a:solidFill>
                          <a:schemeClr val="dk1"/>
                        </a:solidFill>
                        <a:latin typeface="+mj-ea"/>
                        <a:ea typeface="+mj-ea"/>
                        <a:cs typeface="+mj-ea"/>
                      </a:endParaRPr>
                    </a:p>
                  </a:txBody>
                  <a:tcPr marL="8653" marR="8653" marT="8653" marB="0" anchor="ctr">
                    <a:solidFill>
                      <a:schemeClr val="accent1">
                        <a:lumMod val="40000"/>
                        <a:lumOff val="60000"/>
                      </a:schemeClr>
                    </a:solidFill>
                  </a:tcPr>
                </a:tc>
                <a:tc rowSpan="2">
                  <a:txBody>
                    <a:bodyPr/>
                    <a:lstStyle/>
                    <a:p>
                      <a:pPr marL="0" marR="0" lvl="0" indent="0" algn="ctr" defTabSz="685800">
                        <a:lnSpc>
                          <a:spcPct val="100000"/>
                        </a:lnSpc>
                        <a:spcBef>
                          <a:spcPts val="0"/>
                        </a:spcBef>
                        <a:spcAft>
                          <a:spcPts val="0"/>
                        </a:spcAft>
                        <a:buClrTx/>
                        <a:buSzTx/>
                        <a:buFontTx/>
                        <a:buNone/>
                      </a:pPr>
                      <a:r>
                        <a:rPr sz="1350">
                          <a:solidFill>
                            <a:schemeClr val="dk1"/>
                          </a:solidFill>
                          <a:latin typeface="+mn-lt"/>
                          <a:ea typeface="+mn-lt"/>
                          <a:cs typeface="+mn-lt"/>
                        </a:rPr>
                        <a:t>现场数据建设</a:t>
                      </a:r>
                      <a:endParaRPr sz="1350" kern="1200">
                        <a:solidFill>
                          <a:schemeClr val="dk1"/>
                        </a:solidFill>
                        <a:latin typeface="+mn-lt"/>
                        <a:ea typeface="+mn-lt"/>
                        <a:cs typeface="+mn-lt"/>
                      </a:endParaRPr>
                    </a:p>
                  </a:txBody>
                  <a:tcPr marL="8653" marR="8653" marT="8653" marB="0" anchor="ctr">
                    <a:solidFill>
                      <a:schemeClr val="accent1">
                        <a:lumMod val="40000"/>
                        <a:lumOff val="60000"/>
                      </a:schemeClr>
                    </a:solidFill>
                  </a:tcPr>
                </a:tc>
                <a:tc>
                  <a:txBody>
                    <a:bodyPr/>
                    <a:lstStyle/>
                    <a:p>
                      <a:pPr algn="ctr">
                        <a:lnSpc>
                          <a:spcPct val="100000"/>
                        </a:lnSpc>
                        <a:spcBef>
                          <a:spcPts val="0"/>
                        </a:spcBef>
                        <a:spcAft>
                          <a:spcPts val="0"/>
                        </a:spcAft>
                        <a:buNone/>
                      </a:pPr>
                      <a:r>
                        <a:rPr sz="1350">
                          <a:latin typeface="+mj-ea"/>
                          <a:ea typeface="+mj-ea"/>
                          <a:cs typeface="+mj-ea"/>
                        </a:rPr>
                        <a:t>采集清洗现场数据，制定违章样本方案</a:t>
                      </a:r>
                      <a:endParaRPr sz="1350" kern="100">
                        <a:latin typeface="+mj-ea"/>
                        <a:ea typeface="+mj-ea"/>
                        <a:cs typeface="+mj-ea"/>
                      </a:endParaRPr>
                    </a:p>
                  </a:txBody>
                  <a:tcPr marL="68580" marR="68580" marT="0" marB="0" anchor="ctr"/>
                </a:tc>
                <a:tc>
                  <a:txBody>
                    <a:bodyPr/>
                    <a:lstStyle/>
                    <a:p>
                      <a:pPr algn="ctr">
                        <a:lnSpc>
                          <a:spcPct val="100000"/>
                        </a:lnSpc>
                        <a:spcBef>
                          <a:spcPts val="0"/>
                        </a:spcBef>
                        <a:spcAft>
                          <a:spcPts val="0"/>
                        </a:spcAft>
                        <a:buNone/>
                      </a:pPr>
                      <a:r>
                        <a:rPr sz="1350">
                          <a:latin typeface="+mj-ea"/>
                          <a:ea typeface="+mj-ea"/>
                          <a:cs typeface="+mj-ea"/>
                        </a:rPr>
                        <a:t>数据台账、标注规范与验证计划</a:t>
                      </a:r>
                      <a:endParaRPr sz="1350" kern="100">
                        <a:latin typeface="+mj-ea"/>
                        <a:ea typeface="+mj-ea"/>
                        <a:cs typeface="+mj-ea"/>
                      </a:endParaRPr>
                    </a:p>
                  </a:txBody>
                  <a:tcPr marL="68580" marR="68580" marT="0" marB="0" anchor="ctr"/>
                </a:tc>
              </a:tr>
              <a:tr h="750354">
                <a:tc>
                  <a:txBody>
                    <a:bodyPr/>
                    <a:lstStyle/>
                    <a:p>
                      <a:pPr algn="ctr">
                        <a:lnSpc>
                          <a:spcPct val="100000"/>
                        </a:lnSpc>
                        <a:spcBef>
                          <a:spcPts val="0"/>
                        </a:spcBef>
                        <a:spcAft>
                          <a:spcPts val="0"/>
                        </a:spcAft>
                        <a:buNone/>
                      </a:pPr>
                      <a:r>
                        <a:rPr sz="1350">
                          <a:latin typeface="+mj-ea"/>
                          <a:ea typeface="+mj-ea"/>
                          <a:cs typeface="+mj-ea"/>
                        </a:rPr>
                        <a:t>2026年9月</a:t>
                      </a:r>
                      <a:endParaRPr sz="1350" kern="100">
                        <a:latin typeface="+mj-ea"/>
                        <a:ea typeface="+mj-ea"/>
                        <a:cs typeface="+mj-ea"/>
                      </a:endParaRPr>
                    </a:p>
                  </a:txBody>
                  <a:tcPr marL="68580" marR="68580" marT="0" marB="0" anchor="ctr">
                    <a:solidFill>
                      <a:schemeClr val="accent1">
                        <a:lumMod val="40000"/>
                        <a:lumOff val="60000"/>
                      </a:schemeClr>
                    </a:solidFill>
                  </a:tcPr>
                </a:tc>
                <a:tc vMerge="1">
                  <a:tcPr marL="68580" marR="68580" marT="0" marB="0" anchor="ctr">
                    <a:solidFill>
                      <a:schemeClr val="accent1">
                        <a:lumMod val="40000"/>
                        <a:lumOff val="60000"/>
                      </a:schemeClr>
                    </a:solidFill>
                  </a:tcPr>
                </a:tc>
                <a:tc>
                  <a:txBody>
                    <a:bodyPr/>
                    <a:lstStyle/>
                    <a:p>
                      <a:pPr algn="ctr">
                        <a:lnSpc>
                          <a:spcPct val="100000"/>
                        </a:lnSpc>
                        <a:spcBef>
                          <a:spcPts val="0"/>
                        </a:spcBef>
                        <a:spcAft>
                          <a:spcPts val="0"/>
                        </a:spcAft>
                        <a:buNone/>
                      </a:pPr>
                      <a:r>
                        <a:rPr sz="1350">
                          <a:latin typeface="+mj-ea"/>
                          <a:ea typeface="+mj-ea"/>
                          <a:cs typeface="+mj-ea"/>
                        </a:rPr>
                        <a:t>论文1投稿，论文2形成提纲</a:t>
                      </a:r>
                      <a:endParaRPr sz="1350" kern="100">
                        <a:latin typeface="+mj-ea"/>
                        <a:ea typeface="+mj-ea"/>
                        <a:cs typeface="+mj-ea"/>
                      </a:endParaRPr>
                    </a:p>
                  </a:txBody>
                  <a:tcPr marL="68580" marR="68580" marT="0" marB="0" anchor="ctr"/>
                </a:tc>
                <a:tc>
                  <a:txBody>
                    <a:bodyPr/>
                    <a:lstStyle/>
                    <a:p>
                      <a:pPr algn="ctr">
                        <a:lnSpc>
                          <a:spcPct val="100000"/>
                        </a:lnSpc>
                        <a:spcBef>
                          <a:spcPts val="0"/>
                        </a:spcBef>
                        <a:spcAft>
                          <a:spcPts val="0"/>
                        </a:spcAft>
                        <a:buNone/>
                      </a:pPr>
                      <a:r>
                        <a:rPr sz="1350">
                          <a:latin typeface="+mj-ea"/>
                          <a:ea typeface="+mj-ea"/>
                          <a:cs typeface="+mj-ea"/>
                        </a:rPr>
                        <a:t>投稿凭证与论文2框架</a:t>
                      </a:r>
                      <a:endParaRPr sz="1350" kern="100">
                        <a:latin typeface="+mj-ea"/>
                        <a:ea typeface="+mj-ea"/>
                        <a:cs typeface="+mj-ea"/>
                      </a:endParaRPr>
                    </a:p>
                  </a:txBody>
                  <a:tcPr marL="68580" marR="68580" marT="0" marB="0" anchor="ct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4"/>
          <p:cNvSpPr>
            <a:spLocks noGrp="1"/>
          </p:cNvSpPr>
          <p:nvPr/>
        </p:nvSpPr>
        <p:spPr>
          <a:xfrm>
            <a:off x="538917" y="627650"/>
            <a:ext cx="8064896" cy="460375"/>
          </a:xfrm>
          <a:prstGeom prst="rect">
            <a:avLst/>
          </a:prstGeom>
          <a:noFill/>
          <a:ln w="9525">
            <a:noFill/>
          </a:ln>
        </p:spPr>
        <p:txBody>
          <a:bodyPr wrap="square" anchor="t">
            <a:spAutoFit/>
          </a:bodyPr>
          <a:lstStyle/>
          <a:p>
            <a:pPr marL="306070" indent="-306070" defTabSz="457200">
              <a:lnSpc>
                <a:spcPct val="120000"/>
              </a:lnSpc>
              <a:spcBef>
                <a:spcPct val="20000"/>
              </a:spcBef>
              <a:spcAft>
                <a:spcPts val="600"/>
              </a:spcAft>
              <a:buClr>
                <a:schemeClr val="tx1"/>
              </a:buClr>
              <a:buSzPct val="92000"/>
              <a:buFont typeface="Wingdings" panose="05000000000000000000"/>
              <a:buChar char="n"/>
            </a:pPr>
            <a:r>
              <a:rPr sz="2000" b="1">
                <a:latin typeface="+mj-ea"/>
                <a:ea typeface="+mj-ea"/>
                <a:cs typeface="+mj-ea"/>
              </a:rPr>
              <a:t>下一阶段聚焦四项验证与三项协同</a:t>
            </a:r>
            <a:endParaRPr sz="2000" b="1" kern="100">
              <a:latin typeface="+mj-ea"/>
              <a:ea typeface="+mj-ea"/>
              <a:cs typeface="+mj-ea"/>
            </a:endParaRPr>
          </a:p>
        </p:txBody>
      </p:sp>
      <p:sp>
        <p:nvSpPr>
          <p:cNvPr id="6" name="Rectangle 163"/>
          <p:cNvSpPr>
            <a:spLocks noGrp="1"/>
          </p:cNvSpPr>
          <p:nvPr/>
        </p:nvSpPr>
        <p:spPr>
          <a:xfrm>
            <a:off x="0" y="0"/>
            <a:ext cx="9144000" cy="0"/>
          </a:xfrm>
          <a:prstGeom prst="rect">
            <a:avLst/>
          </a:prstGeom>
          <a:noFill/>
          <a:ln>
            <a:noFill/>
          </a:ln>
        </p:spPr>
        <p:txBody>
          <a:bodyPr vert="horz" wrap="none" lIns="91440" tIns="45720" rIns="91440" bIns="45720" anchor="ctr">
            <a:spAutoFit/>
          </a:bodyPr>
          <a:lstStyle/>
          <a:p>
            <a:endParaRPr sz="1800"/>
          </a:p>
        </p:txBody>
      </p:sp>
      <p:pic>
        <p:nvPicPr>
          <p:cNvPr id="12" name="Picture 2"/>
          <p:cNvPicPr>
            <a:picLocks noChangeAspect="1"/>
          </p:cNvPicPr>
          <p:nvPr/>
        </p:nvPicPr>
        <p:blipFill>
          <a:blip r:embed="rId1"/>
          <a:srcRect l="68782" t="1129" r="1331" b="85966"/>
          <a:stretch>
            <a:fillRect/>
          </a:stretch>
        </p:blipFill>
        <p:spPr>
          <a:xfrm>
            <a:off x="6948264" y="18780"/>
            <a:ext cx="2195736" cy="701675"/>
          </a:xfrm>
          <a:prstGeom prst="rect">
            <a:avLst/>
          </a:prstGeom>
          <a:ln>
            <a:noFill/>
          </a:ln>
        </p:spPr>
      </p:pic>
      <p:sp>
        <p:nvSpPr>
          <p:cNvPr id="8" name="矩形 7"/>
          <p:cNvSpPr>
            <a:spLocks noGrp="1"/>
          </p:cNvSpPr>
          <p:nvPr/>
        </p:nvSpPr>
        <p:spPr>
          <a:xfrm>
            <a:off x="323528" y="51976"/>
            <a:ext cx="2031325" cy="461665"/>
          </a:xfrm>
          <a:prstGeom prst="rect">
            <a:avLst/>
          </a:prstGeom>
        </p:spPr>
        <p:txBody>
          <a:bodyPr wrap="none">
            <a:spAutoFit/>
          </a:bodyPr>
          <a:lstStyle/>
          <a:p>
            <a:pPr lvl="0" defTabSz="913765">
              <a:buNone/>
            </a:pPr>
            <a:r>
              <a:rPr sz="2400" b="1">
                <a:latin typeface="微软雅黑" panose="020B0503020204020204" charset="-122"/>
                <a:ea typeface="微软雅黑" panose="020B0503020204020204" charset="-122"/>
                <a:cs typeface="微软雅黑" panose="020B0503020204020204" charset="-122"/>
              </a:rPr>
              <a:t>四、下一步计划</a:t>
            </a:r>
            <a:endParaRPr sz="2400" b="1">
              <a:latin typeface="微软雅黑" panose="020B0503020204020204" charset="-122"/>
              <a:ea typeface="微软雅黑" panose="020B0503020204020204" charset="-122"/>
              <a:cs typeface="微软雅黑" panose="020B0503020204020204" charset="-122"/>
            </a:endParaRPr>
          </a:p>
        </p:txBody>
      </p:sp>
      <p:sp>
        <p:nvSpPr>
          <p:cNvPr id="4" name="文本框 3"/>
          <p:cNvSpPr>
            <a:spLocks noGrp="1"/>
          </p:cNvSpPr>
          <p:nvPr/>
        </p:nvSpPr>
        <p:spPr>
          <a:xfrm>
            <a:off x="323215" y="1131570"/>
            <a:ext cx="8369935" cy="3671570"/>
          </a:xfrm>
          <a:prstGeom prst="rect">
            <a:avLst/>
          </a:prstGeom>
        </p:spPr>
        <p:txBody>
          <a:bodyPr wrap="square">
            <a:spAutoFit/>
          </a:bodyPr>
          <a:lstStyle/>
          <a:p>
            <a:pPr marL="285750" indent="-285750">
              <a:lnSpc>
                <a:spcPct val="150000"/>
              </a:lnSpc>
              <a:spcAft>
                <a:spcPts val="1000"/>
              </a:spcAft>
              <a:buFont typeface="Wingdings" panose="05000000000000000000"/>
              <a:buChar char="Ø"/>
            </a:pPr>
            <a:r>
              <a:rPr sz="1600">
                <a:latin typeface="微软雅黑" panose="020B0503020204020204" charset="-122"/>
                <a:ea typeface="微软雅黑" panose="020B0503020204020204" charset="-122"/>
                <a:cs typeface="微软雅黑" panose="020B0503020204020204" charset="-122"/>
              </a:rPr>
              <a:t>验证1·批量实验｜100票跑测，交付字段/整票指标与错误清单，结果须可复现。</a:t>
            </a:r>
            <a:endParaRPr sz="1600">
              <a:latin typeface="微软雅黑" panose="020B0503020204020204" charset="-122"/>
              <a:ea typeface="微软雅黑" panose="020B0503020204020204" charset="-122"/>
              <a:cs typeface="微软雅黑" panose="020B0503020204020204" charset="-122"/>
            </a:endParaRPr>
          </a:p>
          <a:p>
            <a:pPr marL="285750" indent="-285750">
              <a:lnSpc>
                <a:spcPct val="150000"/>
              </a:lnSpc>
              <a:spcAft>
                <a:spcPts val="1000"/>
              </a:spcAft>
              <a:buFont typeface="Wingdings" panose="05000000000000000000"/>
              <a:buChar char="Ø"/>
            </a:pPr>
            <a:r>
              <a:rPr sz="1600">
                <a:latin typeface="微软雅黑" panose="020B0503020204020204" charset="-122"/>
                <a:ea typeface="微软雅黑" panose="020B0503020204020204" charset="-122"/>
                <a:cs typeface="微软雅黑" panose="020B0503020204020204" charset="-122"/>
              </a:rPr>
              <a:t>验证2·复杂版式｜覆盖跨栏/跨页/低清/术语，固化处理规则与边界样本集。</a:t>
            </a:r>
            <a:endParaRPr sz="1600">
              <a:latin typeface="微软雅黑" panose="020B0503020204020204" charset="-122"/>
              <a:ea typeface="微软雅黑" panose="020B0503020204020204" charset="-122"/>
              <a:cs typeface="微软雅黑" panose="020B0503020204020204" charset="-122"/>
            </a:endParaRPr>
          </a:p>
          <a:p>
            <a:pPr marL="285750" indent="-285750">
              <a:lnSpc>
                <a:spcPct val="150000"/>
              </a:lnSpc>
              <a:spcAft>
                <a:spcPts val="1000"/>
              </a:spcAft>
              <a:buFont typeface="Wingdings" panose="05000000000000000000"/>
              <a:buChar char="Ø"/>
            </a:pPr>
            <a:r>
              <a:rPr sz="1600">
                <a:latin typeface="微软雅黑" panose="020B0503020204020204" charset="-122"/>
                <a:ea typeface="微软雅黑" panose="020B0503020204020204" charset="-122"/>
                <a:cs typeface="微软雅黑" panose="020B0503020204020204" charset="-122"/>
              </a:rPr>
              <a:t>验证3·关联闭环｜贯通票→设备→摄像头→视频，单票结果可查询、可回放。</a:t>
            </a:r>
            <a:endParaRPr sz="1600">
              <a:latin typeface="微软雅黑" panose="020B0503020204020204" charset="-122"/>
              <a:ea typeface="微软雅黑" panose="020B0503020204020204" charset="-122"/>
              <a:cs typeface="微软雅黑" panose="020B0503020204020204" charset="-122"/>
            </a:endParaRPr>
          </a:p>
          <a:p>
            <a:pPr marL="285750" indent="-285750">
              <a:lnSpc>
                <a:spcPct val="150000"/>
              </a:lnSpc>
              <a:spcAft>
                <a:spcPts val="1000"/>
              </a:spcAft>
              <a:buFont typeface="Wingdings" panose="05000000000000000000"/>
              <a:buChar char="Ø"/>
            </a:pPr>
            <a:r>
              <a:rPr sz="1600">
                <a:latin typeface="微软雅黑" panose="020B0503020204020204" charset="-122"/>
                <a:ea typeface="微软雅黑" panose="020B0503020204020204" charset="-122"/>
                <a:cs typeface="微软雅黑" panose="020B0503020204020204" charset="-122"/>
              </a:rPr>
              <a:t>验证4·应用成果｜完成平台兼容清单与论文材料，接口问题全部闭环。</a:t>
            </a:r>
            <a:endParaRPr sz="1600">
              <a:latin typeface="微软雅黑" panose="020B0503020204020204" charset="-122"/>
              <a:ea typeface="微软雅黑" panose="020B0503020204020204" charset="-122"/>
              <a:cs typeface="微软雅黑" panose="020B0503020204020204" charset="-122"/>
            </a:endParaRPr>
          </a:p>
          <a:p>
            <a:pPr marL="285750" indent="-285750">
              <a:lnSpc>
                <a:spcPct val="150000"/>
              </a:lnSpc>
              <a:spcAft>
                <a:spcPts val="1000"/>
              </a:spcAft>
              <a:buFont typeface="Wingdings" panose="05000000000000000000"/>
              <a:buChar char="Ø"/>
            </a:pPr>
            <a:r>
              <a:rPr sz="1600">
                <a:latin typeface="微软雅黑" panose="020B0503020204020204" charset="-122"/>
                <a:ea typeface="微软雅黑" panose="020B0503020204020204" charset="-122"/>
                <a:cs typeface="微软雅黑" panose="020B0503020204020204" charset="-122"/>
              </a:rPr>
              <a:t>三项协同｜数据接口与联调节点；视频脱敏与标注范围；样本、指标及阈值。</a:t>
            </a:r>
            <a:endParaRPr sz="16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611560" y="1563638"/>
            <a:ext cx="8064896" cy="2887980"/>
          </a:xfrm>
          <a:prstGeom prst="rect">
            <a:avLst/>
          </a:prstGeom>
        </p:spPr>
        <p:txBody>
          <a:bodyPr wrap="square">
            <a:spAutoFit/>
          </a:bodyPr>
          <a:lstStyle/>
          <a:p>
            <a:pPr algn="ctr">
              <a:buNone/>
            </a:pPr>
            <a:r>
              <a:rPr sz="4000" b="1">
                <a:solidFill>
                  <a:srgbClr val="006666"/>
                </a:solidFill>
                <a:latin typeface="微软雅黑" panose="020B0503020204020204" charset="-122"/>
                <a:ea typeface="微软雅黑" panose="020B0503020204020204" charset="-122"/>
                <a:cs typeface="微软雅黑" panose="020B0503020204020204" charset="-122"/>
              </a:rPr>
              <a:t>阶段结论：课题1总体按计划推进</a:t>
            </a:r>
            <a:endParaRPr sz="4000" b="1">
              <a:solidFill>
                <a:srgbClr val="006666"/>
              </a:solidFill>
              <a:latin typeface="微软雅黑" panose="020B0503020204020204" charset="-122"/>
              <a:ea typeface="微软雅黑" panose="020B0503020204020204" charset="-122"/>
              <a:cs typeface="微软雅黑" panose="020B0503020204020204" charset="-122"/>
            </a:endParaRPr>
          </a:p>
          <a:p>
            <a:pPr algn="ctr">
              <a:buNone/>
            </a:pPr>
            <a:r>
              <a:t>下一步：100票批量验证 + 票视频关联闭环</a:t>
            </a:r>
            <a:endParaRPr sz="4000" b="1">
              <a:solidFill>
                <a:srgbClr val="C00000"/>
              </a:solidFill>
              <a:latin typeface="微软雅黑" panose="020B0503020204020204" charset="-122"/>
              <a:ea typeface="微软雅黑" panose="020B0503020204020204" charset="-122"/>
              <a:cs typeface="微软雅黑" panose="020B0503020204020204" charset="-122"/>
            </a:endParaRPr>
          </a:p>
          <a:p>
            <a:pPr algn="ctr">
              <a:buNone/>
            </a:pPr>
            <a:endParaRPr sz="4500">
              <a:solidFill>
                <a:srgbClr val="006666"/>
              </a:solidFill>
            </a:endParaRPr>
          </a:p>
          <a:p>
            <a:pPr algn="ctr">
              <a:buNone/>
            </a:pPr>
            <a:r>
              <a:rPr sz="3000" b="1">
                <a:solidFill>
                  <a:srgbClr val="006666"/>
                </a:solidFill>
                <a:latin typeface="微软雅黑" panose="020B0503020204020204" charset="-122"/>
                <a:ea typeface="微软雅黑" panose="020B0503020204020204" charset="-122"/>
                <a:cs typeface="微软雅黑" panose="020B0503020204020204" charset="-122"/>
              </a:rPr>
              <a:t>需协调：现场数据、真实视频样本、统一评价口径</a:t>
            </a:r>
            <a:endParaRPr sz="4500">
              <a:solidFill>
                <a:srgbClr val="006666"/>
              </a:solidFill>
            </a:endParaRPr>
          </a:p>
          <a:p>
            <a:pPr algn="ctr">
              <a:buNone/>
            </a:pPr>
            <a:r>
              <a:rPr sz="3000" b="1">
                <a:solidFill>
                  <a:srgbClr val="006666"/>
                </a:solidFill>
                <a:latin typeface="微软雅黑" panose="020B0503020204020204" charset="-122"/>
                <a:ea typeface="微软雅黑" panose="020B0503020204020204" charset="-122"/>
                <a:cs typeface="微软雅黑" panose="020B0503020204020204" charset="-122"/>
              </a:rPr>
              <a:t>请各位专家批评指正</a:t>
            </a:r>
            <a:endParaRPr sz="4500">
              <a:solidFill>
                <a:srgbClr val="006666"/>
              </a:solidFill>
            </a:endParaRPr>
          </a:p>
        </p:txBody>
      </p:sp>
      <p:pic>
        <p:nvPicPr>
          <p:cNvPr id="5" name="Picture 2"/>
          <p:cNvPicPr>
            <a:picLocks noChangeAspect="1"/>
          </p:cNvPicPr>
          <p:nvPr/>
        </p:nvPicPr>
        <p:blipFill>
          <a:blip r:embed="rId1"/>
          <a:srcRect l="68782" t="1129" r="1331" b="85966"/>
          <a:stretch>
            <a:fillRect/>
          </a:stretch>
        </p:blipFill>
        <p:spPr>
          <a:xfrm>
            <a:off x="6948264" y="18780"/>
            <a:ext cx="2195736" cy="701675"/>
          </a:xfrm>
          <a:prstGeom prst="rect">
            <a:avLst/>
          </a:prstGeom>
          <a:ln>
            <a:noFill/>
          </a:ln>
        </p:spPr>
      </p:pic>
    </p:spTree>
  </p:cSld>
  <p:clrMapOvr>
    <a:masterClrMapping/>
  </p:clrMapOvr>
</p:sld>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2382</Words>
  <Application>WPS 演示</Application>
  <PresentationFormat>Converted Presentation</PresentationFormat>
  <Paragraphs>213</Paragraphs>
  <Slides>15</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15</vt:i4>
      </vt:variant>
    </vt:vector>
  </HeadingPairs>
  <TitlesOfParts>
    <vt:vector size="27" baseType="lpstr">
      <vt:lpstr>Arial</vt:lpstr>
      <vt:lpstr>宋体</vt:lpstr>
      <vt:lpstr>Wingdings</vt:lpstr>
      <vt:lpstr>Arial</vt:lpstr>
      <vt:lpstr>微软雅黑</vt:lpstr>
      <vt:lpstr>Wingdings</vt:lpstr>
      <vt:lpstr>黑体</vt:lpstr>
      <vt:lpstr>Arial Unicode MS</vt:lpstr>
      <vt:lpstr>Arial Black</vt:lpstr>
      <vt:lpstr>Calibri</vt:lpstr>
      <vt:lpstr>Wingdings</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WPS_1644214649</cp:lastModifiedBy>
  <cp:revision>1</cp:revision>
  <dcterms:created xsi:type="dcterms:W3CDTF">2026-08-13T08:27:08Z</dcterms:created>
  <dcterms:modified xsi:type="dcterms:W3CDTF">2026-08-13T08:27:08Z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BEC1CFD08A11464E935B5530D75D197D_12</vt:lpwstr>
  </property>
</Properties>
</file>